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5"/>
  </p:notesMasterIdLst>
  <p:sldIdLst>
    <p:sldId id="256" r:id="rId2"/>
    <p:sldId id="276"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35"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5"/>
    <p:restoredTop sz="73408" autoAdjust="0"/>
  </p:normalViewPr>
  <p:slideViewPr>
    <p:cSldViewPr>
      <p:cViewPr varScale="1">
        <p:scale>
          <a:sx n="55" d="100"/>
          <a:sy n="55" d="100"/>
        </p:scale>
        <p:origin x="1722" y="4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67B1F5-31C8-4043-A3B4-3AEE96999B0C}" type="datetimeFigureOut">
              <a:rPr lang="en-US" smtClean="0"/>
              <a:t>3/11/2019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2EEB8D-83BC-45DC-B09B-7F2B327FA07D}" type="slidenum">
              <a:rPr lang="en-US" smtClean="0"/>
              <a:t>‹#›</a:t>
            </a:fld>
            <a:endParaRPr lang="en-US"/>
          </a:p>
        </p:txBody>
      </p:sp>
    </p:spTree>
    <p:extLst>
      <p:ext uri="{BB962C8B-B14F-4D97-AF65-F5344CB8AC3E}">
        <p14:creationId xmlns:p14="http://schemas.microsoft.com/office/powerpoint/2010/main" val="27305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Google Shape;19;p3">
            <a:extLst>
              <a:ext uri="{FF2B5EF4-FFF2-40B4-BE49-F238E27FC236}">
                <a16:creationId xmlns:a16="http://schemas.microsoft.com/office/drawing/2014/main" xmlns="" id="{28B3D8D8-8962-4F0E-BBDC-C1DABEE2A34D}"/>
              </a:ext>
            </a:extLst>
          </p:cNvPr>
          <p:cNvSpPr/>
          <p:nvPr/>
        </p:nvSpPr>
        <p:spPr>
          <a:xfrm>
            <a:off x="3047704" y="5323800"/>
            <a:ext cx="3047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p3">
            <a:extLst>
              <a:ext uri="{FF2B5EF4-FFF2-40B4-BE49-F238E27FC236}">
                <a16:creationId xmlns:a16="http://schemas.microsoft.com/office/drawing/2014/main" xmlns="" id="{9968C167-7F49-46F8-BECF-6FE832EF92BF}"/>
              </a:ext>
            </a:extLst>
          </p:cNvPr>
          <p:cNvSpPr/>
          <p:nvPr/>
        </p:nvSpPr>
        <p:spPr>
          <a:xfrm>
            <a:off x="6096271" y="5323800"/>
            <a:ext cx="3047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p3">
            <a:extLst>
              <a:ext uri="{FF2B5EF4-FFF2-40B4-BE49-F238E27FC236}">
                <a16:creationId xmlns:a16="http://schemas.microsoft.com/office/drawing/2014/main" xmlns="" id="{2737C49A-249C-4AB2-93A9-092BC1475C40}"/>
              </a:ext>
            </a:extLst>
          </p:cNvPr>
          <p:cNvSpPr/>
          <p:nvPr/>
        </p:nvSpPr>
        <p:spPr>
          <a:xfrm>
            <a:off x="1" y="5323800"/>
            <a:ext cx="3047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p3">
            <a:extLst>
              <a:ext uri="{FF2B5EF4-FFF2-40B4-BE49-F238E27FC236}">
                <a16:creationId xmlns:a16="http://schemas.microsoft.com/office/drawing/2014/main" xmlns="" id="{C52062D5-9129-4628-B456-A4DC7EE43331}"/>
              </a:ext>
            </a:extLst>
          </p:cNvPr>
          <p:cNvSpPr/>
          <p:nvPr/>
        </p:nvSpPr>
        <p:spPr>
          <a:xfrm>
            <a:off x="0" y="0"/>
            <a:ext cx="9144000" cy="53238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274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57E744-A518-4960-9CB3-DD6B01620DDE}" type="datetimeFigureOut">
              <a:rPr lang="en-US" smtClean="0"/>
              <a:pPr/>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04DEA-F83A-4FDF-A96B-54E1CEEB72F2}" type="slidenum">
              <a:rPr lang="en-US" smtClean="0"/>
              <a:pPr/>
              <a:t>‹#›</a:t>
            </a:fld>
            <a:endParaRPr lang="en-US"/>
          </a:p>
        </p:txBody>
      </p:sp>
      <p:sp>
        <p:nvSpPr>
          <p:cNvPr id="11" name="Google Shape;19;p3">
            <a:extLst>
              <a:ext uri="{FF2B5EF4-FFF2-40B4-BE49-F238E27FC236}">
                <a16:creationId xmlns:a16="http://schemas.microsoft.com/office/drawing/2014/main" xmlns="" id="{DB5977C4-489B-46DF-9307-2D28E43B4019}"/>
              </a:ext>
            </a:extLst>
          </p:cNvPr>
          <p:cNvSpPr/>
          <p:nvPr/>
        </p:nvSpPr>
        <p:spPr>
          <a:xfrm>
            <a:off x="3047704" y="5323800"/>
            <a:ext cx="3047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p3">
            <a:extLst>
              <a:ext uri="{FF2B5EF4-FFF2-40B4-BE49-F238E27FC236}">
                <a16:creationId xmlns:a16="http://schemas.microsoft.com/office/drawing/2014/main" xmlns="" id="{A78C2369-35B8-4F82-AF97-AFF1E791C0AA}"/>
              </a:ext>
            </a:extLst>
          </p:cNvPr>
          <p:cNvSpPr/>
          <p:nvPr/>
        </p:nvSpPr>
        <p:spPr>
          <a:xfrm>
            <a:off x="6096271" y="5323800"/>
            <a:ext cx="3047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p3">
            <a:extLst>
              <a:ext uri="{FF2B5EF4-FFF2-40B4-BE49-F238E27FC236}">
                <a16:creationId xmlns:a16="http://schemas.microsoft.com/office/drawing/2014/main" xmlns="" id="{1A062902-AF02-4443-B058-731750167060}"/>
              </a:ext>
            </a:extLst>
          </p:cNvPr>
          <p:cNvSpPr/>
          <p:nvPr/>
        </p:nvSpPr>
        <p:spPr>
          <a:xfrm>
            <a:off x="1" y="5323800"/>
            <a:ext cx="3047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p3">
            <a:extLst>
              <a:ext uri="{FF2B5EF4-FFF2-40B4-BE49-F238E27FC236}">
                <a16:creationId xmlns:a16="http://schemas.microsoft.com/office/drawing/2014/main" xmlns="" id="{8F6E87A8-2F72-46BF-8B7C-AB67895EE494}"/>
              </a:ext>
            </a:extLst>
          </p:cNvPr>
          <p:cNvSpPr/>
          <p:nvPr/>
        </p:nvSpPr>
        <p:spPr>
          <a:xfrm>
            <a:off x="0" y="0"/>
            <a:ext cx="9144000" cy="53238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0" name="Picture 2" descr="Hasil gambar untuk logo polinema">
            <a:extLst>
              <a:ext uri="{FF2B5EF4-FFF2-40B4-BE49-F238E27FC236}">
                <a16:creationId xmlns:a16="http://schemas.microsoft.com/office/drawing/2014/main" xmlns="" id="{262E92AF-A5E2-487B-A852-6BB442151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698" y="669300"/>
            <a:ext cx="1509712" cy="152399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595387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Google Shape;34;p5">
            <a:extLst>
              <a:ext uri="{FF2B5EF4-FFF2-40B4-BE49-F238E27FC236}">
                <a16:creationId xmlns:a16="http://schemas.microsoft.com/office/drawing/2014/main" xmlns="" id="{F97BB0C8-BB20-41E8-AF80-BFD153EBF769}"/>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p5">
            <a:extLst>
              <a:ext uri="{FF2B5EF4-FFF2-40B4-BE49-F238E27FC236}">
                <a16:creationId xmlns:a16="http://schemas.microsoft.com/office/drawing/2014/main" xmlns="" id="{93CD582A-AFEC-44F1-8243-086A624238F0}"/>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p5">
            <a:extLst>
              <a:ext uri="{FF2B5EF4-FFF2-40B4-BE49-F238E27FC236}">
                <a16:creationId xmlns:a16="http://schemas.microsoft.com/office/drawing/2014/main" xmlns="" id="{281E9930-B484-4123-8F5A-D707EEFCFBF1}"/>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7;p5">
            <a:extLst>
              <a:ext uri="{FF2B5EF4-FFF2-40B4-BE49-F238E27FC236}">
                <a16:creationId xmlns:a16="http://schemas.microsoft.com/office/drawing/2014/main" xmlns="" id="{D9817C1C-D3EF-435C-8D78-FD8F3E5F07E4}"/>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lstStyle>
            <a:lvl1pPr>
              <a:defRPr>
                <a:solidFill>
                  <a:srgbClr val="2185C5"/>
                </a:solidFill>
              </a:defRPr>
            </a:lvl1pPr>
          </a:lstStyle>
          <a:p>
            <a:r>
              <a:rPr lang="en-US"/>
              <a:t>Click to edit Master title style</a:t>
            </a:r>
            <a:endParaRPr lang="en-US" dirty="0"/>
          </a:p>
        </p:txBody>
      </p:sp>
      <p:sp>
        <p:nvSpPr>
          <p:cNvPr id="3" name="Content Placeholder 2"/>
          <p:cNvSpPr>
            <a:spLocks noGrp="1"/>
          </p:cNvSpPr>
          <p:nvPr>
            <p:ph idx="1" hasCustomPrompt="1"/>
          </p:nvPr>
        </p:nvSpPr>
        <p:spPr>
          <a:xfrm>
            <a:off x="628648" y="1825625"/>
            <a:ext cx="7886701" cy="4351338"/>
          </a:xfrm>
        </p:spPr>
        <p:txBody>
          <a:bodyPr/>
          <a:lstStyle>
            <a:lvl1pPr marL="0" indent="0">
              <a:spcAft>
                <a:spcPts val="600"/>
              </a:spcAft>
              <a:buFont typeface="Calibri" panose="020F0502020204030204" pitchFamily="34" charset="0"/>
              <a:buChar char="﻿"/>
              <a:tabLst/>
              <a:defRPr>
                <a:solidFill>
                  <a:schemeClr val="tx2"/>
                </a:solidFill>
              </a:defRPr>
            </a:lvl1pPr>
            <a:lvl2pPr marL="457200" indent="-228600">
              <a:defRPr>
                <a:solidFill>
                  <a:schemeClr val="tx2"/>
                </a:solidFill>
              </a:defRPr>
            </a:lvl2pPr>
            <a:lvl3pPr marL="804863" indent="-228600">
              <a:defRPr>
                <a:solidFill>
                  <a:schemeClr val="tx2"/>
                </a:solidFill>
              </a:defRPr>
            </a:lvl3pPr>
            <a:lvl4pPr marL="1152525" indent="-228600">
              <a:defRPr>
                <a:solidFill>
                  <a:schemeClr val="tx2"/>
                </a:solidFill>
              </a:defRPr>
            </a:lvl4pPr>
            <a:lvl5pPr marL="1536700" indent="-228600">
              <a:defRPr>
                <a:solidFill>
                  <a:schemeClr val="tx2"/>
                </a:solidFill>
              </a:defRPr>
            </a:lvl5pPr>
          </a:lstStyle>
          <a:p>
            <a:pPr lvl="0"/>
            <a:r>
              <a:rPr lang="en-US" dirty="0"/>
              <a:t>Edit Master text styles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E57E744-A518-4960-9CB3-DD6B01620DDE}" type="datetimeFigureOut">
              <a:rPr lang="en-US" smtClean="0"/>
              <a:pPr/>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04DEA-F83A-4FDF-A96B-54E1CEEB72F2}" type="slidenum">
              <a:rPr lang="en-US" smtClean="0"/>
              <a:pPr/>
              <a:t>‹#›</a:t>
            </a:fld>
            <a:endParaRPr lang="en-US"/>
          </a:p>
        </p:txBody>
      </p:sp>
      <p:sp>
        <p:nvSpPr>
          <p:cNvPr id="11" name="Google Shape;34;p5">
            <a:extLst>
              <a:ext uri="{FF2B5EF4-FFF2-40B4-BE49-F238E27FC236}">
                <a16:creationId xmlns:a16="http://schemas.microsoft.com/office/drawing/2014/main" xmlns="" id="{AF12AFCB-B200-4AC8-805B-8AAC05743BED}"/>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p5">
            <a:extLst>
              <a:ext uri="{FF2B5EF4-FFF2-40B4-BE49-F238E27FC236}">
                <a16:creationId xmlns:a16="http://schemas.microsoft.com/office/drawing/2014/main" xmlns="" id="{5A745B38-ED2E-413C-916F-1B49A14A62FE}"/>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6;p5">
            <a:extLst>
              <a:ext uri="{FF2B5EF4-FFF2-40B4-BE49-F238E27FC236}">
                <a16:creationId xmlns:a16="http://schemas.microsoft.com/office/drawing/2014/main" xmlns="" id="{1562B0BF-9FBD-4550-A96A-6597CB142464}"/>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p5">
            <a:extLst>
              <a:ext uri="{FF2B5EF4-FFF2-40B4-BE49-F238E27FC236}">
                <a16:creationId xmlns:a16="http://schemas.microsoft.com/office/drawing/2014/main" xmlns="" id="{7D192D0C-279E-4F9C-B944-A40A117485EE}"/>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descr="Hasil gambar untuk logo polinema">
            <a:extLst>
              <a:ext uri="{FF2B5EF4-FFF2-40B4-BE49-F238E27FC236}">
                <a16:creationId xmlns:a16="http://schemas.microsoft.com/office/drawing/2014/main" xmlns="" id="{9D4687A6-3EE9-4E8E-9ECD-9816BD8D6E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67470" y="136524"/>
            <a:ext cx="895758" cy="90423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90270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oogle Shape;34;p5">
            <a:extLst>
              <a:ext uri="{FF2B5EF4-FFF2-40B4-BE49-F238E27FC236}">
                <a16:creationId xmlns:a16="http://schemas.microsoft.com/office/drawing/2014/main" xmlns="" id="{390C09BD-4849-439A-B5A4-67C82E67821D}"/>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p5">
            <a:extLst>
              <a:ext uri="{FF2B5EF4-FFF2-40B4-BE49-F238E27FC236}">
                <a16:creationId xmlns:a16="http://schemas.microsoft.com/office/drawing/2014/main" xmlns="" id="{784FAE16-2C0C-4DC6-902E-0A5F43A8F463}"/>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p5">
            <a:extLst>
              <a:ext uri="{FF2B5EF4-FFF2-40B4-BE49-F238E27FC236}">
                <a16:creationId xmlns:a16="http://schemas.microsoft.com/office/drawing/2014/main" xmlns="" id="{74CE5038-51EA-4C1A-8C97-06914409C3E9}"/>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7;p5">
            <a:extLst>
              <a:ext uri="{FF2B5EF4-FFF2-40B4-BE49-F238E27FC236}">
                <a16:creationId xmlns:a16="http://schemas.microsoft.com/office/drawing/2014/main" xmlns="" id="{2D2ABCF6-7D71-4967-9A0D-7B87559F8806}"/>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57E744-A518-4960-9CB3-DD6B01620DDE}" type="datetimeFigureOut">
              <a:rPr lang="en-US" smtClean="0"/>
              <a:pPr/>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04DEA-F83A-4FDF-A96B-54E1CEEB72F2}" type="slidenum">
              <a:rPr lang="en-US" smtClean="0"/>
              <a:pPr/>
              <a:t>‹#›</a:t>
            </a:fld>
            <a:endParaRPr lang="en-US"/>
          </a:p>
        </p:txBody>
      </p:sp>
      <p:sp>
        <p:nvSpPr>
          <p:cNvPr id="11" name="Google Shape;34;p5">
            <a:extLst>
              <a:ext uri="{FF2B5EF4-FFF2-40B4-BE49-F238E27FC236}">
                <a16:creationId xmlns:a16="http://schemas.microsoft.com/office/drawing/2014/main" xmlns="" id="{55631716-84AC-42B8-9EA7-C57F46CF43C8}"/>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p5">
            <a:extLst>
              <a:ext uri="{FF2B5EF4-FFF2-40B4-BE49-F238E27FC236}">
                <a16:creationId xmlns:a16="http://schemas.microsoft.com/office/drawing/2014/main" xmlns="" id="{F92AD813-289B-481D-BD9C-9A3C2FA9029C}"/>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6;p5">
            <a:extLst>
              <a:ext uri="{FF2B5EF4-FFF2-40B4-BE49-F238E27FC236}">
                <a16:creationId xmlns:a16="http://schemas.microsoft.com/office/drawing/2014/main" xmlns="" id="{1E86EC90-CCF9-4E7E-9D5C-1B66B0D761F8}"/>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p5">
            <a:extLst>
              <a:ext uri="{FF2B5EF4-FFF2-40B4-BE49-F238E27FC236}">
                <a16:creationId xmlns:a16="http://schemas.microsoft.com/office/drawing/2014/main" xmlns="" id="{A1314DD5-683D-48AA-A562-F2C921956466}"/>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0607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Google Shape;34;p5">
            <a:extLst>
              <a:ext uri="{FF2B5EF4-FFF2-40B4-BE49-F238E27FC236}">
                <a16:creationId xmlns:a16="http://schemas.microsoft.com/office/drawing/2014/main" xmlns="" id="{1E6C14FF-1C9B-49E0-9921-2EE7D81BD5C4}"/>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p5">
            <a:extLst>
              <a:ext uri="{FF2B5EF4-FFF2-40B4-BE49-F238E27FC236}">
                <a16:creationId xmlns:a16="http://schemas.microsoft.com/office/drawing/2014/main" xmlns="" id="{D8697FB3-0FF0-46E9-B766-71A29B4C8785}"/>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p5">
            <a:extLst>
              <a:ext uri="{FF2B5EF4-FFF2-40B4-BE49-F238E27FC236}">
                <a16:creationId xmlns:a16="http://schemas.microsoft.com/office/drawing/2014/main" xmlns="" id="{DBE0F3EB-9815-4B50-8B9D-00C4F84DF077}"/>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7;p5">
            <a:extLst>
              <a:ext uri="{FF2B5EF4-FFF2-40B4-BE49-F238E27FC236}">
                <a16:creationId xmlns:a16="http://schemas.microsoft.com/office/drawing/2014/main" xmlns="" id="{92A66D26-EBB3-4BDB-8BC4-B71DAB3A0A41}"/>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57E744-A518-4960-9CB3-DD6B01620DDE}" type="datetimeFigureOut">
              <a:rPr lang="en-US" smtClean="0"/>
              <a:pPr/>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04DEA-F83A-4FDF-A96B-54E1CEEB72F2}" type="slidenum">
              <a:rPr lang="en-US" smtClean="0"/>
              <a:pPr/>
              <a:t>‹#›</a:t>
            </a:fld>
            <a:endParaRPr lang="en-US"/>
          </a:p>
        </p:txBody>
      </p:sp>
      <p:sp>
        <p:nvSpPr>
          <p:cNvPr id="12" name="Google Shape;34;p5">
            <a:extLst>
              <a:ext uri="{FF2B5EF4-FFF2-40B4-BE49-F238E27FC236}">
                <a16:creationId xmlns:a16="http://schemas.microsoft.com/office/drawing/2014/main" xmlns="" id="{3955B8F2-825A-4FE5-9FF9-2AD515A88EBC}"/>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p5">
            <a:extLst>
              <a:ext uri="{FF2B5EF4-FFF2-40B4-BE49-F238E27FC236}">
                <a16:creationId xmlns:a16="http://schemas.microsoft.com/office/drawing/2014/main" xmlns="" id="{CAD5F15C-7B3E-4765-B6B1-37E62AF5C299}"/>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p5">
            <a:extLst>
              <a:ext uri="{FF2B5EF4-FFF2-40B4-BE49-F238E27FC236}">
                <a16:creationId xmlns:a16="http://schemas.microsoft.com/office/drawing/2014/main" xmlns="" id="{F0462C0B-D19D-4EAB-B590-F22F0632105A}"/>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7;p5">
            <a:extLst>
              <a:ext uri="{FF2B5EF4-FFF2-40B4-BE49-F238E27FC236}">
                <a16:creationId xmlns:a16="http://schemas.microsoft.com/office/drawing/2014/main" xmlns="" id="{CB884C85-3474-4F48-9334-5A3A0B92BCA5}"/>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7532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Google Shape;34;p5">
            <a:extLst>
              <a:ext uri="{FF2B5EF4-FFF2-40B4-BE49-F238E27FC236}">
                <a16:creationId xmlns:a16="http://schemas.microsoft.com/office/drawing/2014/main" xmlns="" id="{EBD34C2B-4C7F-4484-9570-2600C7C5AA3A}"/>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5;p5">
            <a:extLst>
              <a:ext uri="{FF2B5EF4-FFF2-40B4-BE49-F238E27FC236}">
                <a16:creationId xmlns:a16="http://schemas.microsoft.com/office/drawing/2014/main" xmlns="" id="{0FB66BD2-AC36-47F4-A66A-D3CB34425B02}"/>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p5">
            <a:extLst>
              <a:ext uri="{FF2B5EF4-FFF2-40B4-BE49-F238E27FC236}">
                <a16:creationId xmlns:a16="http://schemas.microsoft.com/office/drawing/2014/main" xmlns="" id="{2F56F8C3-188E-4348-BE0B-D26879321DF6}"/>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7;p5">
            <a:extLst>
              <a:ext uri="{FF2B5EF4-FFF2-40B4-BE49-F238E27FC236}">
                <a16:creationId xmlns:a16="http://schemas.microsoft.com/office/drawing/2014/main" xmlns="" id="{15A12D85-9DB1-472D-AD58-57355D065D7F}"/>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57E744-A518-4960-9CB3-DD6B01620DDE}" type="datetimeFigureOut">
              <a:rPr lang="en-US" smtClean="0"/>
              <a:pPr/>
              <a:t>3/11/2019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304DEA-F83A-4FDF-A96B-54E1CEEB72F2}" type="slidenum">
              <a:rPr lang="en-US" smtClean="0"/>
              <a:pPr/>
              <a:t>‹#›</a:t>
            </a:fld>
            <a:endParaRPr lang="en-US"/>
          </a:p>
        </p:txBody>
      </p:sp>
      <p:sp>
        <p:nvSpPr>
          <p:cNvPr id="14" name="Google Shape;34;p5">
            <a:extLst>
              <a:ext uri="{FF2B5EF4-FFF2-40B4-BE49-F238E27FC236}">
                <a16:creationId xmlns:a16="http://schemas.microsoft.com/office/drawing/2014/main" xmlns="" id="{B27ACEF9-0E89-4430-B0AE-5EA06BF4C835}"/>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5;p5">
            <a:extLst>
              <a:ext uri="{FF2B5EF4-FFF2-40B4-BE49-F238E27FC236}">
                <a16:creationId xmlns:a16="http://schemas.microsoft.com/office/drawing/2014/main" xmlns="" id="{29EF9000-3FEA-4E79-A74E-275C23EA8DAC}"/>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p5">
            <a:extLst>
              <a:ext uri="{FF2B5EF4-FFF2-40B4-BE49-F238E27FC236}">
                <a16:creationId xmlns:a16="http://schemas.microsoft.com/office/drawing/2014/main" xmlns="" id="{C5538AD5-805A-416B-8785-4910E0D39099}"/>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7;p5">
            <a:extLst>
              <a:ext uri="{FF2B5EF4-FFF2-40B4-BE49-F238E27FC236}">
                <a16:creationId xmlns:a16="http://schemas.microsoft.com/office/drawing/2014/main" xmlns="" id="{21BF3E31-5C99-471F-93AA-8E86A3453CD0}"/>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4424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oogle Shape;34;p5">
            <a:extLst>
              <a:ext uri="{FF2B5EF4-FFF2-40B4-BE49-F238E27FC236}">
                <a16:creationId xmlns:a16="http://schemas.microsoft.com/office/drawing/2014/main" xmlns="" id="{B914810A-44A6-4161-A70C-FF676D0A6B9F}"/>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5;p5">
            <a:extLst>
              <a:ext uri="{FF2B5EF4-FFF2-40B4-BE49-F238E27FC236}">
                <a16:creationId xmlns:a16="http://schemas.microsoft.com/office/drawing/2014/main" xmlns="" id="{9DDF0D8B-62DA-472A-85D8-5879E3443EF9}"/>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6;p5">
            <a:extLst>
              <a:ext uri="{FF2B5EF4-FFF2-40B4-BE49-F238E27FC236}">
                <a16:creationId xmlns:a16="http://schemas.microsoft.com/office/drawing/2014/main" xmlns="" id="{890397F0-AD1E-423B-8197-5FB8DBAFE5AD}"/>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7;p5">
            <a:extLst>
              <a:ext uri="{FF2B5EF4-FFF2-40B4-BE49-F238E27FC236}">
                <a16:creationId xmlns:a16="http://schemas.microsoft.com/office/drawing/2014/main" xmlns="" id="{AAA9BD62-A2A2-402F-857E-E9F16F3AD6E8}"/>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57E744-A518-4960-9CB3-DD6B01620DDE}" type="datetimeFigureOut">
              <a:rPr lang="en-US" smtClean="0"/>
              <a:pPr/>
              <a:t>3/11/2019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304DEA-F83A-4FDF-A96B-54E1CEEB72F2}" type="slidenum">
              <a:rPr lang="en-US" smtClean="0"/>
              <a:pPr/>
              <a:t>‹#›</a:t>
            </a:fld>
            <a:endParaRPr lang="en-US"/>
          </a:p>
        </p:txBody>
      </p:sp>
      <p:sp>
        <p:nvSpPr>
          <p:cNvPr id="10" name="Google Shape;34;p5">
            <a:extLst>
              <a:ext uri="{FF2B5EF4-FFF2-40B4-BE49-F238E27FC236}">
                <a16:creationId xmlns:a16="http://schemas.microsoft.com/office/drawing/2014/main" xmlns="" id="{5079E353-3D36-491E-94BB-53657B714F63}"/>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5;p5">
            <a:extLst>
              <a:ext uri="{FF2B5EF4-FFF2-40B4-BE49-F238E27FC236}">
                <a16:creationId xmlns:a16="http://schemas.microsoft.com/office/drawing/2014/main" xmlns="" id="{520B6713-3C0C-4FEA-9C75-49576C3F22A1}"/>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p5">
            <a:extLst>
              <a:ext uri="{FF2B5EF4-FFF2-40B4-BE49-F238E27FC236}">
                <a16:creationId xmlns:a16="http://schemas.microsoft.com/office/drawing/2014/main" xmlns="" id="{EF8A03DE-2505-466E-994B-B30AC06041EB}"/>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7;p5">
            <a:extLst>
              <a:ext uri="{FF2B5EF4-FFF2-40B4-BE49-F238E27FC236}">
                <a16:creationId xmlns:a16="http://schemas.microsoft.com/office/drawing/2014/main" xmlns="" id="{9DC5AE5A-5294-4DFB-9EA9-BA49DE5DF23E}"/>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8523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2185C5"/>
        </a:solidFill>
        <a:effectLst/>
      </p:bgPr>
    </p:bg>
    <p:spTree>
      <p:nvGrpSpPr>
        <p:cNvPr id="1" name=""/>
        <p:cNvGrpSpPr/>
        <p:nvPr/>
      </p:nvGrpSpPr>
      <p:grpSpPr>
        <a:xfrm>
          <a:off x="0" y="0"/>
          <a:ext cx="0" cy="0"/>
          <a:chOff x="0" y="0"/>
          <a:chExt cx="0" cy="0"/>
        </a:xfrm>
      </p:grpSpPr>
      <p:sp>
        <p:nvSpPr>
          <p:cNvPr id="5" name="Google Shape;34;p5">
            <a:extLst>
              <a:ext uri="{FF2B5EF4-FFF2-40B4-BE49-F238E27FC236}">
                <a16:creationId xmlns:a16="http://schemas.microsoft.com/office/drawing/2014/main" xmlns="" id="{D501FA23-BE15-4BBD-8DF9-0098F3713F37}"/>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5;p5">
            <a:extLst>
              <a:ext uri="{FF2B5EF4-FFF2-40B4-BE49-F238E27FC236}">
                <a16:creationId xmlns:a16="http://schemas.microsoft.com/office/drawing/2014/main" xmlns="" id="{885F892F-193B-47DA-8B22-284F31E3F77E}"/>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6;p5">
            <a:extLst>
              <a:ext uri="{FF2B5EF4-FFF2-40B4-BE49-F238E27FC236}">
                <a16:creationId xmlns:a16="http://schemas.microsoft.com/office/drawing/2014/main" xmlns="" id="{1EF811DA-D642-49FD-AF5E-71D3F79BFF3F}"/>
              </a:ext>
            </a:extLst>
          </p:cNvPr>
          <p:cNvSpPr/>
          <p:nvPr/>
        </p:nvSpPr>
        <p:spPr>
          <a:xfrm>
            <a:off x="0" y="6755100"/>
            <a:ext cx="893700" cy="1029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7;p5">
            <a:extLst>
              <a:ext uri="{FF2B5EF4-FFF2-40B4-BE49-F238E27FC236}">
                <a16:creationId xmlns:a16="http://schemas.microsoft.com/office/drawing/2014/main" xmlns="" id="{48C273E6-712E-4912-8A85-54408C719667}"/>
              </a:ext>
            </a:extLst>
          </p:cNvPr>
          <p:cNvSpPr/>
          <p:nvPr/>
        </p:nvSpPr>
        <p:spPr>
          <a:xfrm>
            <a:off x="893710" y="6755100"/>
            <a:ext cx="64626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Date Placeholder 1"/>
          <p:cNvSpPr>
            <a:spLocks noGrp="1"/>
          </p:cNvSpPr>
          <p:nvPr>
            <p:ph type="dt" sz="half" idx="10"/>
          </p:nvPr>
        </p:nvSpPr>
        <p:spPr/>
        <p:txBody>
          <a:bodyPr/>
          <a:lstStyle/>
          <a:p>
            <a:fld id="{AE57E744-A518-4960-9CB3-DD6B01620DDE}" type="datetimeFigureOut">
              <a:rPr lang="en-US" smtClean="0"/>
              <a:pPr/>
              <a:t>3/11/2019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304DEA-F83A-4FDF-A96B-54E1CEEB72F2}" type="slidenum">
              <a:rPr lang="en-US" smtClean="0"/>
              <a:pPr/>
              <a:t>‹#›</a:t>
            </a:fld>
            <a:endParaRPr lang="en-US"/>
          </a:p>
        </p:txBody>
      </p:sp>
      <p:sp>
        <p:nvSpPr>
          <p:cNvPr id="9" name="Google Shape;34;p5">
            <a:extLst>
              <a:ext uri="{FF2B5EF4-FFF2-40B4-BE49-F238E27FC236}">
                <a16:creationId xmlns:a16="http://schemas.microsoft.com/office/drawing/2014/main" xmlns="" id="{FAABD269-D691-4B88-B6A4-DEECF71CFC30}"/>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5;p5">
            <a:extLst>
              <a:ext uri="{FF2B5EF4-FFF2-40B4-BE49-F238E27FC236}">
                <a16:creationId xmlns:a16="http://schemas.microsoft.com/office/drawing/2014/main" xmlns="" id="{BCB7BBE7-D7E3-4A01-9A01-C063EA332E40}"/>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p5">
            <a:extLst>
              <a:ext uri="{FF2B5EF4-FFF2-40B4-BE49-F238E27FC236}">
                <a16:creationId xmlns:a16="http://schemas.microsoft.com/office/drawing/2014/main" xmlns="" id="{E8FDE87B-31AB-408C-96C5-6DD4B07E7E15}"/>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7;p5">
            <a:extLst>
              <a:ext uri="{FF2B5EF4-FFF2-40B4-BE49-F238E27FC236}">
                <a16:creationId xmlns:a16="http://schemas.microsoft.com/office/drawing/2014/main" xmlns="" id="{90B5432A-9C48-4BD0-8708-A55E14E3FB36}"/>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9688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34;p5">
            <a:extLst>
              <a:ext uri="{FF2B5EF4-FFF2-40B4-BE49-F238E27FC236}">
                <a16:creationId xmlns:a16="http://schemas.microsoft.com/office/drawing/2014/main" xmlns="" id="{B1CB1FFC-CB6F-41C4-B15F-40A30E20B85B}"/>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p5">
            <a:extLst>
              <a:ext uri="{FF2B5EF4-FFF2-40B4-BE49-F238E27FC236}">
                <a16:creationId xmlns:a16="http://schemas.microsoft.com/office/drawing/2014/main" xmlns="" id="{5C0A328B-1FDA-4F11-9472-E4CF54D83615}"/>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p5">
            <a:extLst>
              <a:ext uri="{FF2B5EF4-FFF2-40B4-BE49-F238E27FC236}">
                <a16:creationId xmlns:a16="http://schemas.microsoft.com/office/drawing/2014/main" xmlns="" id="{BB6F74B5-8A9F-462C-A89F-82C45A0B283F}"/>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7;p5">
            <a:extLst>
              <a:ext uri="{FF2B5EF4-FFF2-40B4-BE49-F238E27FC236}">
                <a16:creationId xmlns:a16="http://schemas.microsoft.com/office/drawing/2014/main" xmlns="" id="{C2EA4B33-7A18-4768-81AA-97689A9F0539}"/>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57E744-A518-4960-9CB3-DD6B01620DDE}" type="datetimeFigureOut">
              <a:rPr lang="en-US" smtClean="0"/>
              <a:pPr/>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04DEA-F83A-4FDF-A96B-54E1CEEB72F2}" type="slidenum">
              <a:rPr lang="en-US" smtClean="0"/>
              <a:pPr/>
              <a:t>‹#›</a:t>
            </a:fld>
            <a:endParaRPr lang="en-US"/>
          </a:p>
        </p:txBody>
      </p:sp>
      <p:sp>
        <p:nvSpPr>
          <p:cNvPr id="12" name="Google Shape;34;p5">
            <a:extLst>
              <a:ext uri="{FF2B5EF4-FFF2-40B4-BE49-F238E27FC236}">
                <a16:creationId xmlns:a16="http://schemas.microsoft.com/office/drawing/2014/main" xmlns="" id="{9836007B-2B35-428E-B4EE-9BC495075FA9}"/>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p5">
            <a:extLst>
              <a:ext uri="{FF2B5EF4-FFF2-40B4-BE49-F238E27FC236}">
                <a16:creationId xmlns:a16="http://schemas.microsoft.com/office/drawing/2014/main" xmlns="" id="{F1726200-D1F6-4498-BB7F-780F30F23D32}"/>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p5">
            <a:extLst>
              <a:ext uri="{FF2B5EF4-FFF2-40B4-BE49-F238E27FC236}">
                <a16:creationId xmlns:a16="http://schemas.microsoft.com/office/drawing/2014/main" xmlns="" id="{93705065-4B6D-446E-B0AB-4DB03FBD45DF}"/>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7;p5">
            <a:extLst>
              <a:ext uri="{FF2B5EF4-FFF2-40B4-BE49-F238E27FC236}">
                <a16:creationId xmlns:a16="http://schemas.microsoft.com/office/drawing/2014/main" xmlns="" id="{6DD04E83-EDA9-4F40-9F8E-32145F83B50A}"/>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969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oogle Shape;34;p5">
            <a:extLst>
              <a:ext uri="{FF2B5EF4-FFF2-40B4-BE49-F238E27FC236}">
                <a16:creationId xmlns:a16="http://schemas.microsoft.com/office/drawing/2014/main" xmlns="" id="{FB08B493-B13F-4AFF-AE9A-069437E6720C}"/>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p5">
            <a:extLst>
              <a:ext uri="{FF2B5EF4-FFF2-40B4-BE49-F238E27FC236}">
                <a16:creationId xmlns:a16="http://schemas.microsoft.com/office/drawing/2014/main" xmlns="" id="{324A8548-F0E2-4DD7-9171-C68615F9887A}"/>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p5">
            <a:extLst>
              <a:ext uri="{FF2B5EF4-FFF2-40B4-BE49-F238E27FC236}">
                <a16:creationId xmlns:a16="http://schemas.microsoft.com/office/drawing/2014/main" xmlns="" id="{8FECC96C-D8E2-4C99-B773-43D5EA3ED9D6}"/>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7;p5">
            <a:extLst>
              <a:ext uri="{FF2B5EF4-FFF2-40B4-BE49-F238E27FC236}">
                <a16:creationId xmlns:a16="http://schemas.microsoft.com/office/drawing/2014/main" xmlns="" id="{3AAA96B1-A479-4675-A466-9DBBE3E166F7}"/>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57E744-A518-4960-9CB3-DD6B01620DDE}" type="datetimeFigureOut">
              <a:rPr lang="en-US" smtClean="0"/>
              <a:pPr/>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04DEA-F83A-4FDF-A96B-54E1CEEB72F2}" type="slidenum">
              <a:rPr lang="en-US" smtClean="0"/>
              <a:pPr/>
              <a:t>‹#›</a:t>
            </a:fld>
            <a:endParaRPr lang="en-US"/>
          </a:p>
        </p:txBody>
      </p:sp>
      <p:sp>
        <p:nvSpPr>
          <p:cNvPr id="12" name="Google Shape;34;p5">
            <a:extLst>
              <a:ext uri="{FF2B5EF4-FFF2-40B4-BE49-F238E27FC236}">
                <a16:creationId xmlns:a16="http://schemas.microsoft.com/office/drawing/2014/main" xmlns="" id="{33F6EFFE-17D5-472B-9197-CAE1D537A683}"/>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p5">
            <a:extLst>
              <a:ext uri="{FF2B5EF4-FFF2-40B4-BE49-F238E27FC236}">
                <a16:creationId xmlns:a16="http://schemas.microsoft.com/office/drawing/2014/main" xmlns="" id="{843F8E14-8D66-4076-80C0-F7C611DEEB1C}"/>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p5">
            <a:extLst>
              <a:ext uri="{FF2B5EF4-FFF2-40B4-BE49-F238E27FC236}">
                <a16:creationId xmlns:a16="http://schemas.microsoft.com/office/drawing/2014/main" xmlns="" id="{7CC4450B-87B1-45DD-AD39-D71F61833BA1}"/>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7;p5">
            <a:extLst>
              <a:ext uri="{FF2B5EF4-FFF2-40B4-BE49-F238E27FC236}">
                <a16:creationId xmlns:a16="http://schemas.microsoft.com/office/drawing/2014/main" xmlns="" id="{F641B878-36A6-44B2-8DBC-16F6104E0F36}"/>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116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Google Shape;34;p5">
            <a:extLst>
              <a:ext uri="{FF2B5EF4-FFF2-40B4-BE49-F238E27FC236}">
                <a16:creationId xmlns:a16="http://schemas.microsoft.com/office/drawing/2014/main" xmlns="" id="{4F1BB1C7-3C0B-41B6-949F-316BAE75AE15}"/>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p5">
            <a:extLst>
              <a:ext uri="{FF2B5EF4-FFF2-40B4-BE49-F238E27FC236}">
                <a16:creationId xmlns:a16="http://schemas.microsoft.com/office/drawing/2014/main" xmlns="" id="{17CFECF2-B247-474C-9AC2-A420288C3765}"/>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p5">
            <a:extLst>
              <a:ext uri="{FF2B5EF4-FFF2-40B4-BE49-F238E27FC236}">
                <a16:creationId xmlns:a16="http://schemas.microsoft.com/office/drawing/2014/main" xmlns="" id="{69524FB6-1F57-4155-8439-FF7047EB1972}"/>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7;p5">
            <a:extLst>
              <a:ext uri="{FF2B5EF4-FFF2-40B4-BE49-F238E27FC236}">
                <a16:creationId xmlns:a16="http://schemas.microsoft.com/office/drawing/2014/main" xmlns="" id="{1D50FF2E-BCF2-41AD-88D0-8918C7D47709}"/>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57E744-A518-4960-9CB3-DD6B01620DDE}" type="datetimeFigureOut">
              <a:rPr lang="en-US" smtClean="0"/>
              <a:pPr/>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04DEA-F83A-4FDF-A96B-54E1CEEB72F2}" type="slidenum">
              <a:rPr lang="en-US" smtClean="0"/>
              <a:pPr/>
              <a:t>‹#›</a:t>
            </a:fld>
            <a:endParaRPr lang="en-US"/>
          </a:p>
        </p:txBody>
      </p:sp>
      <p:sp>
        <p:nvSpPr>
          <p:cNvPr id="11" name="Google Shape;34;p5">
            <a:extLst>
              <a:ext uri="{FF2B5EF4-FFF2-40B4-BE49-F238E27FC236}">
                <a16:creationId xmlns:a16="http://schemas.microsoft.com/office/drawing/2014/main" xmlns="" id="{2575A843-A8D4-4A07-9E58-A0CD64E1C148}"/>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p5">
            <a:extLst>
              <a:ext uri="{FF2B5EF4-FFF2-40B4-BE49-F238E27FC236}">
                <a16:creationId xmlns:a16="http://schemas.microsoft.com/office/drawing/2014/main" xmlns="" id="{29848B54-1901-46C4-BB04-F8A8A99CFE11}"/>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6;p5">
            <a:extLst>
              <a:ext uri="{FF2B5EF4-FFF2-40B4-BE49-F238E27FC236}">
                <a16:creationId xmlns:a16="http://schemas.microsoft.com/office/drawing/2014/main" xmlns="" id="{797B62F2-7593-4B4B-8F14-FEF431FC0931}"/>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p5">
            <a:extLst>
              <a:ext uri="{FF2B5EF4-FFF2-40B4-BE49-F238E27FC236}">
                <a16:creationId xmlns:a16="http://schemas.microsoft.com/office/drawing/2014/main" xmlns="" id="{E2B4CD00-E3F6-432B-A75D-0398065C2AC9}"/>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92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Google Shape;34;p5">
            <a:extLst>
              <a:ext uri="{FF2B5EF4-FFF2-40B4-BE49-F238E27FC236}">
                <a16:creationId xmlns:a16="http://schemas.microsoft.com/office/drawing/2014/main" xmlns="" id="{8875A6C0-88EB-4126-9CDE-A0FB75187E33}"/>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p5">
            <a:extLst>
              <a:ext uri="{FF2B5EF4-FFF2-40B4-BE49-F238E27FC236}">
                <a16:creationId xmlns:a16="http://schemas.microsoft.com/office/drawing/2014/main" xmlns="" id="{32A30352-F0E3-48A2-B403-E01C50CCEDB2}"/>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p5">
            <a:extLst>
              <a:ext uri="{FF2B5EF4-FFF2-40B4-BE49-F238E27FC236}">
                <a16:creationId xmlns:a16="http://schemas.microsoft.com/office/drawing/2014/main" xmlns="" id="{5ADBDE24-3118-4802-9B84-54513DF81330}"/>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7;p5">
            <a:extLst>
              <a:ext uri="{FF2B5EF4-FFF2-40B4-BE49-F238E27FC236}">
                <a16:creationId xmlns:a16="http://schemas.microsoft.com/office/drawing/2014/main" xmlns="" id="{E28C4D60-4211-48F0-9360-1890BFA4EE0E}"/>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57E744-A518-4960-9CB3-DD6B01620DDE}" type="datetimeFigureOut">
              <a:rPr lang="en-US" smtClean="0"/>
              <a:pPr/>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04DEA-F83A-4FDF-A96B-54E1CEEB72F2}" type="slidenum">
              <a:rPr lang="en-US" smtClean="0"/>
              <a:pPr/>
              <a:t>‹#›</a:t>
            </a:fld>
            <a:endParaRPr lang="en-US"/>
          </a:p>
        </p:txBody>
      </p:sp>
      <p:sp>
        <p:nvSpPr>
          <p:cNvPr id="11" name="Google Shape;34;p5">
            <a:extLst>
              <a:ext uri="{FF2B5EF4-FFF2-40B4-BE49-F238E27FC236}">
                <a16:creationId xmlns:a16="http://schemas.microsoft.com/office/drawing/2014/main" xmlns="" id="{12FF13C3-EB71-4395-8B97-1E86353A2536}"/>
              </a:ext>
            </a:extLst>
          </p:cNvPr>
          <p:cNvSpPr/>
          <p:nvPr/>
        </p:nvSpPr>
        <p:spPr>
          <a:xfrm>
            <a:off x="7356366" y="6755100"/>
            <a:ext cx="8937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p5">
            <a:extLst>
              <a:ext uri="{FF2B5EF4-FFF2-40B4-BE49-F238E27FC236}">
                <a16:creationId xmlns:a16="http://schemas.microsoft.com/office/drawing/2014/main" xmlns="" id="{6CB94CEA-4964-44D1-ADC6-9709F15D675F}"/>
              </a:ext>
            </a:extLst>
          </p:cNvPr>
          <p:cNvSpPr/>
          <p:nvPr/>
        </p:nvSpPr>
        <p:spPr>
          <a:xfrm>
            <a:off x="8250312" y="6755100"/>
            <a:ext cx="8937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6;p5">
            <a:extLst>
              <a:ext uri="{FF2B5EF4-FFF2-40B4-BE49-F238E27FC236}">
                <a16:creationId xmlns:a16="http://schemas.microsoft.com/office/drawing/2014/main" xmlns="" id="{74E45D46-080F-4EC7-BF73-C96F1A324E25}"/>
              </a:ext>
            </a:extLst>
          </p:cNvPr>
          <p:cNvSpPr/>
          <p:nvPr/>
        </p:nvSpPr>
        <p:spPr>
          <a:xfrm>
            <a:off x="0" y="6755100"/>
            <a:ext cx="8937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p5">
            <a:extLst>
              <a:ext uri="{FF2B5EF4-FFF2-40B4-BE49-F238E27FC236}">
                <a16:creationId xmlns:a16="http://schemas.microsoft.com/office/drawing/2014/main" xmlns="" id="{3E1F7E71-49C8-4477-B9A5-6FD5A4BA0331}"/>
              </a:ext>
            </a:extLst>
          </p:cNvPr>
          <p:cNvSpPr/>
          <p:nvPr/>
        </p:nvSpPr>
        <p:spPr>
          <a:xfrm>
            <a:off x="893710" y="6755100"/>
            <a:ext cx="6462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325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7E744-A518-4960-9CB3-DD6B01620DDE}" type="datetimeFigureOut">
              <a:rPr lang="en-US" smtClean="0"/>
              <a:pPr/>
              <a:t>3/11/2019</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304DEA-F83A-4FDF-A96B-54E1CEEB72F2}" type="slidenum">
              <a:rPr lang="en-US" smtClean="0"/>
              <a:pPr/>
              <a:t>‹#›</a:t>
            </a:fld>
            <a:endParaRPr lang="en-US"/>
          </a:p>
        </p:txBody>
      </p:sp>
    </p:spTree>
    <p:extLst>
      <p:ext uri="{BB962C8B-B14F-4D97-AF65-F5344CB8AC3E}">
        <p14:creationId xmlns:p14="http://schemas.microsoft.com/office/powerpoint/2010/main" val="338530837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92896"/>
            <a:ext cx="7772400" cy="648072"/>
          </a:xfrm>
        </p:spPr>
        <p:txBody>
          <a:bodyPr>
            <a:noAutofit/>
          </a:bodyPr>
          <a:lstStyle/>
          <a:p>
            <a:r>
              <a:rPr lang="en-US" sz="4000" dirty="0" err="1"/>
              <a:t>Probabilitas</a:t>
            </a:r>
            <a:r>
              <a:rPr lang="en-US" sz="4000" dirty="0"/>
              <a:t> &amp; </a:t>
            </a:r>
            <a:r>
              <a:rPr lang="en-US" sz="4000" dirty="0" err="1"/>
              <a:t>Teorema</a:t>
            </a:r>
            <a:r>
              <a:rPr lang="en-US" sz="4000" dirty="0"/>
              <a:t> Bayes</a:t>
            </a:r>
            <a:endParaRPr lang="en-US" sz="4000" dirty="0"/>
          </a:p>
        </p:txBody>
      </p:sp>
      <p:sp>
        <p:nvSpPr>
          <p:cNvPr id="3" name="Subtitle 2"/>
          <p:cNvSpPr>
            <a:spLocks noGrp="1"/>
          </p:cNvSpPr>
          <p:nvPr>
            <p:ph type="subTitle" idx="1"/>
          </p:nvPr>
        </p:nvSpPr>
        <p:spPr/>
        <p:txBody>
          <a:bodyPr>
            <a:normAutofit/>
          </a:bodyPr>
          <a:lstStyle/>
          <a:p>
            <a:r>
              <a:rPr lang="en-US" sz="2000" dirty="0" err="1"/>
              <a:t>Minggu</a:t>
            </a:r>
            <a:r>
              <a:rPr lang="en-US" sz="2000" dirty="0"/>
              <a:t> </a:t>
            </a:r>
            <a:r>
              <a:rPr lang="en-US" sz="2000" dirty="0" err="1"/>
              <a:t>ke</a:t>
            </a:r>
            <a:r>
              <a:rPr lang="en-US" sz="2000" dirty="0"/>
              <a:t> </a:t>
            </a:r>
            <a:r>
              <a:rPr lang="id-ID" sz="2000" dirty="0" smtClean="0"/>
              <a:t>6</a:t>
            </a:r>
            <a:endParaRPr lang="en-US" sz="2000" dirty="0"/>
          </a:p>
          <a:p>
            <a:r>
              <a:rPr lang="en-US" sz="2000" dirty="0" smtClean="0"/>
              <a:t>Team Teaching </a:t>
            </a:r>
            <a:r>
              <a:rPr lang="en-US" sz="2000" dirty="0" err="1" smtClean="0"/>
              <a:t>Komputasi</a:t>
            </a:r>
            <a:r>
              <a:rPr lang="en-US" sz="2000" dirty="0" smtClean="0"/>
              <a:t> </a:t>
            </a:r>
            <a:r>
              <a:rPr lang="en-US" sz="2000" dirty="0" err="1" smtClean="0"/>
              <a:t>Kognitive</a:t>
            </a:r>
            <a:endParaRPr lang="en-US" sz="2000" dirty="0" smtClean="0"/>
          </a:p>
          <a:p>
            <a:r>
              <a:rPr lang="en-US" sz="2000" dirty="0" smtClean="0"/>
              <a:t>Rosa </a:t>
            </a:r>
            <a:r>
              <a:rPr lang="en-US" sz="2000" dirty="0" err="1"/>
              <a:t>Andrie</a:t>
            </a:r>
            <a:r>
              <a:rPr lang="en-US" sz="2000" dirty="0"/>
              <a:t> A., </a:t>
            </a:r>
            <a:r>
              <a:rPr lang="en-US" sz="2000" dirty="0" err="1"/>
              <a:t>Arie</a:t>
            </a:r>
            <a:r>
              <a:rPr lang="en-US" sz="2000" dirty="0"/>
              <a:t> </a:t>
            </a:r>
            <a:r>
              <a:rPr lang="en-US" sz="2000" dirty="0" err="1"/>
              <a:t>Rachmad</a:t>
            </a:r>
            <a:r>
              <a:rPr lang="en-US" sz="2000" dirty="0"/>
              <a:t> S, Vipkas </a:t>
            </a:r>
            <a:r>
              <a:rPr lang="en-US" sz="2000" dirty="0" smtClean="0"/>
              <a:t>A</a:t>
            </a:r>
            <a:r>
              <a:rPr lang="id-ID" sz="2000" dirty="0" smtClean="0"/>
              <a:t>l Hadid F</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marL="514350" indent="-514350">
              <a:buFont typeface="+mj-lt"/>
              <a:buAutoNum type="arabicPeriod"/>
            </a:pPr>
            <a:r>
              <a:rPr lang="id-ID" dirty="0" smtClean="0"/>
              <a:t>Ketidakpastian</a:t>
            </a:r>
            <a:r>
              <a:rPr lang="id-ID" dirty="0"/>
              <a:t> </a:t>
            </a:r>
            <a:r>
              <a:rPr lang="id-ID" dirty="0" smtClean="0"/>
              <a:t>- Probabilitas</a:t>
            </a:r>
            <a:endParaRPr lang="en-US" dirty="0" smtClean="0"/>
          </a:p>
          <a:p>
            <a:pPr marL="514350" indent="-514350">
              <a:buFont typeface="+mj-lt"/>
              <a:buAutoNum type="arabicPeriod"/>
            </a:pPr>
            <a:r>
              <a:rPr lang="id-ID" dirty="0" smtClean="0"/>
              <a:t>Teorema Bayes</a:t>
            </a:r>
            <a:endParaRPr lang="en-US" dirty="0" smtClean="0"/>
          </a:p>
          <a:p>
            <a:pPr marL="514350" indent="-514350">
              <a:buFont typeface="+mj-lt"/>
              <a:buAutoNum type="arabicPeriod"/>
            </a:pPr>
            <a:r>
              <a:rPr lang="id-ID" dirty="0" smtClean="0"/>
              <a:t>Contoh Kasus</a:t>
            </a:r>
            <a:endParaRPr lang="en-US" dirty="0" smtClean="0"/>
          </a:p>
          <a:p>
            <a:pPr lvl="1"/>
            <a:endParaRPr lang="en-US" dirty="0" smtClean="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06102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12775" y="228600"/>
            <a:ext cx="8153400" cy="990600"/>
          </a:xfrm>
        </p:spPr>
        <p:txBody>
          <a:bodyPr/>
          <a:lstStyle/>
          <a:p>
            <a:pPr eaLnBrk="1" hangingPunct="1"/>
            <a:r>
              <a:rPr lang="en-US" dirty="0" err="1" smtClean="0"/>
              <a:t>Ketidakpastian</a:t>
            </a:r>
            <a:endParaRPr lang="en-US" dirty="0" smtClean="0"/>
          </a:p>
        </p:txBody>
      </p:sp>
      <p:sp>
        <p:nvSpPr>
          <p:cNvPr id="5123" name="Rectangle 3"/>
          <p:cNvSpPr>
            <a:spLocks noGrp="1" noChangeArrowheads="1"/>
          </p:cNvSpPr>
          <p:nvPr>
            <p:ph sz="quarter" idx="1"/>
          </p:nvPr>
        </p:nvSpPr>
        <p:spPr>
          <a:xfrm>
            <a:off x="612775" y="1600200"/>
            <a:ext cx="8153400" cy="4495800"/>
          </a:xfrm>
        </p:spPr>
        <p:txBody>
          <a:bodyPr/>
          <a:lstStyle/>
          <a:p>
            <a:pPr eaLnBrk="1" hangingPunct="1">
              <a:lnSpc>
                <a:spcPct val="80000"/>
              </a:lnSpc>
            </a:pPr>
            <a:r>
              <a:rPr lang="en-US" altLang="zh-CN" sz="2800" smtClean="0">
                <a:ea typeface="宋体" panose="02010600030101010101" pitchFamily="2" charset="-122"/>
              </a:rPr>
              <a:t>Dalam menghadapi suatu masalah, sering ditemukan jawaban yang tidak memiliki kepastian penuh. </a:t>
            </a:r>
          </a:p>
          <a:p>
            <a:pPr eaLnBrk="1" hangingPunct="1">
              <a:lnSpc>
                <a:spcPct val="80000"/>
              </a:lnSpc>
            </a:pPr>
            <a:r>
              <a:rPr lang="en-US" altLang="zh-CN" sz="2800" smtClean="0">
                <a:ea typeface="宋体" panose="02010600030101010101" pitchFamily="2" charset="-122"/>
              </a:rPr>
              <a:t>Ketidakpastian ini bisa berupa probabilitas atau kebolehjadian yang tergantung dari hasil suatu kejadian. </a:t>
            </a:r>
          </a:p>
          <a:p>
            <a:pPr eaLnBrk="1" hangingPunct="1">
              <a:lnSpc>
                <a:spcPct val="80000"/>
              </a:lnSpc>
            </a:pPr>
            <a:r>
              <a:rPr lang="en-US" altLang="zh-CN" sz="2800" smtClean="0">
                <a:ea typeface="宋体" panose="02010600030101010101" pitchFamily="2" charset="-122"/>
              </a:rPr>
              <a:t>Hasil yang tidak pasti disebabkan oleh dua faktor yaitu:</a:t>
            </a:r>
          </a:p>
          <a:p>
            <a:pPr lvl="1" eaLnBrk="1" hangingPunct="1">
              <a:lnSpc>
                <a:spcPct val="80000"/>
              </a:lnSpc>
            </a:pPr>
            <a:r>
              <a:rPr lang="en-US" altLang="zh-CN" sz="2400" smtClean="0">
                <a:ea typeface="宋体" panose="02010600030101010101" pitchFamily="2" charset="-122"/>
              </a:rPr>
              <a:t>aturan yang tidak pasti</a:t>
            </a:r>
          </a:p>
          <a:p>
            <a:pPr lvl="1" eaLnBrk="1" hangingPunct="1">
              <a:lnSpc>
                <a:spcPct val="80000"/>
              </a:lnSpc>
            </a:pPr>
            <a:r>
              <a:rPr lang="en-US" altLang="zh-CN" sz="2400" smtClean="0">
                <a:ea typeface="宋体" panose="02010600030101010101" pitchFamily="2" charset="-122"/>
              </a:rPr>
              <a:t>jawaban pengguna yang tidak pasti atas suatu pertanyaan yang diajukan oleh sistem</a:t>
            </a:r>
          </a:p>
        </p:txBody>
      </p:sp>
    </p:spTree>
    <p:extLst>
      <p:ext uri="{BB962C8B-B14F-4D97-AF65-F5344CB8AC3E}">
        <p14:creationId xmlns:p14="http://schemas.microsoft.com/office/powerpoint/2010/main" val="138548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2" dur="500"/>
                                        <p:tgtEl>
                                          <p:spTgt spid="5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7" dur="500"/>
                                        <p:tgtEl>
                                          <p:spTgt spid="512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0" dur="500"/>
                                        <p:tgtEl>
                                          <p:spTgt spid="512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animEffect transition="in" filter="blinds(horizontal)">
                                      <p:cBhvr>
                                        <p:cTn id="23" dur="500"/>
                                        <p:tgtEl>
                                          <p:spTgt spid="5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775" y="228600"/>
            <a:ext cx="8153400" cy="990600"/>
          </a:xfrm>
        </p:spPr>
        <p:txBody>
          <a:bodyPr/>
          <a:lstStyle/>
          <a:p>
            <a:pPr eaLnBrk="1" hangingPunct="1"/>
            <a:r>
              <a:rPr lang="en-US" sz="4000" smtClean="0"/>
              <a:t>Teori Penyelesaian Ketidakpastian</a:t>
            </a:r>
          </a:p>
        </p:txBody>
      </p:sp>
      <p:sp>
        <p:nvSpPr>
          <p:cNvPr id="6147" name="Rectangle 3"/>
          <p:cNvSpPr>
            <a:spLocks noGrp="1" noChangeArrowheads="1"/>
          </p:cNvSpPr>
          <p:nvPr>
            <p:ph sz="quarter" idx="1"/>
          </p:nvPr>
        </p:nvSpPr>
        <p:spPr>
          <a:xfrm>
            <a:off x="612775" y="1600200"/>
            <a:ext cx="8153400" cy="4495800"/>
          </a:xfrm>
        </p:spPr>
        <p:txBody>
          <a:bodyPr>
            <a:normAutofit lnSpcReduction="10000"/>
          </a:bodyPr>
          <a:lstStyle/>
          <a:p>
            <a:pPr eaLnBrk="1" hangingPunct="1">
              <a:lnSpc>
                <a:spcPct val="90000"/>
              </a:lnSpc>
            </a:pPr>
            <a:r>
              <a:rPr lang="en-US" altLang="zh-CN" sz="2800" smtClean="0">
                <a:ea typeface="宋体" panose="02010600030101010101" pitchFamily="2" charset="-122"/>
              </a:rPr>
              <a:t>probabilitas klasik (</a:t>
            </a:r>
            <a:r>
              <a:rPr lang="en-US" altLang="zh-CN" sz="2800" i="1" smtClean="0">
                <a:ea typeface="宋体" panose="02010600030101010101" pitchFamily="2" charset="-122"/>
              </a:rPr>
              <a:t>classical probability</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probabilitas Bayes (</a:t>
            </a:r>
            <a:r>
              <a:rPr lang="en-US" altLang="zh-CN" sz="2800" i="1" smtClean="0">
                <a:ea typeface="宋体" panose="02010600030101010101" pitchFamily="2" charset="-122"/>
              </a:rPr>
              <a:t>Bayesian probability</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teori Hartley berdasarkan himpunan klasik (</a:t>
            </a:r>
            <a:r>
              <a:rPr lang="en-US" altLang="zh-CN" sz="2800" i="1" smtClean="0">
                <a:ea typeface="宋体" panose="02010600030101010101" pitchFamily="2" charset="-122"/>
              </a:rPr>
              <a:t>Hartley theory based on classical sets</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teori Shannon berdasarkan pada probabilitas (</a:t>
            </a:r>
            <a:r>
              <a:rPr lang="en-US" altLang="zh-CN" sz="2800" i="1" smtClean="0">
                <a:ea typeface="宋体" panose="02010600030101010101" pitchFamily="2" charset="-122"/>
              </a:rPr>
              <a:t>Shanon theory based on probability</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teori Dempster-Shafer (</a:t>
            </a:r>
            <a:r>
              <a:rPr lang="en-US" altLang="zh-CN" sz="2800" i="1" smtClean="0">
                <a:ea typeface="宋体" panose="02010600030101010101" pitchFamily="2" charset="-122"/>
              </a:rPr>
              <a:t>Dempster-Shafer theory</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teori fuzzy Zadeh (</a:t>
            </a:r>
            <a:r>
              <a:rPr lang="en-US" altLang="zh-CN" sz="2800" i="1" smtClean="0">
                <a:ea typeface="宋体" panose="02010600030101010101" pitchFamily="2" charset="-122"/>
              </a:rPr>
              <a:t>Zadeh’s fuzzy theory</a:t>
            </a:r>
            <a:r>
              <a:rPr lang="en-US" altLang="zh-CN" sz="2800" smtClean="0">
                <a:ea typeface="宋体" panose="02010600030101010101" pitchFamily="2" charset="-122"/>
              </a:rPr>
              <a:t>)</a:t>
            </a:r>
          </a:p>
          <a:p>
            <a:pPr eaLnBrk="1" hangingPunct="1">
              <a:lnSpc>
                <a:spcPct val="90000"/>
              </a:lnSpc>
            </a:pPr>
            <a:r>
              <a:rPr lang="en-US" altLang="zh-CN" sz="2800" smtClean="0">
                <a:ea typeface="宋体" panose="02010600030101010101" pitchFamily="2" charset="-122"/>
              </a:rPr>
              <a:t>faktor kepastian (</a:t>
            </a:r>
            <a:r>
              <a:rPr lang="en-US" altLang="zh-CN" sz="2800" i="1" smtClean="0">
                <a:ea typeface="宋体" panose="02010600030101010101" pitchFamily="2" charset="-122"/>
              </a:rPr>
              <a:t>certainty factor</a:t>
            </a:r>
            <a:r>
              <a:rPr lang="en-US" altLang="zh-CN" sz="2800" smtClean="0">
                <a:ea typeface="宋体" panose="02010600030101010101" pitchFamily="2" charset="-122"/>
              </a:rPr>
              <a:t>). </a:t>
            </a:r>
            <a:endParaRPr lang="en-US" sz="2800" smtClean="0"/>
          </a:p>
        </p:txBody>
      </p:sp>
    </p:spTree>
    <p:extLst>
      <p:ext uri="{BB962C8B-B14F-4D97-AF65-F5344CB8AC3E}">
        <p14:creationId xmlns:p14="http://schemas.microsoft.com/office/powerpoint/2010/main" val="40072762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7" dur="500"/>
                                        <p:tgtEl>
                                          <p:spTgt spid="61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2" dur="500"/>
                                        <p:tgtEl>
                                          <p:spTgt spid="614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7" dur="5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2775" y="228600"/>
            <a:ext cx="8153400" cy="990600"/>
          </a:xfrm>
        </p:spPr>
        <p:txBody>
          <a:bodyPr/>
          <a:lstStyle/>
          <a:p>
            <a:pPr eaLnBrk="1" hangingPunct="1"/>
            <a:r>
              <a:rPr lang="en-US" smtClean="0"/>
              <a:t>Ketidakpastian Aturan</a:t>
            </a:r>
          </a:p>
        </p:txBody>
      </p:sp>
      <p:sp>
        <p:nvSpPr>
          <p:cNvPr id="7171" name="Rectangle 3"/>
          <p:cNvSpPr>
            <a:spLocks noGrp="1" noChangeArrowheads="1"/>
          </p:cNvSpPr>
          <p:nvPr>
            <p:ph sz="quarter" idx="1"/>
          </p:nvPr>
        </p:nvSpPr>
        <p:spPr>
          <a:xfrm>
            <a:off x="612775" y="1600200"/>
            <a:ext cx="8153400" cy="4495800"/>
          </a:xfrm>
        </p:spPr>
        <p:txBody>
          <a:bodyPr/>
          <a:lstStyle/>
          <a:p>
            <a:pPr eaLnBrk="1" hangingPunct="1"/>
            <a:r>
              <a:rPr lang="en-US" altLang="zh-CN" smtClean="0">
                <a:ea typeface="宋体" panose="02010600030101010101" pitchFamily="2" charset="-122"/>
              </a:rPr>
              <a:t>Ada tiga penyebab ketidakpastian aturan yaitu</a:t>
            </a:r>
          </a:p>
          <a:p>
            <a:pPr lvl="1" eaLnBrk="1" hangingPunct="1"/>
            <a:r>
              <a:rPr lang="en-US" altLang="zh-CN" smtClean="0">
                <a:ea typeface="宋体" panose="02010600030101010101" pitchFamily="2" charset="-122"/>
              </a:rPr>
              <a:t>aturan tunggal</a:t>
            </a:r>
          </a:p>
          <a:p>
            <a:pPr lvl="1" eaLnBrk="1" hangingPunct="1"/>
            <a:r>
              <a:rPr lang="en-US" altLang="zh-CN" smtClean="0">
                <a:ea typeface="宋体" panose="02010600030101010101" pitchFamily="2" charset="-122"/>
              </a:rPr>
              <a:t>ketidakcocokan (</a:t>
            </a:r>
            <a:r>
              <a:rPr lang="en-US" altLang="zh-CN" i="1" smtClean="0">
                <a:ea typeface="宋体" panose="02010600030101010101" pitchFamily="2" charset="-122"/>
              </a:rPr>
              <a:t>incompatibility</a:t>
            </a:r>
            <a:r>
              <a:rPr lang="en-US" altLang="zh-CN" smtClean="0">
                <a:ea typeface="宋体" panose="02010600030101010101" pitchFamily="2" charset="-122"/>
              </a:rPr>
              <a:t>) antar konsekuen dalam aturan</a:t>
            </a:r>
          </a:p>
          <a:p>
            <a:pPr lvl="1" eaLnBrk="1" hangingPunct="1"/>
            <a:r>
              <a:rPr lang="en-US" altLang="zh-CN" smtClean="0">
                <a:ea typeface="宋体" panose="02010600030101010101" pitchFamily="2" charset="-122"/>
              </a:rPr>
              <a:t>penyelesaian konflik</a:t>
            </a:r>
          </a:p>
        </p:txBody>
      </p:sp>
    </p:spTree>
    <p:extLst>
      <p:ext uri="{BB962C8B-B14F-4D97-AF65-F5344CB8AC3E}">
        <p14:creationId xmlns:p14="http://schemas.microsoft.com/office/powerpoint/2010/main" val="320388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5" dur="500"/>
                                        <p:tgtEl>
                                          <p:spTgt spid="717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8"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12775" y="228600"/>
            <a:ext cx="8153400" cy="990600"/>
          </a:xfrm>
        </p:spPr>
        <p:txBody>
          <a:bodyPr/>
          <a:lstStyle/>
          <a:p>
            <a:pPr eaLnBrk="1" hangingPunct="1"/>
            <a:r>
              <a:rPr lang="en-US" smtClean="0"/>
              <a:t>Aturan Tunggal</a:t>
            </a:r>
          </a:p>
        </p:txBody>
      </p:sp>
      <p:sp>
        <p:nvSpPr>
          <p:cNvPr id="8195" name="Rectangle 3"/>
          <p:cNvSpPr>
            <a:spLocks noGrp="1" noChangeArrowheads="1"/>
          </p:cNvSpPr>
          <p:nvPr>
            <p:ph sz="quarter" idx="1"/>
          </p:nvPr>
        </p:nvSpPr>
        <p:spPr>
          <a:xfrm>
            <a:off x="612775" y="1600200"/>
            <a:ext cx="8153400" cy="4495800"/>
          </a:xfrm>
        </p:spPr>
        <p:txBody>
          <a:bodyPr/>
          <a:lstStyle/>
          <a:p>
            <a:pPr marL="533400" indent="-533400" eaLnBrk="1" hangingPunct="1">
              <a:lnSpc>
                <a:spcPct val="90000"/>
              </a:lnSpc>
            </a:pPr>
            <a:r>
              <a:rPr lang="en-US" altLang="zh-CN" sz="2400" smtClean="0">
                <a:ea typeface="宋体" panose="02010600030101010101" pitchFamily="2" charset="-122"/>
              </a:rPr>
              <a:t>Kesalahan</a:t>
            </a:r>
          </a:p>
          <a:p>
            <a:pPr marL="914400" lvl="1" indent="-457200" eaLnBrk="1" hangingPunct="1">
              <a:lnSpc>
                <a:spcPct val="90000"/>
              </a:lnSpc>
            </a:pPr>
            <a:r>
              <a:rPr lang="en-US" altLang="zh-CN" sz="2000" smtClean="0">
                <a:ea typeface="宋体" panose="02010600030101010101" pitchFamily="2" charset="-122"/>
              </a:rPr>
              <a:t>ambiguitas, sesuatu didefinisikan dengan lebih dari satu cara</a:t>
            </a:r>
          </a:p>
          <a:p>
            <a:pPr marL="914400" lvl="1" indent="-457200" eaLnBrk="1" hangingPunct="1">
              <a:lnSpc>
                <a:spcPct val="90000"/>
              </a:lnSpc>
            </a:pPr>
            <a:r>
              <a:rPr lang="en-US" altLang="zh-CN" sz="2000" smtClean="0">
                <a:ea typeface="宋体" panose="02010600030101010101" pitchFamily="2" charset="-122"/>
              </a:rPr>
              <a:t>ketidaklengkapan data</a:t>
            </a:r>
          </a:p>
          <a:p>
            <a:pPr marL="914400" lvl="1" indent="-457200" eaLnBrk="1" hangingPunct="1">
              <a:lnSpc>
                <a:spcPct val="90000"/>
              </a:lnSpc>
            </a:pPr>
            <a:r>
              <a:rPr lang="en-US" altLang="zh-CN" sz="2000" smtClean="0">
                <a:ea typeface="宋体" panose="02010600030101010101" pitchFamily="2" charset="-122"/>
              </a:rPr>
              <a:t>kesalahan informasi</a:t>
            </a:r>
          </a:p>
          <a:p>
            <a:pPr marL="914400" lvl="1" indent="-457200" eaLnBrk="1" hangingPunct="1">
              <a:lnSpc>
                <a:spcPct val="90000"/>
              </a:lnSpc>
            </a:pPr>
            <a:r>
              <a:rPr lang="en-US" altLang="zh-CN" sz="2000" smtClean="0">
                <a:ea typeface="宋体" panose="02010600030101010101" pitchFamily="2" charset="-122"/>
              </a:rPr>
              <a:t>ketidakpercayaan terhadap suatu alat</a:t>
            </a:r>
          </a:p>
          <a:p>
            <a:pPr marL="914400" lvl="1" indent="-457200" eaLnBrk="1" hangingPunct="1">
              <a:lnSpc>
                <a:spcPct val="90000"/>
              </a:lnSpc>
            </a:pPr>
            <a:r>
              <a:rPr lang="en-US" altLang="zh-CN" sz="2000" smtClean="0">
                <a:ea typeface="宋体" panose="02010600030101010101" pitchFamily="2" charset="-122"/>
              </a:rPr>
              <a:t>adanya bias</a:t>
            </a:r>
          </a:p>
          <a:p>
            <a:pPr marL="533400" indent="-533400" eaLnBrk="1" hangingPunct="1">
              <a:lnSpc>
                <a:spcPct val="90000"/>
              </a:lnSpc>
            </a:pPr>
            <a:r>
              <a:rPr lang="en-US" altLang="zh-CN" sz="2400" smtClean="0">
                <a:ea typeface="宋体" panose="02010600030101010101" pitchFamily="2" charset="-122"/>
              </a:rPr>
              <a:t>probabilitas</a:t>
            </a:r>
          </a:p>
          <a:p>
            <a:pPr marL="533400" indent="-533400" eaLnBrk="1" hangingPunct="1">
              <a:lnSpc>
                <a:spcPct val="90000"/>
              </a:lnSpc>
              <a:buFontTx/>
              <a:buNone/>
            </a:pPr>
            <a:r>
              <a:rPr lang="en-US" altLang="zh-CN" sz="2400" smtClean="0">
                <a:ea typeface="宋体" panose="02010600030101010101" pitchFamily="2" charset="-122"/>
              </a:rPr>
              <a:t>	disebabkan ketidakmampuan seorang pakar merumuskan suatu aturan secara pasti</a:t>
            </a:r>
          </a:p>
          <a:p>
            <a:pPr marL="533400" indent="-533400" eaLnBrk="1" hangingPunct="1">
              <a:lnSpc>
                <a:spcPct val="90000"/>
              </a:lnSpc>
            </a:pPr>
            <a:r>
              <a:rPr lang="en-US" altLang="zh-CN" sz="2400" smtClean="0">
                <a:ea typeface="宋体" panose="02010600030101010101" pitchFamily="2" charset="-122"/>
              </a:rPr>
              <a:t>kombinasi gejala (</a:t>
            </a:r>
            <a:r>
              <a:rPr lang="en-US" altLang="zh-CN" sz="2400" i="1" smtClean="0">
                <a:ea typeface="宋体" panose="02010600030101010101" pitchFamily="2" charset="-122"/>
              </a:rPr>
              <a:t>evidence</a:t>
            </a:r>
            <a:r>
              <a:rPr lang="en-US" altLang="zh-CN" sz="2400" smtClean="0">
                <a:ea typeface="宋体" panose="02010600030101010101" pitchFamily="2" charset="-122"/>
              </a:rPr>
              <a:t>)</a:t>
            </a:r>
          </a:p>
          <a:p>
            <a:pPr marL="533400" indent="-533400" eaLnBrk="1" hangingPunct="1">
              <a:lnSpc>
                <a:spcPct val="90000"/>
              </a:lnSpc>
            </a:pPr>
            <a:endParaRPr lang="en-US" sz="2400" smtClean="0"/>
          </a:p>
        </p:txBody>
      </p:sp>
    </p:spTree>
    <p:extLst>
      <p:ext uri="{BB962C8B-B14F-4D97-AF65-F5344CB8AC3E}">
        <p14:creationId xmlns:p14="http://schemas.microsoft.com/office/powerpoint/2010/main" val="1680379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0" dur="500"/>
                                        <p:tgtEl>
                                          <p:spTgt spid="819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3" dur="500"/>
                                        <p:tgtEl>
                                          <p:spTgt spid="819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linds(horizontal)">
                                      <p:cBhvr>
                                        <p:cTn id="16" dur="500"/>
                                        <p:tgtEl>
                                          <p:spTgt spid="819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blinds(horizontal)">
                                      <p:cBhvr>
                                        <p:cTn id="19" dur="500"/>
                                        <p:tgtEl>
                                          <p:spTgt spid="8195">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2" dur="500"/>
                                        <p:tgtEl>
                                          <p:spTgt spid="819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animEffect transition="in" filter="blinds(horizontal)">
                                      <p:cBhvr>
                                        <p:cTn id="27" dur="500"/>
                                        <p:tgtEl>
                                          <p:spTgt spid="819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5">
                                            <p:txEl>
                                              <p:pRg st="7" end="7"/>
                                            </p:txEl>
                                          </p:spTgt>
                                        </p:tgtEl>
                                        <p:attrNameLst>
                                          <p:attrName>style.visibility</p:attrName>
                                        </p:attrNameLst>
                                      </p:cBhvr>
                                      <p:to>
                                        <p:strVal val="visible"/>
                                      </p:to>
                                    </p:set>
                                    <p:animEffect transition="in" filter="blinds(horizontal)">
                                      <p:cBhvr>
                                        <p:cTn id="32" dur="500"/>
                                        <p:tgtEl>
                                          <p:spTgt spid="819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195">
                                            <p:txEl>
                                              <p:pRg st="8" end="8"/>
                                            </p:txEl>
                                          </p:spTgt>
                                        </p:tgtEl>
                                        <p:attrNameLst>
                                          <p:attrName>style.visibility</p:attrName>
                                        </p:attrNameLst>
                                      </p:cBhvr>
                                      <p:to>
                                        <p:strVal val="visible"/>
                                      </p:to>
                                    </p:set>
                                    <p:animEffect transition="in" filter="blinds(horizontal)">
                                      <p:cBhvr>
                                        <p:cTn id="37" dur="500"/>
                                        <p:tgtEl>
                                          <p:spTgt spid="8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12775" y="228600"/>
            <a:ext cx="8153400" cy="990600"/>
          </a:xfrm>
        </p:spPr>
        <p:txBody>
          <a:bodyPr/>
          <a:lstStyle/>
          <a:p>
            <a:pPr eaLnBrk="1" hangingPunct="1"/>
            <a:r>
              <a:rPr lang="en-US" smtClean="0"/>
              <a:t>Probabilitas</a:t>
            </a:r>
          </a:p>
        </p:txBody>
      </p:sp>
      <p:sp>
        <p:nvSpPr>
          <p:cNvPr id="20483" name="Content Placeholder 2"/>
          <p:cNvSpPr>
            <a:spLocks noGrp="1"/>
          </p:cNvSpPr>
          <p:nvPr>
            <p:ph sz="quarter" idx="1"/>
          </p:nvPr>
        </p:nvSpPr>
        <p:spPr>
          <a:xfrm>
            <a:off x="612775" y="1600200"/>
            <a:ext cx="8153400" cy="4495800"/>
          </a:xfrm>
        </p:spPr>
        <p:txBody>
          <a:bodyPr/>
          <a:lstStyle/>
          <a:p>
            <a:pPr eaLnBrk="1" hangingPunct="1"/>
            <a:r>
              <a:rPr lang="en-US" smtClean="0"/>
              <a:t>Untuk mengetahui besarnya kemungkinan dihitung dari prosentase jumlah premis yang dialami</a:t>
            </a:r>
          </a:p>
          <a:p>
            <a:pPr eaLnBrk="1" hangingPunct="1"/>
            <a:endParaRPr lang="en-US" smtClean="0"/>
          </a:p>
          <a:p>
            <a:pPr eaLnBrk="1" hangingPunct="1">
              <a:buFont typeface="Wingdings" panose="05000000000000000000" pitchFamily="2" charset="2"/>
              <a:buNone/>
            </a:pPr>
            <a:endParaRPr lang="en-US" smtClean="0"/>
          </a:p>
        </p:txBody>
      </p:sp>
      <p:sp>
        <p:nvSpPr>
          <p:cNvPr id="2048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id-ID"/>
          </a:p>
        </p:txBody>
      </p:sp>
      <p:pic>
        <p:nvPicPr>
          <p:cNvPr id="20485" name="Picture 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6800" y="3581400"/>
            <a:ext cx="74564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740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12775" y="228600"/>
            <a:ext cx="8153400" cy="990600"/>
          </a:xfrm>
        </p:spPr>
        <p:txBody>
          <a:bodyPr/>
          <a:lstStyle/>
          <a:p>
            <a:pPr eaLnBrk="1" hangingPunct="1"/>
            <a:endParaRPr lang="id-ID" smtClean="0"/>
          </a:p>
        </p:txBody>
      </p:sp>
      <p:sp>
        <p:nvSpPr>
          <p:cNvPr id="21507" name="Content Placeholder 2"/>
          <p:cNvSpPr>
            <a:spLocks noGrp="1"/>
          </p:cNvSpPr>
          <p:nvPr>
            <p:ph sz="quarter" idx="1"/>
          </p:nvPr>
        </p:nvSpPr>
        <p:spPr>
          <a:xfrm>
            <a:off x="612775" y="1600200"/>
            <a:ext cx="8153400" cy="4495800"/>
          </a:xfrm>
        </p:spPr>
        <p:txBody>
          <a:bodyPr/>
          <a:lstStyle/>
          <a:p>
            <a:pPr eaLnBrk="1" hangingPunct="1"/>
            <a:endParaRPr lang="id-ID" smtClean="0"/>
          </a:p>
        </p:txBody>
      </p:sp>
      <p:pic>
        <p:nvPicPr>
          <p:cNvPr id="2150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30225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lowchart: Process 4"/>
          <p:cNvSpPr/>
          <p:nvPr/>
        </p:nvSpPr>
        <p:spPr>
          <a:xfrm>
            <a:off x="5562600" y="304800"/>
            <a:ext cx="3581400" cy="3733800"/>
          </a:xfrm>
          <a:prstGeom prst="flowChart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i="1">
                <a:solidFill>
                  <a:srgbClr val="7030A0"/>
                </a:solidFill>
              </a:rPr>
              <a:t>Pilihan User:</a:t>
            </a:r>
          </a:p>
          <a:p>
            <a:pPr algn="ctr">
              <a:defRPr/>
            </a:pPr>
            <a:r>
              <a:rPr lang="en-US" sz="3200" i="1"/>
              <a:t>Premis1</a:t>
            </a:r>
          </a:p>
          <a:p>
            <a:pPr algn="ctr">
              <a:defRPr/>
            </a:pPr>
            <a:r>
              <a:rPr lang="en-US" sz="3200" i="1"/>
              <a:t>Premis2</a:t>
            </a:r>
          </a:p>
          <a:p>
            <a:pPr algn="ctr">
              <a:defRPr/>
            </a:pPr>
            <a:r>
              <a:rPr lang="en-US" sz="3200" i="1"/>
              <a:t>Premis3</a:t>
            </a:r>
          </a:p>
        </p:txBody>
      </p:sp>
    </p:spTree>
    <p:extLst>
      <p:ext uri="{BB962C8B-B14F-4D97-AF65-F5344CB8AC3E}">
        <p14:creationId xmlns:p14="http://schemas.microsoft.com/office/powerpoint/2010/main" val="956685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612775" y="228600"/>
            <a:ext cx="8153400" cy="990600"/>
          </a:xfrm>
        </p:spPr>
        <p:txBody>
          <a:bodyPr/>
          <a:lstStyle/>
          <a:p>
            <a:pPr eaLnBrk="1" hangingPunct="1"/>
            <a:r>
              <a:rPr lang="en-US" smtClean="0"/>
              <a:t>Probabilitas berbobot</a:t>
            </a:r>
          </a:p>
        </p:txBody>
      </p:sp>
      <p:sp>
        <p:nvSpPr>
          <p:cNvPr id="22531" name="Content Placeholder 2"/>
          <p:cNvSpPr>
            <a:spLocks noGrp="1"/>
          </p:cNvSpPr>
          <p:nvPr>
            <p:ph sz="quarter" idx="1"/>
          </p:nvPr>
        </p:nvSpPr>
        <p:spPr>
          <a:xfrm>
            <a:off x="612775" y="1600200"/>
            <a:ext cx="8153400" cy="4495800"/>
          </a:xfrm>
        </p:spPr>
        <p:txBody>
          <a:bodyPr/>
          <a:lstStyle/>
          <a:p>
            <a:pPr eaLnBrk="1" hangingPunct="1"/>
            <a:r>
              <a:rPr lang="en-US" smtClean="0"/>
              <a:t>Untuk mengetahui besarnya kemungkinan dihitung dari prosentase jumlah bobot premis yang dialami</a:t>
            </a:r>
          </a:p>
          <a:p>
            <a:pPr eaLnBrk="1" hangingPunct="1"/>
            <a:endParaRPr lang="en-US" smtClean="0"/>
          </a:p>
        </p:txBody>
      </p:sp>
      <p:sp>
        <p:nvSpPr>
          <p:cNvPr id="2253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id-ID"/>
          </a:p>
        </p:txBody>
      </p:sp>
      <p:pic>
        <p:nvPicPr>
          <p:cNvPr id="22533" name="Picture 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71600" y="3505200"/>
            <a:ext cx="70135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170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12775" y="228600"/>
            <a:ext cx="8153400" cy="990600"/>
          </a:xfrm>
        </p:spPr>
        <p:txBody>
          <a:bodyPr/>
          <a:lstStyle/>
          <a:p>
            <a:pPr eaLnBrk="1" hangingPunct="1"/>
            <a:endParaRPr lang="id-ID" smtClean="0"/>
          </a:p>
        </p:txBody>
      </p:sp>
      <p:sp>
        <p:nvSpPr>
          <p:cNvPr id="23555" name="Content Placeholder 2"/>
          <p:cNvSpPr>
            <a:spLocks noGrp="1"/>
          </p:cNvSpPr>
          <p:nvPr>
            <p:ph sz="quarter" idx="1"/>
          </p:nvPr>
        </p:nvSpPr>
        <p:spPr>
          <a:xfrm>
            <a:off x="612775" y="1600200"/>
            <a:ext cx="8153400" cy="4495800"/>
          </a:xfrm>
        </p:spPr>
        <p:txBody>
          <a:bodyPr/>
          <a:lstStyle/>
          <a:p>
            <a:pPr eaLnBrk="1" hangingPunct="1"/>
            <a:endParaRPr lang="id-ID" smtClean="0"/>
          </a:p>
        </p:txBody>
      </p:sp>
      <p:pic>
        <p:nvPicPr>
          <p:cNvPr id="235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1722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lowchart: Process 4"/>
          <p:cNvSpPr/>
          <p:nvPr/>
        </p:nvSpPr>
        <p:spPr>
          <a:xfrm>
            <a:off x="5562600" y="0"/>
            <a:ext cx="3581400" cy="3733800"/>
          </a:xfrm>
          <a:prstGeom prst="flowChart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i="1">
                <a:solidFill>
                  <a:srgbClr val="7030A0"/>
                </a:solidFill>
              </a:rPr>
              <a:t>Pilihan User:</a:t>
            </a:r>
          </a:p>
          <a:p>
            <a:pPr algn="ctr">
              <a:defRPr/>
            </a:pPr>
            <a:r>
              <a:rPr lang="en-US" sz="3200" i="1"/>
              <a:t>Premis1</a:t>
            </a:r>
          </a:p>
          <a:p>
            <a:pPr algn="ctr">
              <a:defRPr/>
            </a:pPr>
            <a:r>
              <a:rPr lang="en-US" sz="3200" i="1"/>
              <a:t>Premis2</a:t>
            </a:r>
          </a:p>
          <a:p>
            <a:pPr algn="ctr">
              <a:defRPr/>
            </a:pPr>
            <a:r>
              <a:rPr lang="en-US" sz="3200" i="1"/>
              <a:t>Premis3</a:t>
            </a:r>
          </a:p>
        </p:txBody>
      </p:sp>
    </p:spTree>
    <p:extLst>
      <p:ext uri="{BB962C8B-B14F-4D97-AF65-F5344CB8AC3E}">
        <p14:creationId xmlns:p14="http://schemas.microsoft.com/office/powerpoint/2010/main" val="24855342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smtClean="0"/>
              <a:t>Teori Probabilitas</a:t>
            </a:r>
          </a:p>
        </p:txBody>
      </p:sp>
      <p:pic>
        <p:nvPicPr>
          <p:cNvPr id="2457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305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56412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52400"/>
            <a:ext cx="8229600" cy="792163"/>
          </a:xfrm>
        </p:spPr>
        <p:txBody>
          <a:bodyPr/>
          <a:lstStyle/>
          <a:p>
            <a:pPr eaLnBrk="1" hangingPunct="1"/>
            <a:r>
              <a:rPr lang="en-US" smtClean="0"/>
              <a:t>probabilitas</a:t>
            </a:r>
          </a:p>
        </p:txBody>
      </p:sp>
      <p:sp>
        <p:nvSpPr>
          <p:cNvPr id="25603" name="Content Placeholder 2"/>
          <p:cNvSpPr>
            <a:spLocks noGrp="1"/>
          </p:cNvSpPr>
          <p:nvPr>
            <p:ph sz="quarter" idx="1"/>
          </p:nvPr>
        </p:nvSpPr>
        <p:spPr>
          <a:xfrm>
            <a:off x="457200" y="914400"/>
            <a:ext cx="8229600" cy="5943600"/>
          </a:xfrm>
        </p:spPr>
        <p:txBody>
          <a:bodyPr/>
          <a:lstStyle/>
          <a:p>
            <a:pPr eaLnBrk="1" hangingPunct="1"/>
            <a:r>
              <a:rPr lang="en-US" sz="2400" smtClean="0"/>
              <a:t>Misalkan sebuah peristiwa E dapat terjadi sebanyak n kali diantara N peristiwa yang saling eksklusif (saling asing/terjadinya peristiwa yang satu mencegah terjadinya peristiwa yang lain) dan masing-masing terjadi dengan kesempatan yang sama, maka probabilitas terjadinya peristiwa E adalah :			</a:t>
            </a:r>
          </a:p>
          <a:p>
            <a:pPr eaLnBrk="1" hangingPunct="1"/>
            <a:endParaRPr lang="en-US" sz="2400" smtClean="0"/>
          </a:p>
          <a:p>
            <a:pPr eaLnBrk="1" hangingPunct="1"/>
            <a:endParaRPr lang="en-US" sz="2400" smtClean="0"/>
          </a:p>
          <a:p>
            <a:pPr eaLnBrk="1" hangingPunct="1"/>
            <a:r>
              <a:rPr lang="en-US" sz="2400" smtClean="0"/>
              <a:t>Jika P(EP = 0, maka diartikan peristiwa E pasti tidak terjadi, sedangkan P(E)=1,  dapat diartikan peristiwa E pasti terjadi, apabila E menyatakan buka peristiwa E, maka diperoleh :</a:t>
            </a:r>
          </a:p>
          <a:p>
            <a:pPr eaLnBrk="1" hangingPunct="1"/>
            <a:endParaRPr lang="en-US" sz="2400" smtClean="0"/>
          </a:p>
          <a:p>
            <a:pPr eaLnBrk="1" hangingPunct="1"/>
            <a:r>
              <a:rPr lang="en-US" sz="2400" smtClean="0"/>
              <a:t>Atau berlaku hubungan :   P(E) + P(E) = </a:t>
            </a:r>
            <a:r>
              <a:rPr lang="en-US" sz="2400" smtClean="0">
                <a:latin typeface="Times New Roman" panose="02020603050405020304" pitchFamily="18" charset="0"/>
                <a:cs typeface="Times New Roman" panose="02020603050405020304" pitchFamily="18" charset="0"/>
              </a:rPr>
              <a:t>1</a:t>
            </a:r>
          </a:p>
        </p:txBody>
      </p:sp>
      <p:cxnSp>
        <p:nvCxnSpPr>
          <p:cNvPr id="5" name="Straight Connector 4"/>
          <p:cNvCxnSpPr/>
          <p:nvPr/>
        </p:nvCxnSpPr>
        <p:spPr>
          <a:xfrm>
            <a:off x="1752600" y="4724400"/>
            <a:ext cx="1524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2560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429000"/>
            <a:ext cx="5199063"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105400"/>
            <a:ext cx="14573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5105400" y="5600700"/>
            <a:ext cx="228600"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190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274638"/>
            <a:ext cx="8229600" cy="715962"/>
          </a:xfrm>
        </p:spPr>
        <p:txBody>
          <a:bodyPr/>
          <a:lstStyle/>
          <a:p>
            <a:pPr eaLnBrk="1" hangingPunct="1"/>
            <a:r>
              <a:rPr lang="en-US" smtClean="0"/>
              <a:t>Probabilitas bersyarat</a:t>
            </a:r>
          </a:p>
        </p:txBody>
      </p:sp>
      <p:sp>
        <p:nvSpPr>
          <p:cNvPr id="26627" name="Content Placeholder 2"/>
          <p:cNvSpPr>
            <a:spLocks noGrp="1"/>
          </p:cNvSpPr>
          <p:nvPr>
            <p:ph sz="quarter" idx="1"/>
          </p:nvPr>
        </p:nvSpPr>
        <p:spPr>
          <a:xfrm>
            <a:off x="457200" y="990600"/>
            <a:ext cx="8229600" cy="5165725"/>
          </a:xfrm>
        </p:spPr>
        <p:txBody>
          <a:bodyPr/>
          <a:lstStyle/>
          <a:p>
            <a:pPr eaLnBrk="1" hangingPunct="1"/>
            <a:r>
              <a:rPr lang="en-US" smtClean="0"/>
              <a:t>Jika P(A) menyatakan probabilitas kejadian A, P(B) menyatakan probabilitas kejadian B, dan probabilitas A dan B terjadi bersama-sama disimbolkan oleh P(A |B), dan besarnya adalah :</a:t>
            </a:r>
          </a:p>
          <a:p>
            <a:pPr eaLnBrk="1" hangingPunct="1"/>
            <a:endParaRPr lang="en-US" smtClean="0"/>
          </a:p>
          <a:p>
            <a:pPr eaLnBrk="1" hangingPunct="1"/>
            <a:r>
              <a:rPr lang="en-US" smtClean="0"/>
              <a:t>Dengan cara yang sama, probabilitas bahwa kejadian B terjadi jika kejadian A terjadi terlebih dahulu adalah :</a:t>
            </a:r>
          </a:p>
          <a:p>
            <a:pPr eaLnBrk="1" hangingPunct="1"/>
            <a:endParaRPr lang="en-US" smtClean="0"/>
          </a:p>
          <a:p>
            <a:pPr eaLnBrk="1" hangingPunct="1"/>
            <a:endParaRPr lang="en-US" smtClean="0"/>
          </a:p>
          <a:p>
            <a:pPr eaLnBrk="1" hangingPunct="1"/>
            <a:r>
              <a:rPr lang="en-US" smtClean="0"/>
              <a:t>Karena 			maka diperoleh :</a:t>
            </a:r>
          </a:p>
        </p:txBody>
      </p:sp>
      <p:pic>
        <p:nvPicPr>
          <p:cNvPr id="266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362200"/>
            <a:ext cx="16192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114800"/>
            <a:ext cx="16954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5029200"/>
            <a:ext cx="18573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5486400"/>
            <a:ext cx="19335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17753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endParaRPr lang="id-ID" smtClean="0"/>
          </a:p>
        </p:txBody>
      </p:sp>
      <p:sp>
        <p:nvSpPr>
          <p:cNvPr id="16387" name="Content Placeholder 2"/>
          <p:cNvSpPr>
            <a:spLocks noGrp="1"/>
          </p:cNvSpPr>
          <p:nvPr>
            <p:ph sz="quarter" idx="1"/>
          </p:nvPr>
        </p:nvSpPr>
        <p:spPr>
          <a:xfrm>
            <a:off x="457200" y="1219200"/>
            <a:ext cx="8229600" cy="4937125"/>
          </a:xfrm>
        </p:spPr>
        <p:txBody>
          <a:bodyPr>
            <a:normAutofit fontScale="92500"/>
          </a:bodyPr>
          <a:lstStyle/>
          <a:p>
            <a:pPr marL="274320" indent="-274320" eaLnBrk="1" fontAlgn="auto" hangingPunct="1">
              <a:spcAft>
                <a:spcPts val="0"/>
              </a:spcAft>
              <a:buFont typeface="Wingdings 3"/>
              <a:buChar char=""/>
              <a:defRPr/>
            </a:pPr>
            <a:r>
              <a:rPr lang="en-US" smtClean="0"/>
              <a:t>Contoh :</a:t>
            </a:r>
          </a:p>
          <a:p>
            <a:pPr marL="274320" indent="-274320" eaLnBrk="1" fontAlgn="auto" hangingPunct="1">
              <a:spcAft>
                <a:spcPts val="0"/>
              </a:spcAft>
              <a:buFont typeface="Wingdings 3" panose="05040102010807070707" pitchFamily="18" charset="2"/>
              <a:buNone/>
              <a:defRPr/>
            </a:pPr>
            <a:r>
              <a:rPr lang="en-US" smtClean="0"/>
              <a:t>P(Dila terkena cacar|Dila mempunyai bintik-bintik di wajah) adalah 0,8</a:t>
            </a:r>
          </a:p>
          <a:p>
            <a:pPr marL="274320" indent="-274320" eaLnBrk="1" fontAlgn="auto" hangingPunct="1">
              <a:spcAft>
                <a:spcPts val="0"/>
              </a:spcAft>
              <a:buFont typeface="Wingdings 3" panose="05040102010807070707" pitchFamily="18" charset="2"/>
              <a:buNone/>
              <a:defRPr/>
            </a:pPr>
            <a:endParaRPr lang="en-US" smtClean="0"/>
          </a:p>
          <a:p>
            <a:pPr marL="274320" indent="-274320" eaLnBrk="1" fontAlgn="auto" hangingPunct="1">
              <a:spcAft>
                <a:spcPts val="0"/>
              </a:spcAft>
              <a:buFont typeface="Wingdings 3" panose="05040102010807070707" pitchFamily="18" charset="2"/>
              <a:buNone/>
              <a:defRPr/>
            </a:pPr>
            <a:r>
              <a:rPr lang="en-US" smtClean="0"/>
              <a:t>Ini sama dengan rule berikut :</a:t>
            </a:r>
          </a:p>
          <a:p>
            <a:pPr marL="274320" indent="-274320" eaLnBrk="1" fontAlgn="auto" hangingPunct="1">
              <a:spcAft>
                <a:spcPts val="0"/>
              </a:spcAft>
              <a:buFont typeface="Wingdings 3" panose="05040102010807070707" pitchFamily="18" charset="2"/>
              <a:buNone/>
              <a:defRPr/>
            </a:pPr>
            <a:r>
              <a:rPr lang="en-US" smtClean="0"/>
              <a:t>IF Dila mempunyai bintik-bintik di wajah THEN Dila terkena cacar (0,8)</a:t>
            </a:r>
          </a:p>
          <a:p>
            <a:pPr marL="274320" indent="-274320" eaLnBrk="1" fontAlgn="auto" hangingPunct="1">
              <a:spcAft>
                <a:spcPts val="0"/>
              </a:spcAft>
              <a:buFont typeface="Wingdings 3" panose="05040102010807070707" pitchFamily="18" charset="2"/>
              <a:buNone/>
              <a:defRPr/>
            </a:pPr>
            <a:endParaRPr lang="en-US" smtClean="0"/>
          </a:p>
          <a:p>
            <a:pPr marL="274320" indent="-274320" eaLnBrk="1" fontAlgn="auto" hangingPunct="1">
              <a:spcAft>
                <a:spcPts val="0"/>
              </a:spcAft>
              <a:buFont typeface="Wingdings 3" panose="05040102010807070707" pitchFamily="18" charset="2"/>
              <a:buNone/>
              <a:defRPr/>
            </a:pPr>
            <a:r>
              <a:rPr lang="en-US" smtClean="0"/>
              <a:t>Rule ini mempunyai arti sbb :</a:t>
            </a:r>
          </a:p>
          <a:p>
            <a:pPr marL="274320" indent="-274320" eaLnBrk="1" fontAlgn="auto" hangingPunct="1">
              <a:spcAft>
                <a:spcPts val="0"/>
              </a:spcAft>
              <a:buFont typeface="Wingdings 3" panose="05040102010807070707" pitchFamily="18" charset="2"/>
              <a:buNone/>
              <a:defRPr/>
            </a:pPr>
            <a:r>
              <a:rPr lang="en-US" smtClean="0"/>
              <a:t>Jika Dila mempunyai bintik-bintik diwajah, maka probabilitas (kemungkinan) Dila terkena cacar adalah 0,8</a:t>
            </a:r>
          </a:p>
        </p:txBody>
      </p:sp>
    </p:spTree>
    <p:extLst>
      <p:ext uri="{BB962C8B-B14F-4D97-AF65-F5344CB8AC3E}">
        <p14:creationId xmlns:p14="http://schemas.microsoft.com/office/powerpoint/2010/main" val="1889323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smtClean="0"/>
              <a:t>Teorema Bayes</a:t>
            </a:r>
          </a:p>
        </p:txBody>
      </p:sp>
      <p:sp>
        <p:nvSpPr>
          <p:cNvPr id="28675" name="Content Placeholder 2"/>
          <p:cNvSpPr>
            <a:spLocks noGrp="1"/>
          </p:cNvSpPr>
          <p:nvPr>
            <p:ph sz="quarter" idx="1"/>
          </p:nvPr>
        </p:nvSpPr>
        <p:spPr>
          <a:xfrm>
            <a:off x="457200" y="1219200"/>
            <a:ext cx="8229600" cy="4937125"/>
          </a:xfrm>
        </p:spPr>
        <p:txBody>
          <a:bodyPr/>
          <a:lstStyle/>
          <a:p>
            <a:pPr eaLnBrk="1" hangingPunct="1"/>
            <a:r>
              <a:rPr lang="en-US" smtClean="0"/>
              <a:t>Ditemukan oleh Reverend Thomas Bayes abad ke 18.</a:t>
            </a:r>
          </a:p>
          <a:p>
            <a:pPr eaLnBrk="1" hangingPunct="1"/>
            <a:r>
              <a:rPr lang="en-US" smtClean="0"/>
              <a:t>Dikembangkan secara luas dalam statistik inferensia.</a:t>
            </a:r>
          </a:p>
          <a:p>
            <a:pPr eaLnBrk="1" hangingPunct="1"/>
            <a:r>
              <a:rPr lang="en-US" smtClean="0"/>
              <a:t>Aplikasi banyak untuk : DSS </a:t>
            </a:r>
          </a:p>
          <a:p>
            <a:pPr eaLnBrk="1" hangingPunct="1">
              <a:buFont typeface="Wingdings 3" panose="05040102010807070707" pitchFamily="18" charset="2"/>
              <a:buNone/>
            </a:pPr>
            <a:endParaRPr lang="en-US" smtClean="0"/>
          </a:p>
          <a:p>
            <a:pPr eaLnBrk="1" hangingPunct="1"/>
            <a:endParaRPr lang="en-US" smtClean="0"/>
          </a:p>
        </p:txBody>
      </p:sp>
    </p:spTree>
    <p:extLst>
      <p:ext uri="{BB962C8B-B14F-4D97-AF65-F5344CB8AC3E}">
        <p14:creationId xmlns:p14="http://schemas.microsoft.com/office/powerpoint/2010/main" val="28102980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endParaRPr lang="id-ID" smtClean="0"/>
          </a:p>
        </p:txBody>
      </p:sp>
      <p:sp>
        <p:nvSpPr>
          <p:cNvPr id="29699" name="Content Placeholder 2"/>
          <p:cNvSpPr>
            <a:spLocks noGrp="1"/>
          </p:cNvSpPr>
          <p:nvPr>
            <p:ph sz="quarter" idx="1"/>
          </p:nvPr>
        </p:nvSpPr>
        <p:spPr>
          <a:xfrm>
            <a:off x="457200" y="1219200"/>
            <a:ext cx="8229600" cy="4937125"/>
          </a:xfrm>
        </p:spPr>
        <p:txBody>
          <a:bodyPr>
            <a:normAutofit lnSpcReduction="10000"/>
          </a:bodyPr>
          <a:lstStyle/>
          <a:p>
            <a:pPr eaLnBrk="1" hangingPunct="1"/>
            <a:r>
              <a:rPr lang="en-US" sz="2400" smtClean="0"/>
              <a:t>Brntuk teorema Bayes untuk evidence tunggal E dan hipotesis tunggal H adalah :</a:t>
            </a:r>
          </a:p>
          <a:p>
            <a:pPr eaLnBrk="1" hangingPunct="1"/>
            <a:endParaRPr lang="en-US" sz="2400" smtClean="0"/>
          </a:p>
          <a:p>
            <a:pPr eaLnBrk="1" hangingPunct="1"/>
            <a:endParaRPr lang="en-US" sz="2400" smtClean="0"/>
          </a:p>
          <a:p>
            <a:pPr eaLnBrk="1" hangingPunct="1">
              <a:buFont typeface="Wingdings 3" panose="05040102010807070707" pitchFamily="18" charset="2"/>
              <a:buNone/>
            </a:pPr>
            <a:r>
              <a:rPr lang="en-US" sz="2400" b="1" u="sng" smtClean="0"/>
              <a:t>Dengan </a:t>
            </a:r>
          </a:p>
          <a:p>
            <a:pPr eaLnBrk="1" hangingPunct="1"/>
            <a:r>
              <a:rPr lang="en-US" sz="2400" smtClean="0"/>
              <a:t>p(H|E) = probabilitas hipotesis H terjadi jika evidence E terjadi</a:t>
            </a:r>
          </a:p>
          <a:p>
            <a:pPr eaLnBrk="1" hangingPunct="1"/>
            <a:r>
              <a:rPr lang="en-US" sz="2400" smtClean="0"/>
              <a:t>P(E|H) = probabilitas munculnya evidence E, jika hipotesis H terjadi</a:t>
            </a:r>
          </a:p>
          <a:p>
            <a:pPr eaLnBrk="1" hangingPunct="1"/>
            <a:r>
              <a:rPr lang="en-US" sz="2400" smtClean="0"/>
              <a:t>P(H) = probabilitas hipotesis H tanpa memandang evidence apap pun</a:t>
            </a:r>
          </a:p>
          <a:p>
            <a:pPr eaLnBrk="1" hangingPunct="1"/>
            <a:r>
              <a:rPr lang="en-US" sz="2400" smtClean="0"/>
              <a:t>P(E) = probabilitsa evidence E tanpa memandang apa pun</a:t>
            </a:r>
          </a:p>
        </p:txBody>
      </p:sp>
      <p:pic>
        <p:nvPicPr>
          <p:cNvPr id="2970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905000"/>
            <a:ext cx="40306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111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eaLnBrk="1" fontAlgn="auto" hangingPunct="1">
              <a:spcAft>
                <a:spcPts val="0"/>
              </a:spcAft>
              <a:buFont typeface="Wingdings 3" panose="05040102010807070707" pitchFamily="18" charset="2"/>
              <a:buNone/>
              <a:defRPr/>
            </a:pPr>
            <a:r>
              <a:rPr lang="en-US" b="1" u="sng" smtClean="0"/>
              <a:t>Contoh :</a:t>
            </a:r>
          </a:p>
          <a:p>
            <a:pPr marL="274320" indent="-274320" eaLnBrk="1" fontAlgn="auto" hangingPunct="1">
              <a:spcAft>
                <a:spcPts val="0"/>
              </a:spcAft>
              <a:buFont typeface="Wingdings 3"/>
              <a:buChar char=""/>
              <a:defRPr/>
            </a:pPr>
            <a:r>
              <a:rPr lang="en-US" smtClean="0"/>
              <a:t>Diketahui p(demam)=0,4. p(muntah)=0,3. p(demam|muntah)=0,75.</a:t>
            </a:r>
          </a:p>
          <a:p>
            <a:pPr marL="274320" indent="-274320" eaLnBrk="1" fontAlgn="auto" hangingPunct="1">
              <a:spcAft>
                <a:spcPts val="0"/>
              </a:spcAft>
              <a:buFont typeface="Wingdings 3"/>
              <a:buChar char=""/>
              <a:defRPr/>
            </a:pPr>
            <a:r>
              <a:rPr lang="en-US" smtClean="0"/>
              <a:t>Pertanyaan :</a:t>
            </a:r>
          </a:p>
          <a:p>
            <a:pPr marL="990600" indent="-514350" eaLnBrk="1" fontAlgn="auto" hangingPunct="1">
              <a:spcAft>
                <a:spcPts val="0"/>
              </a:spcAft>
              <a:buFont typeface="+mj-lt"/>
              <a:buAutoNum type="alphaLcPeriod"/>
              <a:defRPr/>
            </a:pPr>
            <a:r>
              <a:rPr lang="en-US" smtClean="0"/>
              <a:t>Berapa nilai dari p(muntah|demam) ?</a:t>
            </a:r>
          </a:p>
          <a:p>
            <a:pPr marL="990600" indent="-514350" eaLnBrk="1" fontAlgn="auto" hangingPunct="1">
              <a:spcAft>
                <a:spcPts val="0"/>
              </a:spcAft>
              <a:buFont typeface="+mj-lt"/>
              <a:buAutoNum type="alphaLcPeriod"/>
              <a:defRPr/>
            </a:pPr>
            <a:r>
              <a:rPr lang="en-US" smtClean="0"/>
              <a:t>Berapa nilai dari p(muntah|demam) jika p(demam)=0,1</a:t>
            </a:r>
          </a:p>
          <a:p>
            <a:pPr marL="292100" indent="-274320" eaLnBrk="1" fontAlgn="auto" hangingPunct="1">
              <a:spcAft>
                <a:spcPts val="0"/>
              </a:spcAft>
              <a:buFont typeface="Wingdings 3" panose="05040102010807070707" pitchFamily="18" charset="2"/>
              <a:buNone/>
              <a:defRPr/>
            </a:pPr>
            <a:endParaRPr lang="en-US" smtClean="0"/>
          </a:p>
          <a:p>
            <a:pPr marL="274320" indent="-274320" eaLnBrk="1" fontAlgn="auto" hangingPunct="1">
              <a:spcAft>
                <a:spcPts val="0"/>
              </a:spcAft>
              <a:buFont typeface="Wingdings 3"/>
              <a:buChar char=""/>
              <a:defRPr/>
            </a:pPr>
            <a:endParaRPr lang="en-US" smtClean="0"/>
          </a:p>
          <a:p>
            <a:pPr marL="274320" indent="-274320" eaLnBrk="1" fontAlgn="auto" hangingPunct="1">
              <a:spcAft>
                <a:spcPts val="0"/>
              </a:spcAft>
              <a:buFont typeface="Wingdings 3"/>
              <a:buChar char=""/>
              <a:defRPr/>
            </a:pPr>
            <a:endParaRPr lang="en-US" smtClean="0"/>
          </a:p>
          <a:p>
            <a:pPr marL="274320" indent="-274320" eaLnBrk="1" fontAlgn="auto" hangingPunct="1">
              <a:spcAft>
                <a:spcPts val="0"/>
              </a:spcAft>
              <a:buFont typeface="Wingdings 3"/>
              <a:buChar char=""/>
              <a:defRPr/>
            </a:pPr>
            <a:endParaRPr lang="en-US" smtClean="0"/>
          </a:p>
          <a:p>
            <a:pPr marL="274320" indent="-274320" eaLnBrk="1" fontAlgn="auto" hangingPunct="1">
              <a:spcAft>
                <a:spcPts val="0"/>
              </a:spcAft>
              <a:buFont typeface="Wingdings 3"/>
              <a:buChar char=""/>
              <a:defRPr/>
            </a:pPr>
            <a:endParaRPr lang="en-US"/>
          </a:p>
        </p:txBody>
      </p:sp>
    </p:spTree>
    <p:extLst>
      <p:ext uri="{BB962C8B-B14F-4D97-AF65-F5344CB8AC3E}">
        <p14:creationId xmlns:p14="http://schemas.microsoft.com/office/powerpoint/2010/main" val="3322314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endParaRPr lang="id-ID" smtClean="0"/>
          </a:p>
        </p:txBody>
      </p:sp>
      <p:sp>
        <p:nvSpPr>
          <p:cNvPr id="31747" name="Content Placeholder 2"/>
          <p:cNvSpPr>
            <a:spLocks noGrp="1"/>
          </p:cNvSpPr>
          <p:nvPr>
            <p:ph sz="quarter" idx="1"/>
          </p:nvPr>
        </p:nvSpPr>
        <p:spPr>
          <a:xfrm>
            <a:off x="457200" y="1219200"/>
            <a:ext cx="8229600" cy="4937125"/>
          </a:xfrm>
        </p:spPr>
        <p:txBody>
          <a:bodyPr/>
          <a:lstStyle/>
          <a:p>
            <a:pPr eaLnBrk="1" hangingPunct="1">
              <a:buFont typeface="Wingdings 3" panose="05040102010807070707" pitchFamily="18" charset="2"/>
              <a:buNone/>
            </a:pPr>
            <a:r>
              <a:rPr lang="en-US" b="1" u="sng" smtClean="0"/>
              <a:t>JAWAB SOAL A :</a:t>
            </a:r>
          </a:p>
          <a:p>
            <a:pPr eaLnBrk="1" hangingPunct="1"/>
            <a:r>
              <a:rPr lang="en-US" smtClean="0"/>
              <a:t>p(muntah|demam)= </a:t>
            </a:r>
            <a:r>
              <a:rPr lang="en-US" u="sng" smtClean="0"/>
              <a:t>p(demam|muntah) x p(muntah)</a:t>
            </a:r>
          </a:p>
          <a:p>
            <a:pPr eaLnBrk="1" hangingPunct="1">
              <a:buFont typeface="Wingdings 3" panose="05040102010807070707" pitchFamily="18" charset="2"/>
              <a:buNone/>
            </a:pPr>
            <a:r>
              <a:rPr lang="en-US" smtClean="0"/>
              <a:t>						p(demam)</a:t>
            </a:r>
          </a:p>
          <a:p>
            <a:pPr eaLnBrk="1" hangingPunct="1">
              <a:buFont typeface="Wingdings 3" panose="05040102010807070707" pitchFamily="18" charset="2"/>
              <a:buNone/>
            </a:pPr>
            <a:r>
              <a:rPr lang="en-US" smtClean="0"/>
              <a:t>		= </a:t>
            </a:r>
            <a:r>
              <a:rPr lang="en-US" u="sng" smtClean="0"/>
              <a:t>0,75 x 0,3</a:t>
            </a:r>
            <a:endParaRPr lang="en-US" smtClean="0"/>
          </a:p>
          <a:p>
            <a:pPr eaLnBrk="1" hangingPunct="1">
              <a:buFont typeface="Wingdings 3" panose="05040102010807070707" pitchFamily="18" charset="2"/>
              <a:buNone/>
            </a:pPr>
            <a:r>
              <a:rPr lang="en-US" smtClean="0"/>
              <a:t>                  0,4</a:t>
            </a:r>
          </a:p>
          <a:p>
            <a:pPr eaLnBrk="1" hangingPunct="1">
              <a:buFont typeface="Wingdings 3" panose="05040102010807070707" pitchFamily="18" charset="2"/>
              <a:buNone/>
            </a:pPr>
            <a:r>
              <a:rPr lang="en-US" smtClean="0"/>
              <a:t>		= 0,56</a:t>
            </a:r>
          </a:p>
        </p:txBody>
      </p:sp>
    </p:spTree>
    <p:extLst>
      <p:ext uri="{BB962C8B-B14F-4D97-AF65-F5344CB8AC3E}">
        <p14:creationId xmlns:p14="http://schemas.microsoft.com/office/powerpoint/2010/main" val="2588683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304800" y="1143000"/>
            <a:ext cx="8686800" cy="5638800"/>
          </a:xfrm>
        </p:spPr>
        <p:txBody>
          <a:bodyPr>
            <a:normAutofit/>
          </a:bodyPr>
          <a:lstStyle/>
          <a:p>
            <a:pPr marL="274320" indent="-274320" eaLnBrk="1" fontAlgn="auto" hangingPunct="1">
              <a:spcAft>
                <a:spcPts val="0"/>
              </a:spcAft>
              <a:buFont typeface="Wingdings 3"/>
              <a:buChar char=""/>
              <a:defRPr/>
            </a:pPr>
            <a:r>
              <a:rPr lang="en-US" sz="2400" b="1" u="sng" smtClean="0"/>
              <a:t>JAWAB SOAL B</a:t>
            </a:r>
            <a:endParaRPr lang="en-US" sz="2400" smtClean="0"/>
          </a:p>
          <a:p>
            <a:pPr marL="274320" indent="-274320" eaLnBrk="1" fontAlgn="auto" hangingPunct="1">
              <a:spcAft>
                <a:spcPts val="0"/>
              </a:spcAft>
              <a:buFont typeface="Wingdings 3" panose="05040102010807070707" pitchFamily="18" charset="2"/>
              <a:buNone/>
              <a:defRPr/>
            </a:pPr>
            <a:r>
              <a:rPr lang="en-US" sz="2400" smtClean="0"/>
              <a:t>	p(muntah|demam) = </a:t>
            </a:r>
            <a:r>
              <a:rPr lang="en-US" sz="2400" u="sng" smtClean="0"/>
              <a:t>p(demam|muntah)xp(muntah)</a:t>
            </a:r>
            <a:endParaRPr lang="en-US" sz="2400" smtClean="0"/>
          </a:p>
          <a:p>
            <a:pPr marL="822960" lvl="2" eaLnBrk="1" fontAlgn="auto" hangingPunct="1">
              <a:spcAft>
                <a:spcPts val="0"/>
              </a:spcAft>
              <a:buClr>
                <a:schemeClr val="bg1">
                  <a:shade val="50000"/>
                </a:schemeClr>
              </a:buClr>
              <a:buFont typeface="Wingdings 3" panose="05040102010807070707" pitchFamily="18" charset="2"/>
              <a:buNone/>
              <a:defRPr/>
            </a:pPr>
            <a:r>
              <a:rPr lang="en-US" sz="1800" smtClean="0"/>
              <a:t>						</a:t>
            </a:r>
            <a:r>
              <a:rPr lang="en-US" smtClean="0"/>
              <a:t>p(demam)</a:t>
            </a:r>
          </a:p>
          <a:p>
            <a:pPr marL="822960" lvl="2" eaLnBrk="1" fontAlgn="auto" hangingPunct="1">
              <a:spcAft>
                <a:spcPts val="0"/>
              </a:spcAft>
              <a:buClr>
                <a:schemeClr val="bg1">
                  <a:shade val="50000"/>
                </a:schemeClr>
              </a:buClr>
              <a:buFont typeface="Wingdings 3" panose="05040102010807070707" pitchFamily="18" charset="2"/>
              <a:buNone/>
              <a:defRPr/>
            </a:pPr>
            <a:r>
              <a:rPr lang="en-US" smtClean="0"/>
              <a:t>	= (0,75 x 0,3)/0,1 = 2,25</a:t>
            </a:r>
          </a:p>
          <a:p>
            <a:pPr marL="517525" lvl="2" eaLnBrk="1" fontAlgn="auto" hangingPunct="1">
              <a:spcAft>
                <a:spcPts val="0"/>
              </a:spcAft>
              <a:buClr>
                <a:schemeClr val="bg1">
                  <a:shade val="50000"/>
                </a:schemeClr>
              </a:buClr>
              <a:buFont typeface="Wingdings 3"/>
              <a:buChar char=""/>
              <a:defRPr/>
            </a:pPr>
            <a:r>
              <a:rPr lang="en-US" smtClean="0"/>
              <a:t>Jawaban di atas salah. Mengapa ? Karena nilai probabilitas haruslah antara 0 dan 1. lalu apa yang salah ?</a:t>
            </a:r>
          </a:p>
          <a:p>
            <a:pPr marL="517525" lvl="2" eaLnBrk="1" fontAlgn="auto" hangingPunct="1">
              <a:spcAft>
                <a:spcPts val="0"/>
              </a:spcAft>
              <a:buClr>
                <a:schemeClr val="bg1">
                  <a:shade val="50000"/>
                </a:schemeClr>
              </a:buClr>
              <a:buFont typeface="Wingdings 3"/>
              <a:buChar char=""/>
              <a:defRPr/>
            </a:pPr>
            <a:r>
              <a:rPr lang="en-US" smtClean="0"/>
              <a:t>Perhatikan : p(demam) harus lebih besar atau sama dengan p(demam </a:t>
            </a:r>
            <a:r>
              <a:rPr lang="en-US" sz="2800" smtClean="0">
                <a:latin typeface="Calibri" pitchFamily="34" charset="0"/>
                <a:cs typeface="Calibri" pitchFamily="34" charset="0"/>
              </a:rPr>
              <a:t>n</a:t>
            </a:r>
            <a:r>
              <a:rPr lang="en-US" sz="2800" smtClean="0"/>
              <a:t> </a:t>
            </a:r>
            <a:r>
              <a:rPr lang="en-US" smtClean="0"/>
              <a:t>muntah).</a:t>
            </a:r>
          </a:p>
          <a:p>
            <a:pPr marL="517525" lvl="2" eaLnBrk="1" fontAlgn="auto" hangingPunct="1">
              <a:spcAft>
                <a:spcPts val="0"/>
              </a:spcAft>
              <a:buClr>
                <a:schemeClr val="bg1">
                  <a:shade val="50000"/>
                </a:schemeClr>
              </a:buClr>
              <a:buFont typeface="Wingdings 3"/>
              <a:buChar char=""/>
              <a:defRPr/>
            </a:pPr>
            <a:r>
              <a:rPr lang="en-US" smtClean="0"/>
              <a:t>untuk menghitung p(demam </a:t>
            </a:r>
            <a:r>
              <a:rPr lang="en-US" sz="2800" smtClean="0">
                <a:latin typeface="Calibri" pitchFamily="34" charset="0"/>
                <a:cs typeface="Calibri" pitchFamily="34" charset="0"/>
              </a:rPr>
              <a:t>n</a:t>
            </a:r>
            <a:r>
              <a:rPr lang="en-US" sz="2800" smtClean="0"/>
              <a:t> </a:t>
            </a:r>
            <a:r>
              <a:rPr lang="en-US" smtClean="0"/>
              <a:t>muntah) rumusnya adalah </a:t>
            </a:r>
          </a:p>
          <a:p>
            <a:pPr marL="517525" lvl="2" eaLnBrk="1" fontAlgn="auto" hangingPunct="1">
              <a:spcAft>
                <a:spcPts val="0"/>
              </a:spcAft>
              <a:buClr>
                <a:schemeClr val="bg1">
                  <a:shade val="50000"/>
                </a:schemeClr>
              </a:buClr>
              <a:buFont typeface="Wingdings 3" panose="05040102010807070707" pitchFamily="18" charset="2"/>
              <a:buNone/>
              <a:defRPr/>
            </a:pPr>
            <a:r>
              <a:rPr lang="en-US" smtClean="0"/>
              <a:t>		p(demam </a:t>
            </a:r>
            <a:r>
              <a:rPr lang="en-US" sz="2800" smtClean="0">
                <a:latin typeface="Calibri" pitchFamily="34" charset="0"/>
                <a:cs typeface="Calibri" pitchFamily="34" charset="0"/>
              </a:rPr>
              <a:t>n</a:t>
            </a:r>
            <a:r>
              <a:rPr lang="en-US" sz="2800" smtClean="0"/>
              <a:t> </a:t>
            </a:r>
            <a:r>
              <a:rPr lang="en-US" smtClean="0"/>
              <a:t>muntah) = p(demam|muntah) x p (muntah) </a:t>
            </a:r>
          </a:p>
          <a:p>
            <a:pPr marL="517525" lvl="2" eaLnBrk="1" fontAlgn="auto" hangingPunct="1">
              <a:spcAft>
                <a:spcPts val="0"/>
              </a:spcAft>
              <a:buClr>
                <a:schemeClr val="bg1">
                  <a:shade val="50000"/>
                </a:schemeClr>
              </a:buClr>
              <a:buFont typeface="Wingdings 3" panose="05040102010807070707" pitchFamily="18" charset="2"/>
              <a:buNone/>
              <a:defRPr/>
            </a:pPr>
            <a:r>
              <a:rPr lang="en-US" smtClean="0"/>
              <a:t>				      = 0,75 x 0,3 = 0,225</a:t>
            </a:r>
          </a:p>
          <a:p>
            <a:pPr marL="517525" lvl="2" eaLnBrk="1" fontAlgn="auto" hangingPunct="1">
              <a:spcAft>
                <a:spcPts val="0"/>
              </a:spcAft>
              <a:buClr>
                <a:schemeClr val="bg1">
                  <a:shade val="50000"/>
                </a:schemeClr>
              </a:buClr>
              <a:buFont typeface="Wingdings 3"/>
              <a:buChar char=""/>
              <a:defRPr/>
            </a:pPr>
            <a:r>
              <a:rPr lang="en-US" smtClean="0"/>
              <a:t>Jadi, p(demam) ≥ 0,225</a:t>
            </a:r>
          </a:p>
          <a:p>
            <a:pPr marL="517525" lvl="2" eaLnBrk="1" fontAlgn="auto" hangingPunct="1">
              <a:spcAft>
                <a:spcPts val="0"/>
              </a:spcAft>
              <a:buClr>
                <a:schemeClr val="bg1">
                  <a:shade val="50000"/>
                </a:schemeClr>
              </a:buClr>
              <a:buFont typeface="Wingdings 3"/>
              <a:buChar char=""/>
              <a:defRPr/>
            </a:pPr>
            <a:r>
              <a:rPr lang="en-US" smtClean="0"/>
              <a:t>Untuk nilai p(demam) = 0,1 tidak memenuhi syarat sehingga menghasilkan perhitungan yang salah.</a:t>
            </a:r>
          </a:p>
          <a:p>
            <a:pPr marL="517525" lvl="2" eaLnBrk="1" fontAlgn="auto" hangingPunct="1">
              <a:spcAft>
                <a:spcPts val="0"/>
              </a:spcAft>
              <a:buClr>
                <a:schemeClr val="bg1">
                  <a:shade val="50000"/>
                </a:schemeClr>
              </a:buClr>
              <a:buFont typeface="Wingdings 3" panose="05040102010807070707" pitchFamily="18" charset="2"/>
              <a:buNone/>
              <a:defRPr/>
            </a:pPr>
            <a:endParaRPr lang="en-US" smtClean="0"/>
          </a:p>
        </p:txBody>
      </p:sp>
    </p:spTree>
    <p:extLst>
      <p:ext uri="{BB962C8B-B14F-4D97-AF65-F5344CB8AC3E}">
        <p14:creationId xmlns:p14="http://schemas.microsoft.com/office/powerpoint/2010/main" val="1511346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sz="2400" b="1" smtClean="0"/>
              <a:t>Bentuk Teorema Bayes untuk evidence tunggal E dan hipotesis ganda H1, H2, …. Hn</a:t>
            </a:r>
          </a:p>
        </p:txBody>
      </p:sp>
      <p:sp>
        <p:nvSpPr>
          <p:cNvPr id="33795" name="Content Placeholder 3"/>
          <p:cNvSpPr>
            <a:spLocks noGrp="1"/>
          </p:cNvSpPr>
          <p:nvPr>
            <p:ph sz="quarter" idx="1"/>
          </p:nvPr>
        </p:nvSpPr>
        <p:spPr>
          <a:xfrm>
            <a:off x="457200" y="2819400"/>
            <a:ext cx="8229600" cy="3657600"/>
          </a:xfrm>
        </p:spPr>
        <p:txBody>
          <a:bodyPr>
            <a:normAutofit lnSpcReduction="10000"/>
          </a:bodyPr>
          <a:lstStyle/>
          <a:p>
            <a:pPr eaLnBrk="1" hangingPunct="1"/>
            <a:r>
              <a:rPr lang="en-US" smtClean="0"/>
              <a:t>dengan:</a:t>
            </a:r>
          </a:p>
          <a:p>
            <a:pPr eaLnBrk="1" hangingPunct="1"/>
            <a:r>
              <a:rPr lang="en-US" smtClean="0"/>
              <a:t>p(Hi|E) = probabilitas hiposesis Hi benar jika diberikan evidence E.</a:t>
            </a:r>
          </a:p>
          <a:p>
            <a:pPr eaLnBrk="1" hangingPunct="1"/>
            <a:r>
              <a:rPr lang="en-US" smtClean="0"/>
              <a:t>p(E|Hi) =  probabilitas munculnya evidence E, jika diketahui hipotesis Hi benar.</a:t>
            </a:r>
          </a:p>
          <a:p>
            <a:pPr eaLnBrk="1" hangingPunct="1"/>
            <a:r>
              <a:rPr lang="en-US" smtClean="0"/>
              <a:t>p(Hi) = probabilitas hipotesis Hi (menurut hasil sebelumnya) tanpa memandang evidence apapun.</a:t>
            </a:r>
          </a:p>
          <a:p>
            <a:pPr eaLnBrk="1" hangingPunct="1"/>
            <a:r>
              <a:rPr lang="en-US" smtClean="0"/>
              <a:t>n = jumlah hipotesis yang mungkin.</a:t>
            </a:r>
          </a:p>
        </p:txBody>
      </p:sp>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95400"/>
            <a:ext cx="43116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7804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endParaRPr lang="id-ID" smtClean="0"/>
          </a:p>
        </p:txBody>
      </p:sp>
      <p:sp>
        <p:nvSpPr>
          <p:cNvPr id="34819" name="Content Placeholder 2"/>
          <p:cNvSpPr>
            <a:spLocks noGrp="1"/>
          </p:cNvSpPr>
          <p:nvPr>
            <p:ph sz="quarter" idx="1"/>
          </p:nvPr>
        </p:nvSpPr>
        <p:spPr>
          <a:xfrm>
            <a:off x="457200" y="1219200"/>
            <a:ext cx="8229600" cy="4937125"/>
          </a:xfrm>
        </p:spPr>
        <p:txBody>
          <a:bodyPr>
            <a:normAutofit lnSpcReduction="10000"/>
          </a:bodyPr>
          <a:lstStyle/>
          <a:p>
            <a:pPr eaLnBrk="1" hangingPunct="1"/>
            <a:r>
              <a:rPr lang="en-US" b="1" smtClean="0"/>
              <a:t>Untuk evidence ganda E1, E2,…., Em dan hipotesis ganda H1, H2, …., Hn adalah :</a:t>
            </a:r>
          </a:p>
          <a:p>
            <a:pPr eaLnBrk="1" hangingPunct="1">
              <a:buFont typeface="Wingdings 3" panose="05040102010807070707" pitchFamily="18" charset="2"/>
              <a:buNone/>
            </a:pPr>
            <a:r>
              <a:rPr lang="en-US" b="1" smtClean="0"/>
              <a:t>	</a:t>
            </a:r>
          </a:p>
          <a:p>
            <a:pPr eaLnBrk="1" hangingPunct="1">
              <a:buFont typeface="Wingdings 3" panose="05040102010807070707" pitchFamily="18" charset="2"/>
              <a:buNone/>
            </a:pPr>
            <a:endParaRPr lang="en-US" b="1" smtClean="0"/>
          </a:p>
          <a:p>
            <a:pPr eaLnBrk="1" hangingPunct="1">
              <a:buFont typeface="Wingdings 3" panose="05040102010807070707" pitchFamily="18" charset="2"/>
              <a:buNone/>
            </a:pPr>
            <a:endParaRPr lang="en-US" b="1" smtClean="0"/>
          </a:p>
          <a:p>
            <a:pPr eaLnBrk="1" hangingPunct="1">
              <a:buFont typeface="Wingdings 3" panose="05040102010807070707" pitchFamily="18" charset="2"/>
              <a:buNone/>
            </a:pPr>
            <a:r>
              <a:rPr lang="en-US" smtClean="0"/>
              <a:t>	untuk mengaplikasikan persamaan di atas, maka harus diketahui probabilitas bersyarat dari semua kombinasi yang mungkin dari evidence-evidence untuk seluruh hipotesis. Secara praktis, ini tidak mungkin. Oleh karena itu, persamaan di atas, diganti dengan persamaan :</a:t>
            </a:r>
          </a:p>
        </p:txBody>
      </p:sp>
      <p:pic>
        <p:nvPicPr>
          <p:cNvPr id="3482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86000"/>
            <a:ext cx="74612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1189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endParaRPr lang="id-ID" smtClean="0"/>
          </a:p>
        </p:txBody>
      </p:sp>
      <p:sp>
        <p:nvSpPr>
          <p:cNvPr id="35843" name="Content Placeholder 2"/>
          <p:cNvSpPr>
            <a:spLocks noGrp="1"/>
          </p:cNvSpPr>
          <p:nvPr>
            <p:ph sz="quarter" idx="1"/>
          </p:nvPr>
        </p:nvSpPr>
        <p:spPr>
          <a:xfrm>
            <a:off x="457200" y="1219200"/>
            <a:ext cx="8229600" cy="4937125"/>
          </a:xfrm>
        </p:spPr>
        <p:txBody>
          <a:bodyPr/>
          <a:lstStyle/>
          <a:p>
            <a:pPr eaLnBrk="1" hangingPunct="1">
              <a:buFont typeface="Wingdings 3" panose="05040102010807070707" pitchFamily="18" charset="2"/>
              <a:buNone/>
            </a:pPr>
            <a:endParaRPr lang="id-ID" smtClean="0"/>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84502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2029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smtClean="0"/>
              <a:t>Contoh kasus 	</a:t>
            </a:r>
          </a:p>
        </p:txBody>
      </p:sp>
      <p:sp>
        <p:nvSpPr>
          <p:cNvPr id="25603" name="Content Placeholder 2"/>
          <p:cNvSpPr>
            <a:spLocks noGrp="1"/>
          </p:cNvSpPr>
          <p:nvPr>
            <p:ph sz="quarter" idx="1"/>
          </p:nvPr>
        </p:nvSpPr>
        <p:spPr>
          <a:xfrm>
            <a:off x="457200" y="1219200"/>
            <a:ext cx="8229600" cy="3048000"/>
          </a:xfrm>
        </p:spPr>
        <p:txBody>
          <a:bodyPr>
            <a:normAutofit fontScale="92500" lnSpcReduction="20000"/>
          </a:bodyPr>
          <a:lstStyle/>
          <a:p>
            <a:pPr marL="274320" indent="-274320" eaLnBrk="1" fontAlgn="auto" hangingPunct="1">
              <a:spcAft>
                <a:spcPts val="0"/>
              </a:spcAft>
              <a:buFont typeface="Wingdings 3"/>
              <a:buChar char=""/>
              <a:defRPr/>
            </a:pPr>
            <a:r>
              <a:rPr lang="en-US" smtClean="0"/>
              <a:t>Tabel berikut menunjukkan tabel probabilitas bersyarat evidence E</a:t>
            </a:r>
            <a:r>
              <a:rPr lang="en-US" baseline="-25000" smtClean="0"/>
              <a:t>1</a:t>
            </a:r>
            <a:r>
              <a:rPr lang="en-US" smtClean="0"/>
              <a:t>E</a:t>
            </a:r>
            <a:r>
              <a:rPr lang="en-US" baseline="-25000" smtClean="0"/>
              <a:t>2</a:t>
            </a:r>
            <a:r>
              <a:rPr lang="en-US" smtClean="0"/>
              <a:t>E</a:t>
            </a:r>
            <a:r>
              <a:rPr lang="en-US" baseline="-25000" smtClean="0"/>
              <a:t>3</a:t>
            </a:r>
            <a:r>
              <a:rPr lang="en-US" smtClean="0"/>
              <a:t> dan hipotesis H</a:t>
            </a:r>
            <a:r>
              <a:rPr lang="en-US" baseline="-25000" smtClean="0"/>
              <a:t>1</a:t>
            </a:r>
            <a:r>
              <a:rPr lang="en-US" smtClean="0"/>
              <a:t>H</a:t>
            </a:r>
            <a:r>
              <a:rPr lang="en-US" baseline="-25000" smtClean="0"/>
              <a:t>2</a:t>
            </a:r>
            <a:r>
              <a:rPr lang="en-US" smtClean="0"/>
              <a:t>H</a:t>
            </a:r>
            <a:r>
              <a:rPr lang="en-US" baseline="-25000" smtClean="0"/>
              <a:t>3</a:t>
            </a:r>
            <a:r>
              <a:rPr lang="en-US" smtClean="0"/>
              <a:t> . Misalkan pertama kali kita hanya mengamati evidence E</a:t>
            </a:r>
            <a:r>
              <a:rPr lang="en-US" baseline="-25000" smtClean="0"/>
              <a:t>3</a:t>
            </a:r>
            <a:r>
              <a:rPr lang="en-US" smtClean="0"/>
              <a:t> , hitung probabilitas terjadinya hipotesis :</a:t>
            </a:r>
          </a:p>
          <a:p>
            <a:pPr marL="274320" indent="-274320" eaLnBrk="1" fontAlgn="auto" hangingPunct="1">
              <a:spcAft>
                <a:spcPts val="0"/>
              </a:spcAft>
              <a:buFont typeface="Wingdings 3" panose="05040102010807070707" pitchFamily="18" charset="2"/>
              <a:buNone/>
              <a:defRPr/>
            </a:pPr>
            <a:r>
              <a:rPr lang="en-US" smtClean="0"/>
              <a:t>	a.   H</a:t>
            </a:r>
            <a:r>
              <a:rPr lang="en-US" baseline="-25000" smtClean="0"/>
              <a:t>1</a:t>
            </a:r>
            <a:r>
              <a:rPr lang="en-US" smtClean="0"/>
              <a:t> jika semula hanya evidence E</a:t>
            </a:r>
            <a:r>
              <a:rPr lang="en-US" baseline="-25000" smtClean="0"/>
              <a:t>3</a:t>
            </a:r>
            <a:r>
              <a:rPr lang="en-US" smtClean="0"/>
              <a:t> yang teramati</a:t>
            </a:r>
          </a:p>
          <a:p>
            <a:pPr marL="274320" indent="-274320" eaLnBrk="1" fontAlgn="auto" hangingPunct="1">
              <a:spcAft>
                <a:spcPts val="0"/>
              </a:spcAft>
              <a:buFont typeface="Wingdings 3" panose="05040102010807070707" pitchFamily="18" charset="2"/>
              <a:buNone/>
              <a:defRPr/>
            </a:pPr>
            <a:r>
              <a:rPr lang="en-US" smtClean="0"/>
              <a:t>	b.   H</a:t>
            </a:r>
            <a:r>
              <a:rPr lang="en-US" baseline="-25000" smtClean="0"/>
              <a:t>2</a:t>
            </a:r>
            <a:r>
              <a:rPr lang="en-US" smtClean="0"/>
              <a:t> jika semula hanya evidence E</a:t>
            </a:r>
            <a:r>
              <a:rPr lang="en-US" baseline="-25000" smtClean="0"/>
              <a:t>3</a:t>
            </a:r>
            <a:r>
              <a:rPr lang="en-US" smtClean="0"/>
              <a:t> yang teramati</a:t>
            </a:r>
          </a:p>
          <a:p>
            <a:pPr marL="274320" indent="-274320" eaLnBrk="1" fontAlgn="auto" hangingPunct="1">
              <a:spcAft>
                <a:spcPts val="0"/>
              </a:spcAft>
              <a:buFont typeface="Wingdings 3" panose="05040102010807070707" pitchFamily="18" charset="2"/>
              <a:buNone/>
              <a:defRPr/>
            </a:pPr>
            <a:r>
              <a:rPr lang="en-US" smtClean="0"/>
              <a:t>	c.   H</a:t>
            </a:r>
            <a:r>
              <a:rPr lang="en-US" baseline="-25000" smtClean="0"/>
              <a:t>3</a:t>
            </a:r>
            <a:r>
              <a:rPr lang="en-US" smtClean="0"/>
              <a:t> jika semula hanya evidence E</a:t>
            </a:r>
            <a:r>
              <a:rPr lang="en-US" baseline="-25000" smtClean="0"/>
              <a:t>3</a:t>
            </a:r>
            <a:r>
              <a:rPr lang="en-US" smtClean="0"/>
              <a:t> yang teramati</a:t>
            </a:r>
          </a:p>
          <a:p>
            <a:pPr marL="274320" indent="-274320" eaLnBrk="1" fontAlgn="auto" hangingPunct="1">
              <a:spcAft>
                <a:spcPts val="0"/>
              </a:spcAft>
              <a:buFont typeface="Wingdings 3" panose="05040102010807070707" pitchFamily="18" charset="2"/>
              <a:buNone/>
              <a:defRPr/>
            </a:pPr>
            <a:r>
              <a:rPr lang="en-US" smtClean="0"/>
              <a:t>                                                           </a:t>
            </a:r>
            <a:endParaRPr lang="en-US" baseline="-25000" smtClean="0"/>
          </a:p>
        </p:txBody>
      </p:sp>
      <p:pic>
        <p:nvPicPr>
          <p:cNvPr id="368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343400"/>
            <a:ext cx="3429000"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80653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endParaRPr lang="id-ID" smtClean="0"/>
          </a:p>
        </p:txBody>
      </p:sp>
      <p:sp>
        <p:nvSpPr>
          <p:cNvPr id="37891" name="Content Placeholder 2"/>
          <p:cNvSpPr>
            <a:spLocks noGrp="1"/>
          </p:cNvSpPr>
          <p:nvPr>
            <p:ph sz="quarter" idx="1"/>
          </p:nvPr>
        </p:nvSpPr>
        <p:spPr>
          <a:xfrm>
            <a:off x="457200" y="1219200"/>
            <a:ext cx="8229600" cy="2819400"/>
          </a:xfrm>
        </p:spPr>
        <p:txBody>
          <a:bodyPr>
            <a:normAutofit lnSpcReduction="10000"/>
          </a:bodyPr>
          <a:lstStyle/>
          <a:p>
            <a:pPr eaLnBrk="1" hangingPunct="1"/>
            <a:r>
              <a:rPr lang="en-US" smtClean="0"/>
              <a:t>Persoalan ini adalah persoalan teorema bayes untuk evidence tunggal E dan hipotesis ganda H</a:t>
            </a:r>
            <a:r>
              <a:rPr lang="en-US" baseline="-25000" smtClean="0"/>
              <a:t>1</a:t>
            </a:r>
            <a:r>
              <a:rPr lang="en-US" smtClean="0"/>
              <a:t>H</a:t>
            </a:r>
            <a:r>
              <a:rPr lang="en-US" baseline="-25000" smtClean="0"/>
              <a:t>2</a:t>
            </a:r>
            <a:r>
              <a:rPr lang="en-US" smtClean="0"/>
              <a:t>H</a:t>
            </a:r>
            <a:r>
              <a:rPr lang="en-US" baseline="-25000" smtClean="0"/>
              <a:t>3</a:t>
            </a:r>
            <a:r>
              <a:rPr lang="en-US" smtClean="0"/>
              <a:t> dengan persamaan berikut :</a:t>
            </a:r>
          </a:p>
          <a:p>
            <a:pPr eaLnBrk="1" hangingPunct="1">
              <a:buFont typeface="Wingdings 3" panose="05040102010807070707" pitchFamily="18" charset="2"/>
              <a:buNone/>
            </a:pPr>
            <a:r>
              <a:rPr lang="en-US" smtClean="0"/>
              <a:t> </a:t>
            </a:r>
          </a:p>
          <a:p>
            <a:pPr eaLnBrk="1" hangingPunct="1"/>
            <a:endParaRPr lang="en-US" smtClean="0"/>
          </a:p>
          <a:p>
            <a:pPr eaLnBrk="1" hangingPunct="1"/>
            <a:r>
              <a:rPr lang="en-US" smtClean="0"/>
              <a:t>Jadi,    </a:t>
            </a:r>
          </a:p>
        </p:txBody>
      </p:sp>
      <p:pic>
        <p:nvPicPr>
          <p:cNvPr id="3789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439988"/>
            <a:ext cx="2827338"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191000"/>
            <a:ext cx="74676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83420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endParaRPr lang="id-ID" smtClean="0"/>
          </a:p>
        </p:txBody>
      </p:sp>
      <p:pic>
        <p:nvPicPr>
          <p:cNvPr id="389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153400"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114800"/>
            <a:ext cx="81756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168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endParaRPr lang="id-ID" smtClean="0"/>
          </a:p>
        </p:txBody>
      </p:sp>
      <p:sp>
        <p:nvSpPr>
          <p:cNvPr id="39939" name="Content Placeholder 2"/>
          <p:cNvSpPr>
            <a:spLocks noGrp="1"/>
          </p:cNvSpPr>
          <p:nvPr>
            <p:ph sz="quarter" idx="1"/>
          </p:nvPr>
        </p:nvSpPr>
        <p:spPr>
          <a:xfrm>
            <a:off x="457200" y="1219200"/>
            <a:ext cx="8229600" cy="4937125"/>
          </a:xfrm>
        </p:spPr>
        <p:txBody>
          <a:bodyPr/>
          <a:lstStyle/>
          <a:p>
            <a:pPr eaLnBrk="1" hangingPunct="1"/>
            <a:r>
              <a:rPr lang="en-US" smtClean="0"/>
              <a:t>tampak bahwa setelah evidence E</a:t>
            </a:r>
            <a:r>
              <a:rPr lang="en-US" baseline="-25000" smtClean="0"/>
              <a:t>3</a:t>
            </a:r>
            <a:r>
              <a:rPr lang="en-US" smtClean="0"/>
              <a:t> teramati, kepercayaan terhadap hipotesis H</a:t>
            </a:r>
            <a:r>
              <a:rPr lang="en-US" baseline="-25000" smtClean="0"/>
              <a:t>i</a:t>
            </a:r>
            <a:r>
              <a:rPr lang="en-US" smtClean="0"/>
              <a:t> berkurang dan menjadi sama dengan kepercayaan terhadap H</a:t>
            </a:r>
            <a:r>
              <a:rPr lang="en-US" baseline="-25000" smtClean="0"/>
              <a:t>2</a:t>
            </a:r>
            <a:r>
              <a:rPr lang="en-US" smtClean="0"/>
              <a:t>. kepercayaan terhadap hipotesis H</a:t>
            </a:r>
            <a:r>
              <a:rPr lang="en-US" baseline="-25000" smtClean="0"/>
              <a:t>3</a:t>
            </a:r>
            <a:r>
              <a:rPr lang="en-US" smtClean="0"/>
              <a:t> bertambah bahkan hampir sama dengan H</a:t>
            </a:r>
            <a:r>
              <a:rPr lang="en-US" baseline="-25000" smtClean="0"/>
              <a:t>1</a:t>
            </a:r>
            <a:r>
              <a:rPr lang="en-US" smtClean="0"/>
              <a:t> dan H</a:t>
            </a:r>
            <a:r>
              <a:rPr lang="en-US" baseline="-25000" smtClean="0"/>
              <a:t>2</a:t>
            </a:r>
            <a:r>
              <a:rPr lang="en-US" smtClean="0"/>
              <a:t>.</a:t>
            </a:r>
          </a:p>
        </p:txBody>
      </p:sp>
    </p:spTree>
    <p:extLst>
      <p:ext uri="{BB962C8B-B14F-4D97-AF65-F5344CB8AC3E}">
        <p14:creationId xmlns:p14="http://schemas.microsoft.com/office/powerpoint/2010/main" val="3522816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eaLnBrk="1" fontAlgn="auto" hangingPunct="1">
              <a:spcAft>
                <a:spcPts val="0"/>
              </a:spcAft>
              <a:buFont typeface="Wingdings 3"/>
              <a:buChar char=""/>
              <a:defRPr/>
            </a:pPr>
            <a:r>
              <a:rPr lang="en-US" smtClean="0"/>
              <a:t>Misalkan setelah kita mengamati evidence E</a:t>
            </a:r>
            <a:r>
              <a:rPr lang="en-US" baseline="-25000" smtClean="0"/>
              <a:t>3</a:t>
            </a:r>
            <a:r>
              <a:rPr lang="en-US" smtClean="0"/>
              <a:t> kemudian teramati pula adanya evidence E</a:t>
            </a:r>
            <a:r>
              <a:rPr lang="en-US" baseline="-25000" smtClean="0"/>
              <a:t>1</a:t>
            </a:r>
            <a:r>
              <a:rPr lang="en-US" smtClean="0"/>
              <a:t> hitung probabilitas terjadinya hipotesis:</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1</a:t>
            </a:r>
            <a:r>
              <a:rPr lang="en-US" smtClean="0"/>
              <a:t> jika kemudian teramati pula adanya evidence E</a:t>
            </a:r>
            <a:r>
              <a:rPr lang="en-US" baseline="-25000" smtClean="0"/>
              <a:t>1</a:t>
            </a:r>
            <a:r>
              <a:rPr lang="en-US" smtClean="0"/>
              <a:t> </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2</a:t>
            </a:r>
            <a:r>
              <a:rPr lang="en-US" smtClean="0"/>
              <a:t> jika kemudian teramati pula adanya evidence E</a:t>
            </a:r>
            <a:r>
              <a:rPr lang="en-US" baseline="-25000" smtClean="0"/>
              <a:t>1</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3</a:t>
            </a:r>
            <a:r>
              <a:rPr lang="en-US" smtClean="0"/>
              <a:t> jika kemudian teramati pula adanya evidence E</a:t>
            </a:r>
            <a:r>
              <a:rPr lang="en-US" baseline="-25000" smtClean="0"/>
              <a:t>1</a:t>
            </a:r>
            <a:endParaRPr lang="en-US"/>
          </a:p>
        </p:txBody>
      </p:sp>
    </p:spTree>
    <p:extLst>
      <p:ext uri="{BB962C8B-B14F-4D97-AF65-F5344CB8AC3E}">
        <p14:creationId xmlns:p14="http://schemas.microsoft.com/office/powerpoint/2010/main" val="1871585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endParaRPr lang="id-ID" smtClean="0"/>
          </a:p>
        </p:txBody>
      </p:sp>
      <p:sp>
        <p:nvSpPr>
          <p:cNvPr id="41987" name="Content Placeholder 2"/>
          <p:cNvSpPr>
            <a:spLocks noGrp="1"/>
          </p:cNvSpPr>
          <p:nvPr>
            <p:ph sz="quarter" idx="1"/>
          </p:nvPr>
        </p:nvSpPr>
        <p:spPr>
          <a:xfrm>
            <a:off x="457200" y="1219200"/>
            <a:ext cx="8229600" cy="1600200"/>
          </a:xfrm>
        </p:spPr>
        <p:txBody>
          <a:bodyPr/>
          <a:lstStyle/>
          <a:p>
            <a:pPr eaLnBrk="1" hangingPunct="1"/>
            <a:r>
              <a:rPr lang="en-US" smtClean="0"/>
              <a:t>Persoalan ini adalah persoalan teorema bayes untuk evidence ganda E</a:t>
            </a:r>
            <a:r>
              <a:rPr lang="en-US" baseline="-25000" smtClean="0"/>
              <a:t>1</a:t>
            </a:r>
            <a:r>
              <a:rPr lang="en-US" smtClean="0"/>
              <a:t> E</a:t>
            </a:r>
            <a:r>
              <a:rPr lang="en-US" baseline="-25000" smtClean="0"/>
              <a:t>3</a:t>
            </a:r>
            <a:r>
              <a:rPr lang="en-US" smtClean="0"/>
              <a:t>  dan hipotesis ganda H</a:t>
            </a:r>
            <a:r>
              <a:rPr lang="en-US" baseline="-25000" smtClean="0"/>
              <a:t>1</a:t>
            </a:r>
            <a:r>
              <a:rPr lang="en-US" smtClean="0"/>
              <a:t> , H</a:t>
            </a:r>
            <a:r>
              <a:rPr lang="en-US" baseline="-25000" smtClean="0"/>
              <a:t>2</a:t>
            </a:r>
            <a:r>
              <a:rPr lang="en-US" smtClean="0"/>
              <a:t> , H</a:t>
            </a:r>
            <a:r>
              <a:rPr lang="en-US" baseline="-25000" smtClean="0"/>
              <a:t>3</a:t>
            </a:r>
            <a:r>
              <a:rPr lang="en-US" smtClean="0"/>
              <a:t>  dengan persamaan </a:t>
            </a:r>
          </a:p>
        </p:txBody>
      </p:sp>
      <p:pic>
        <p:nvPicPr>
          <p:cNvPr id="419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90800"/>
            <a:ext cx="841216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41753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eaLnBrk="1" fontAlgn="auto" hangingPunct="1">
              <a:spcAft>
                <a:spcPts val="0"/>
              </a:spcAft>
              <a:buFont typeface="Wingdings 3"/>
              <a:buChar char=""/>
              <a:defRPr/>
            </a:pPr>
            <a:r>
              <a:rPr lang="en-US" smtClean="0"/>
              <a:t>Misalkan setelah kita mengamati evidence E</a:t>
            </a:r>
            <a:r>
              <a:rPr lang="en-US" baseline="-25000" smtClean="0"/>
              <a:t>1</a:t>
            </a:r>
            <a:r>
              <a:rPr lang="en-US" smtClean="0"/>
              <a:t> teramati pula adanya evidence E</a:t>
            </a:r>
            <a:r>
              <a:rPr lang="en-US" baseline="-25000" smtClean="0"/>
              <a:t>2</a:t>
            </a:r>
            <a:r>
              <a:rPr lang="en-US" smtClean="0"/>
              <a:t> , hitung probabilitas terjadinya hipotesis :</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1</a:t>
            </a:r>
            <a:r>
              <a:rPr lang="en-US" smtClean="0"/>
              <a:t> jika kemudian teramati pula adanya evidence E</a:t>
            </a:r>
            <a:r>
              <a:rPr lang="en-US" baseline="-25000" smtClean="0"/>
              <a:t>2</a:t>
            </a:r>
            <a:r>
              <a:rPr lang="en-US" smtClean="0"/>
              <a:t> </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2</a:t>
            </a:r>
            <a:r>
              <a:rPr lang="en-US" smtClean="0"/>
              <a:t> jika kemudian teramati pula adanya evidence E</a:t>
            </a:r>
            <a:r>
              <a:rPr lang="en-US" baseline="-25000" smtClean="0"/>
              <a:t>2</a:t>
            </a:r>
          </a:p>
          <a:p>
            <a:pPr marL="514350" indent="-514350" eaLnBrk="1" fontAlgn="auto" hangingPunct="1">
              <a:spcAft>
                <a:spcPts val="0"/>
              </a:spcAft>
              <a:buFont typeface="Wingdings 3" panose="05040102010807070707" pitchFamily="18" charset="2"/>
              <a:buAutoNum type="alphaLcPeriod"/>
              <a:defRPr/>
            </a:pPr>
            <a:r>
              <a:rPr lang="en-US" smtClean="0"/>
              <a:t>H</a:t>
            </a:r>
            <a:r>
              <a:rPr lang="en-US" baseline="-25000" smtClean="0"/>
              <a:t>3</a:t>
            </a:r>
            <a:r>
              <a:rPr lang="en-US" smtClean="0"/>
              <a:t> jika kemudian teramati pula adanya evidence E</a:t>
            </a:r>
            <a:r>
              <a:rPr lang="en-US" baseline="-25000" smtClean="0"/>
              <a:t>2</a:t>
            </a:r>
            <a:endParaRPr lang="en-US" smtClean="0"/>
          </a:p>
          <a:p>
            <a:pPr marL="274320" indent="-274320" eaLnBrk="1" fontAlgn="auto" hangingPunct="1">
              <a:spcAft>
                <a:spcPts val="0"/>
              </a:spcAft>
              <a:buFont typeface="Wingdings 3"/>
              <a:buChar char=""/>
              <a:defRPr/>
            </a:pPr>
            <a:endParaRPr lang="en-US"/>
          </a:p>
        </p:txBody>
      </p:sp>
    </p:spTree>
    <p:extLst>
      <p:ext uri="{BB962C8B-B14F-4D97-AF65-F5344CB8AC3E}">
        <p14:creationId xmlns:p14="http://schemas.microsoft.com/office/powerpoint/2010/main" val="35245990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endParaRPr lang="id-ID" smtClean="0"/>
          </a:p>
        </p:txBody>
      </p:sp>
      <p:sp>
        <p:nvSpPr>
          <p:cNvPr id="44035" name="Content Placeholder 2"/>
          <p:cNvSpPr>
            <a:spLocks noGrp="1"/>
          </p:cNvSpPr>
          <p:nvPr>
            <p:ph sz="quarter" idx="1"/>
          </p:nvPr>
        </p:nvSpPr>
        <p:spPr>
          <a:xfrm>
            <a:off x="457200" y="1219200"/>
            <a:ext cx="8229600" cy="533400"/>
          </a:xfrm>
        </p:spPr>
        <p:txBody>
          <a:bodyPr/>
          <a:lstStyle/>
          <a:p>
            <a:pPr eaLnBrk="1" hangingPunct="1"/>
            <a:r>
              <a:rPr lang="en-US" smtClean="0"/>
              <a:t>Jawab :</a:t>
            </a:r>
          </a:p>
        </p:txBody>
      </p:sp>
      <p:pic>
        <p:nvPicPr>
          <p:cNvPr id="440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28800"/>
            <a:ext cx="856138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99262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smtClean="0"/>
              <a:t>Contoh soal lainnya :</a:t>
            </a:r>
          </a:p>
        </p:txBody>
      </p:sp>
      <p:sp>
        <p:nvSpPr>
          <p:cNvPr id="3" name="Content Placeholder 2"/>
          <p:cNvSpPr>
            <a:spLocks noGrp="1"/>
          </p:cNvSpPr>
          <p:nvPr>
            <p:ph sz="quarter" idx="1"/>
          </p:nvPr>
        </p:nvSpPr>
        <p:spPr>
          <a:xfrm>
            <a:off x="457200" y="1143000"/>
            <a:ext cx="8229600" cy="5410200"/>
          </a:xfrm>
        </p:spPr>
        <p:txBody>
          <a:bodyPr>
            <a:normAutofit lnSpcReduction="10000"/>
          </a:bodyPr>
          <a:lstStyle/>
          <a:p>
            <a:pPr marL="274320" indent="-274320" eaLnBrk="1" fontAlgn="auto" hangingPunct="1">
              <a:spcAft>
                <a:spcPts val="0"/>
              </a:spcAft>
              <a:buFont typeface="Wingdings 3"/>
              <a:buChar char=""/>
              <a:defRPr/>
            </a:pPr>
            <a:r>
              <a:rPr lang="en-US" smtClean="0"/>
              <a:t>Si Ani mengalami gejala ada bintik-bintik di wajahnya. </a:t>
            </a:r>
          </a:p>
          <a:p>
            <a:pPr marL="274320" indent="-274320" eaLnBrk="1" fontAlgn="auto" hangingPunct="1">
              <a:spcAft>
                <a:spcPts val="0"/>
              </a:spcAft>
              <a:buFont typeface="Wingdings 3"/>
              <a:buChar char=""/>
              <a:defRPr/>
            </a:pPr>
            <a:r>
              <a:rPr lang="en-US" smtClean="0"/>
              <a:t>Dokter menduga bahwa Si Ani terkena:</a:t>
            </a:r>
          </a:p>
          <a:p>
            <a:pPr marL="514350" indent="-514350" eaLnBrk="1" fontAlgn="auto" hangingPunct="1">
              <a:spcAft>
                <a:spcPts val="0"/>
              </a:spcAft>
              <a:buFont typeface="+mj-lt"/>
              <a:buAutoNum type="arabicPeriod"/>
              <a:defRPr/>
            </a:pPr>
            <a:r>
              <a:rPr lang="en-US" smtClean="0"/>
              <a:t>Cacar, dengan:</a:t>
            </a:r>
          </a:p>
          <a:p>
            <a:pPr marL="914400" indent="-342900" eaLnBrk="1" fontAlgn="auto" hangingPunct="1">
              <a:spcAft>
                <a:spcPts val="0"/>
              </a:spcAft>
              <a:buFont typeface="Arial" pitchFamily="34" charset="0"/>
              <a:buChar char="•"/>
              <a:defRPr/>
            </a:pPr>
            <a:r>
              <a:rPr lang="en-US" smtClean="0"/>
              <a:t>Probabilitas munculnya bintik-bintik di wajah, jika Si Ani terkena cacar; p(Bintik2|Cacar) = 0,8.</a:t>
            </a:r>
          </a:p>
          <a:p>
            <a:pPr marL="914400" indent="-342900" eaLnBrk="1" fontAlgn="auto" hangingPunct="1">
              <a:spcAft>
                <a:spcPts val="0"/>
              </a:spcAft>
              <a:buFont typeface="Arial" pitchFamily="34" charset="0"/>
              <a:buChar char="•"/>
              <a:defRPr/>
            </a:pPr>
            <a:r>
              <a:rPr lang="en-US" smtClean="0"/>
              <a:t>Probabilitas Si Ani terkena cacar tanpa memandang gejala apapun; p(Cacar) = 0,4</a:t>
            </a:r>
          </a:p>
          <a:p>
            <a:pPr marL="514350" indent="-514350" eaLnBrk="1" fontAlgn="auto" hangingPunct="1">
              <a:spcAft>
                <a:spcPts val="0"/>
              </a:spcAft>
              <a:buFont typeface="Wingdings 3" panose="05040102010807070707" pitchFamily="18" charset="2"/>
              <a:buAutoNum type="arabicPeriod" startAt="2"/>
              <a:defRPr/>
            </a:pPr>
            <a:r>
              <a:rPr lang="en-US" smtClean="0"/>
              <a:t>Alergi, dengan :</a:t>
            </a:r>
          </a:p>
          <a:p>
            <a:pPr marL="971550" indent="-457200" eaLnBrk="1" fontAlgn="auto" hangingPunct="1">
              <a:spcAft>
                <a:spcPts val="0"/>
              </a:spcAft>
              <a:buFont typeface="Arial" pitchFamily="34" charset="0"/>
              <a:buChar char="•"/>
              <a:defRPr/>
            </a:pPr>
            <a:r>
              <a:rPr lang="en-US" smtClean="0"/>
              <a:t>Probabilitas munculnya bintik-bintik di wajah, jika Si Ani alergi; p(Bintik2|Alergi) = 0,3.</a:t>
            </a:r>
          </a:p>
          <a:p>
            <a:pPr marL="971550" indent="-457200" eaLnBrk="1" fontAlgn="auto" hangingPunct="1">
              <a:spcAft>
                <a:spcPts val="0"/>
              </a:spcAft>
              <a:buFont typeface="Arial" pitchFamily="34" charset="0"/>
              <a:buChar char="•"/>
              <a:defRPr/>
            </a:pPr>
            <a:r>
              <a:rPr lang="en-US" smtClean="0"/>
              <a:t>Probabilitas Si Ani terkena alergi tanpa memandang gejala apapun; p(Alergi) = 0,7.</a:t>
            </a:r>
            <a:endParaRPr lang="en-US"/>
          </a:p>
        </p:txBody>
      </p:sp>
    </p:spTree>
    <p:extLst>
      <p:ext uri="{BB962C8B-B14F-4D97-AF65-F5344CB8AC3E}">
        <p14:creationId xmlns:p14="http://schemas.microsoft.com/office/powerpoint/2010/main" val="38010949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457200" y="1219200"/>
            <a:ext cx="8229600" cy="4937125"/>
          </a:xfrm>
        </p:spPr>
        <p:txBody>
          <a:bodyPr>
            <a:normAutofit/>
          </a:bodyPr>
          <a:lstStyle/>
          <a:p>
            <a:pPr marL="514350" indent="-514350" eaLnBrk="1" fontAlgn="auto" hangingPunct="1">
              <a:spcAft>
                <a:spcPts val="0"/>
              </a:spcAft>
              <a:buFont typeface="+mj-lt"/>
              <a:buAutoNum type="arabicPeriod" startAt="3"/>
              <a:defRPr/>
            </a:pPr>
            <a:r>
              <a:rPr lang="en-US" smtClean="0"/>
              <a:t>Jerawat, dengan</a:t>
            </a:r>
          </a:p>
          <a:p>
            <a:pPr marL="857250" indent="-400050" eaLnBrk="1" fontAlgn="auto" hangingPunct="1">
              <a:spcAft>
                <a:spcPts val="0"/>
              </a:spcAft>
              <a:buFont typeface="Arial" pitchFamily="34" charset="0"/>
              <a:buChar char="•"/>
              <a:defRPr/>
            </a:pPr>
            <a:r>
              <a:rPr lang="en-US" smtClean="0"/>
              <a:t>	Probabilitas munculnya bintik-bintik di wajah, jika Si Ani jerawatan; p(Bintik2|Jerawatan) = 0,9.</a:t>
            </a:r>
          </a:p>
          <a:p>
            <a:pPr marL="857250" indent="-400050" eaLnBrk="1" fontAlgn="auto" hangingPunct="1">
              <a:spcAft>
                <a:spcPts val="0"/>
              </a:spcAft>
              <a:buFont typeface="Arial" pitchFamily="34" charset="0"/>
              <a:buChar char="•"/>
              <a:defRPr/>
            </a:pPr>
            <a:r>
              <a:rPr lang="en-US" smtClean="0"/>
              <a:t>Probabilitas Si Ani jerawatan tanpa memandang gejala apapun;  p(Jerawatan) = 0,5.</a:t>
            </a:r>
            <a:endParaRPr lang="en-US"/>
          </a:p>
        </p:txBody>
      </p:sp>
    </p:spTree>
    <p:extLst>
      <p:ext uri="{BB962C8B-B14F-4D97-AF65-F5344CB8AC3E}">
        <p14:creationId xmlns:p14="http://schemas.microsoft.com/office/powerpoint/2010/main" val="36384267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endParaRPr lang="id-ID" smtClean="0"/>
          </a:p>
        </p:txBody>
      </p:sp>
      <p:pic>
        <p:nvPicPr>
          <p:cNvPr id="47107"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57200" y="1276350"/>
            <a:ext cx="8229600" cy="4972050"/>
          </a:xfrm>
          <a:noFill/>
        </p:spPr>
      </p:pic>
    </p:spTree>
    <p:extLst>
      <p:ext uri="{BB962C8B-B14F-4D97-AF65-F5344CB8AC3E}">
        <p14:creationId xmlns:p14="http://schemas.microsoft.com/office/powerpoint/2010/main" val="20572317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endParaRPr lang="id-ID" smtClean="0"/>
          </a:p>
        </p:txBody>
      </p:sp>
      <p:pic>
        <p:nvPicPr>
          <p:cNvPr id="48131"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81000" y="1447800"/>
            <a:ext cx="8326438" cy="2895600"/>
          </a:xfrm>
          <a:noFill/>
        </p:spPr>
      </p:pic>
    </p:spTree>
    <p:extLst>
      <p:ext uri="{BB962C8B-B14F-4D97-AF65-F5344CB8AC3E}">
        <p14:creationId xmlns:p14="http://schemas.microsoft.com/office/powerpoint/2010/main" val="20620386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endParaRPr lang="id-ID" smtClean="0"/>
          </a:p>
        </p:txBody>
      </p:sp>
      <p:pic>
        <p:nvPicPr>
          <p:cNvPr id="49155"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14400" y="1219200"/>
            <a:ext cx="7315200" cy="5087938"/>
          </a:xfrm>
          <a:noFill/>
        </p:spPr>
      </p:pic>
    </p:spTree>
    <p:extLst>
      <p:ext uri="{BB962C8B-B14F-4D97-AF65-F5344CB8AC3E}">
        <p14:creationId xmlns:p14="http://schemas.microsoft.com/office/powerpoint/2010/main" val="24646161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endParaRPr lang="id-ID" smtClean="0"/>
          </a:p>
        </p:txBody>
      </p:sp>
      <p:sp>
        <p:nvSpPr>
          <p:cNvPr id="38915" name="Content Placeholder 2"/>
          <p:cNvSpPr>
            <a:spLocks noGrp="1"/>
          </p:cNvSpPr>
          <p:nvPr>
            <p:ph sz="quarter" idx="1"/>
          </p:nvPr>
        </p:nvSpPr>
        <p:spPr>
          <a:xfrm>
            <a:off x="457200" y="3276600"/>
            <a:ext cx="8229600" cy="2879725"/>
          </a:xfrm>
        </p:spPr>
        <p:txBody>
          <a:bodyPr>
            <a:normAutofit lnSpcReduction="10000"/>
          </a:bodyPr>
          <a:lstStyle/>
          <a:p>
            <a:pPr marL="274320" indent="-274320" eaLnBrk="1" fontAlgn="auto" hangingPunct="1">
              <a:spcAft>
                <a:spcPts val="0"/>
              </a:spcAft>
              <a:buFont typeface="Wingdings 3"/>
              <a:buChar char=""/>
              <a:defRPr/>
            </a:pPr>
            <a:r>
              <a:rPr lang="en-US" smtClean="0"/>
              <a:t>Bintik-bintik di wajah merupakan gejala bahwa seseorang terkena cacar. </a:t>
            </a:r>
          </a:p>
          <a:p>
            <a:pPr marL="274320" indent="-274320" eaLnBrk="1" fontAlgn="auto" hangingPunct="1">
              <a:spcAft>
                <a:spcPts val="0"/>
              </a:spcAft>
              <a:buFont typeface="Wingdings 3"/>
              <a:buChar char=""/>
              <a:defRPr/>
            </a:pPr>
            <a:r>
              <a:rPr lang="en-US" smtClean="0"/>
              <a:t>Observasi baru menunjukkan bahwa selain adanya bintik-bintik di wajah, panas badan juga merupakan gejala orang terkena cacar. </a:t>
            </a:r>
          </a:p>
          <a:p>
            <a:pPr marL="274320" indent="-274320" eaLnBrk="1" fontAlgn="auto" hangingPunct="1">
              <a:spcAft>
                <a:spcPts val="0"/>
              </a:spcAft>
              <a:buFont typeface="Wingdings 3"/>
              <a:buChar char=""/>
              <a:defRPr/>
            </a:pPr>
            <a:r>
              <a:rPr lang="en-US" smtClean="0"/>
              <a:t>Antara munculnya bintik-bintik di wajah dan panas badan juga memiliki keterkaitan satu sama lain.</a:t>
            </a:r>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295400"/>
            <a:ext cx="27432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09720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endParaRPr lang="id-ID" smtClean="0"/>
          </a:p>
        </p:txBody>
      </p:sp>
      <p:pic>
        <p:nvPicPr>
          <p:cNvPr id="51203"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06400" y="1371600"/>
            <a:ext cx="8356600" cy="4572000"/>
          </a:xfrm>
          <a:noFill/>
        </p:spPr>
      </p:pic>
    </p:spTree>
    <p:extLst>
      <p:ext uri="{BB962C8B-B14F-4D97-AF65-F5344CB8AC3E}">
        <p14:creationId xmlns:p14="http://schemas.microsoft.com/office/powerpoint/2010/main" val="24210014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endParaRPr lang="id-ID" smtClean="0"/>
          </a:p>
        </p:txBody>
      </p:sp>
      <p:pic>
        <p:nvPicPr>
          <p:cNvPr id="52227"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3400" y="1447800"/>
            <a:ext cx="8191500" cy="2971800"/>
          </a:xfrm>
          <a:noFill/>
        </p:spPr>
      </p:pic>
    </p:spTree>
    <p:extLst>
      <p:ext uri="{BB962C8B-B14F-4D97-AF65-F5344CB8AC3E}">
        <p14:creationId xmlns:p14="http://schemas.microsoft.com/office/powerpoint/2010/main" val="25628844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smtClean="0"/>
              <a:t>Contoh 2 :</a:t>
            </a:r>
          </a:p>
        </p:txBody>
      </p:sp>
      <p:sp>
        <p:nvSpPr>
          <p:cNvPr id="53251" name="Content Placeholder 2"/>
          <p:cNvSpPr>
            <a:spLocks noGrp="1"/>
          </p:cNvSpPr>
          <p:nvPr>
            <p:ph sz="quarter" idx="1"/>
          </p:nvPr>
        </p:nvSpPr>
        <p:spPr>
          <a:xfrm>
            <a:off x="457200" y="1219200"/>
            <a:ext cx="3124200" cy="4937125"/>
          </a:xfrm>
        </p:spPr>
        <p:txBody>
          <a:bodyPr/>
          <a:lstStyle/>
          <a:p>
            <a:pPr eaLnBrk="1" hangingPunct="1"/>
            <a:r>
              <a:rPr lang="en-US" sz="2000" smtClean="0"/>
              <a:t>Seorang dokter mengetahui bahwa penyakit maningitis menyebabkan ”stiff neck” adalah </a:t>
            </a:r>
          </a:p>
          <a:p>
            <a:pPr eaLnBrk="1" hangingPunct="1"/>
            <a:r>
              <a:rPr lang="en-US" sz="2000" smtClean="0"/>
              <a:t>50%. Probabilitas pasien menderita maningitis adalah 1/50000 dan probabilitas pasien </a:t>
            </a:r>
          </a:p>
          <a:p>
            <a:pPr eaLnBrk="1" hangingPunct="1"/>
            <a:r>
              <a:rPr lang="en-US" sz="2000" smtClean="0"/>
              <a:t>menderita stiff neck adalah 1/20 dari nilai-nilai tersebut didapatkan :</a:t>
            </a:r>
          </a:p>
        </p:txBody>
      </p:sp>
      <p:pic>
        <p:nvPicPr>
          <p:cNvPr id="532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5" y="1905000"/>
            <a:ext cx="46831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86595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smtClean="0"/>
              <a:t>SOAL LATIHAN 1</a:t>
            </a:r>
          </a:p>
        </p:txBody>
      </p:sp>
      <p:sp>
        <p:nvSpPr>
          <p:cNvPr id="54275" name="Content Placeholder 2"/>
          <p:cNvSpPr>
            <a:spLocks noGrp="1"/>
          </p:cNvSpPr>
          <p:nvPr>
            <p:ph sz="quarter" idx="1"/>
          </p:nvPr>
        </p:nvSpPr>
        <p:spPr>
          <a:xfrm>
            <a:off x="457200" y="1219200"/>
            <a:ext cx="8229600" cy="4937125"/>
          </a:xfrm>
        </p:spPr>
        <p:txBody>
          <a:bodyPr/>
          <a:lstStyle/>
          <a:p>
            <a:pPr eaLnBrk="1" hangingPunct="1"/>
            <a:r>
              <a:rPr lang="en-US" smtClean="0"/>
              <a:t>Tabel berikut menunjukkan tabel probabilitas bersyarat dari gejala penyakit kulit.</a:t>
            </a:r>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endParaRPr lang="en-US" smtClean="0"/>
          </a:p>
        </p:txBody>
      </p:sp>
      <p:pic>
        <p:nvPicPr>
          <p:cNvPr id="542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33600"/>
            <a:ext cx="8686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648200"/>
            <a:ext cx="87979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6686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eaLnBrk="1" hangingPunct="1"/>
            <a:endParaRPr lang="id-ID" smtClean="0"/>
          </a:p>
        </p:txBody>
      </p:sp>
      <p:sp>
        <p:nvSpPr>
          <p:cNvPr id="3" name="Content Placeholder 2"/>
          <p:cNvSpPr>
            <a:spLocks noGrp="1"/>
          </p:cNvSpPr>
          <p:nvPr>
            <p:ph sz="quarter" idx="1"/>
          </p:nvPr>
        </p:nvSpPr>
        <p:spPr>
          <a:xfrm>
            <a:off x="457200" y="1219200"/>
            <a:ext cx="8229600" cy="4937125"/>
          </a:xfrm>
        </p:spPr>
        <p:txBody>
          <a:bodyPr>
            <a:normAutofit/>
          </a:bodyPr>
          <a:lstStyle/>
          <a:p>
            <a:pPr marL="274320" indent="-274320" eaLnBrk="1" fontAlgn="auto" hangingPunct="1">
              <a:spcAft>
                <a:spcPts val="0"/>
              </a:spcAft>
              <a:buFont typeface="Wingdings 3"/>
              <a:buNone/>
              <a:defRPr/>
            </a:pPr>
            <a:r>
              <a:rPr lang="en-US" smtClean="0"/>
              <a:t>Pertanyaan :</a:t>
            </a:r>
          </a:p>
          <a:p>
            <a:pPr marL="514350" indent="-514350" eaLnBrk="1" fontAlgn="auto" hangingPunct="1">
              <a:spcAft>
                <a:spcPts val="0"/>
              </a:spcAft>
              <a:buFont typeface="Wingdings 3"/>
              <a:buAutoNum type="alphaUcPeriod"/>
              <a:defRPr/>
            </a:pPr>
            <a:r>
              <a:rPr lang="en-US" smtClean="0"/>
              <a:t>Bila ada seorang yang menderita gejala gatal-gatal, demam. Tentukan penyakit yang diderita oleh orang tersebut menggunakan teorema bayes !!!!</a:t>
            </a:r>
          </a:p>
          <a:p>
            <a:pPr marL="514350" indent="-514350" eaLnBrk="1" fontAlgn="auto" hangingPunct="1">
              <a:spcAft>
                <a:spcPts val="0"/>
              </a:spcAft>
              <a:buFont typeface="Wingdings 3"/>
              <a:buAutoNum type="alphaUcPeriod"/>
              <a:defRPr/>
            </a:pPr>
            <a:r>
              <a:rPr lang="en-US" smtClean="0"/>
              <a:t>Bila beberapa hari kemudian muncul gejala lainnya yaitu muncul peradangan folikuler kecil &amp; merah yang membesar. Tentukan penyakit yang diderita oleh orang tersebut menggunakan teorema bayes !</a:t>
            </a:r>
            <a:endParaRPr lang="en-US"/>
          </a:p>
        </p:txBody>
      </p:sp>
    </p:spTree>
    <p:extLst>
      <p:ext uri="{BB962C8B-B14F-4D97-AF65-F5344CB8AC3E}">
        <p14:creationId xmlns:p14="http://schemas.microsoft.com/office/powerpoint/2010/main" val="1603146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r>
              <a:rPr lang="en-US" smtClean="0"/>
              <a:t>SOAL LATIHAN 2</a:t>
            </a:r>
          </a:p>
        </p:txBody>
      </p:sp>
      <p:sp>
        <p:nvSpPr>
          <p:cNvPr id="3" name="Content Placeholder 2"/>
          <p:cNvSpPr>
            <a:spLocks noGrp="1"/>
          </p:cNvSpPr>
          <p:nvPr>
            <p:ph sz="quarter" idx="1"/>
          </p:nvPr>
        </p:nvSpPr>
        <p:spPr>
          <a:xfrm>
            <a:off x="457200" y="1219200"/>
            <a:ext cx="8229600" cy="4937125"/>
          </a:xfrm>
        </p:spPr>
        <p:txBody>
          <a:bodyPr>
            <a:noAutofit/>
          </a:bodyPr>
          <a:lstStyle/>
          <a:p>
            <a:pPr marL="0" indent="0" eaLnBrk="1" fontAlgn="auto" hangingPunct="1">
              <a:spcAft>
                <a:spcPts val="0"/>
              </a:spcAft>
              <a:buFont typeface="Wingdings 3"/>
              <a:buNone/>
              <a:defRPr/>
            </a:pPr>
            <a:r>
              <a:rPr lang="en-US" sz="2400" smtClean="0"/>
              <a:t>Suatu generator telekomunikasi nirkabel mempunyai 3 pilihan tempat untuk membangun pemancar sinyal yaitu didaerah tengah kota, daerah kaki bukit dikota itu  dan derah tepi pantai, dengan masing-masing mempunyai probabilitas 0.4; 0.3 dan 0.5. Bila pemancar dibangun ditengah kota, probabilitas terjadi ganguan sinyal adalah 0.03. Bila pemancar dibangun dikaki bukit, probabilitas terjadinya ganguan sinyal adalah 0.05. Bila pemancar dibangun ditepi pantai, probabilitas gangguan sinyal adalah 0.08.</a:t>
            </a:r>
          </a:p>
          <a:p>
            <a:pPr marL="274320" indent="-274320" eaLnBrk="1" fontAlgn="auto" hangingPunct="1">
              <a:spcAft>
                <a:spcPts val="0"/>
              </a:spcAft>
              <a:buFont typeface="Wingdings 3"/>
              <a:buNone/>
              <a:defRPr/>
            </a:pPr>
            <a:r>
              <a:rPr lang="en-US" sz="2400" smtClean="0"/>
              <a:t>A. Berapakah probabilitas terjadinya ganguan sinyal.</a:t>
            </a:r>
          </a:p>
          <a:p>
            <a:pPr marL="274320" indent="-274320" eaLnBrk="1" fontAlgn="auto" hangingPunct="1">
              <a:spcAft>
                <a:spcPts val="0"/>
              </a:spcAft>
              <a:buFont typeface="Wingdings 3"/>
              <a:buNone/>
              <a:defRPr/>
            </a:pPr>
            <a:r>
              <a:rPr lang="en-US" sz="2400" smtClean="0"/>
              <a:t>B. Bila diketahui telah terjadinya gangguan pada sinyal, berapa probabilitas bahwa operator tsb ternyata telah membangun pemancar di kaki bukit.</a:t>
            </a:r>
            <a:endParaRPr lang="en-US" sz="2400"/>
          </a:p>
        </p:txBody>
      </p:sp>
    </p:spTree>
    <p:extLst>
      <p:ext uri="{BB962C8B-B14F-4D97-AF65-F5344CB8AC3E}">
        <p14:creationId xmlns:p14="http://schemas.microsoft.com/office/powerpoint/2010/main" val="1019845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3568" y="2564904"/>
            <a:ext cx="7886700" cy="1325563"/>
          </a:xfrm>
        </p:spPr>
        <p:txBody>
          <a:bodyPr/>
          <a:lstStyle/>
          <a:p>
            <a:pPr algn="ctr"/>
            <a:r>
              <a:rPr lang="en-US" dirty="0" err="1" smtClean="0"/>
              <a:t>Terima</a:t>
            </a:r>
            <a:r>
              <a:rPr lang="en-US" dirty="0" smtClean="0"/>
              <a:t> </a:t>
            </a:r>
            <a:r>
              <a:rPr lang="en-US" dirty="0" err="1" smtClean="0"/>
              <a:t>Kasih</a:t>
            </a:r>
            <a:endParaRPr lang="en-US" dirty="0"/>
          </a:p>
        </p:txBody>
      </p:sp>
    </p:spTree>
    <p:extLst>
      <p:ext uri="{BB962C8B-B14F-4D97-AF65-F5344CB8AC3E}">
        <p14:creationId xmlns:p14="http://schemas.microsoft.com/office/powerpoint/2010/main" val="822262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de ICECREAM Ridwan - Melc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7841</TotalTime>
  <Words>1128</Words>
  <Application>Microsoft Office PowerPoint</Application>
  <PresentationFormat>On-screen Show (4:3)</PresentationFormat>
  <Paragraphs>178</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宋体</vt:lpstr>
      <vt:lpstr>Arial</vt:lpstr>
      <vt:lpstr>Calibri</vt:lpstr>
      <vt:lpstr>Calibri Light</vt:lpstr>
      <vt:lpstr>Times New Roman</vt:lpstr>
      <vt:lpstr>Wingdings</vt:lpstr>
      <vt:lpstr>Wingdings 3</vt:lpstr>
      <vt:lpstr>Slide ICECREAM Ridwan - Melcin</vt:lpstr>
      <vt:lpstr>Probabilitas &amp; Teorema Bayes</vt:lpstr>
      <vt:lpstr>Outline</vt:lpstr>
      <vt:lpstr>Ketidakpastian</vt:lpstr>
      <vt:lpstr>Teori Penyelesaian Ketidakpastian</vt:lpstr>
      <vt:lpstr>Ketidakpastian Aturan</vt:lpstr>
      <vt:lpstr>Aturan Tunggal</vt:lpstr>
      <vt:lpstr>Probabilitas</vt:lpstr>
      <vt:lpstr>PowerPoint Presentation</vt:lpstr>
      <vt:lpstr>Probabilitas berbobot</vt:lpstr>
      <vt:lpstr>PowerPoint Presentation</vt:lpstr>
      <vt:lpstr>Teori Probabilitas</vt:lpstr>
      <vt:lpstr>probabilitas</vt:lpstr>
      <vt:lpstr>Probabilitas bersyarat</vt:lpstr>
      <vt:lpstr>PowerPoint Presentation</vt:lpstr>
      <vt:lpstr>Teorema Bayes</vt:lpstr>
      <vt:lpstr>PowerPoint Presentation</vt:lpstr>
      <vt:lpstr>PowerPoint Presentation</vt:lpstr>
      <vt:lpstr>PowerPoint Presentation</vt:lpstr>
      <vt:lpstr>PowerPoint Presentation</vt:lpstr>
      <vt:lpstr>Bentuk Teorema Bayes untuk evidence tunggal E dan hipotesis ganda H1, H2, …. Hn</vt:lpstr>
      <vt:lpstr>PowerPoint Presentation</vt:lpstr>
      <vt:lpstr>PowerPoint Presentation</vt:lpstr>
      <vt:lpstr>Contoh kasus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Contoh soal lainnya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Contoh 2 :</vt:lpstr>
      <vt:lpstr>SOAL LATIHAN 1</vt:lpstr>
      <vt:lpstr>PowerPoint Presentation</vt:lpstr>
      <vt:lpstr>SOAL LATIHAN 2</vt:lpstr>
      <vt:lpstr>Terima Kasih</vt:lpstr>
    </vt:vector>
  </TitlesOfParts>
  <Company>imam's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 – Pert 1</dc:title>
  <dc:creator>vipkas</dc:creator>
  <cp:lastModifiedBy>firdaus khan</cp:lastModifiedBy>
  <cp:revision>648</cp:revision>
  <dcterms:created xsi:type="dcterms:W3CDTF">2010-03-15T04:49:00Z</dcterms:created>
  <dcterms:modified xsi:type="dcterms:W3CDTF">2019-03-10T18:20:45Z</dcterms:modified>
</cp:coreProperties>
</file>