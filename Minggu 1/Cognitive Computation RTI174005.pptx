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3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69" r:id="rId17"/>
    <p:sldId id="270" r:id="rId18"/>
    <p:sldId id="271" r:id="rId19"/>
    <p:sldId id="272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1E454CC-D2F3-44C8-A84B-DE9A2D664CD4}">
          <p14:sldIdLst>
            <p14:sldId id="256"/>
            <p14:sldId id="257"/>
            <p14:sldId id="258"/>
            <p14:sldId id="259"/>
            <p14:sldId id="260"/>
            <p14:sldId id="262"/>
            <p14:sldId id="273"/>
            <p14:sldId id="261"/>
            <p14:sldId id="263"/>
            <p14:sldId id="264"/>
            <p14:sldId id="265"/>
            <p14:sldId id="266"/>
            <p14:sldId id="267"/>
            <p14:sldId id="268"/>
            <p14:sldId id="276"/>
            <p14:sldId id="269"/>
            <p14:sldId id="270"/>
            <p14:sldId id="271"/>
            <p14:sldId id="272"/>
            <p14:sldId id="274"/>
            <p14:sldId id="275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72" autoAdjust="0"/>
    <p:restoredTop sz="95701"/>
  </p:normalViewPr>
  <p:slideViewPr>
    <p:cSldViewPr snapToGrid="0">
      <p:cViewPr varScale="1">
        <p:scale>
          <a:sx n="102" d="100"/>
          <a:sy n="102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6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0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7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3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1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0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11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65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4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1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719DD-0D22-4875-9F48-470906E664DD}" type="datetimeFigureOut">
              <a:rPr lang="en-US" smtClean="0"/>
              <a:t>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2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ms.jti.polinema.ac.id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53" y="248194"/>
            <a:ext cx="11717383" cy="3261769"/>
          </a:xfrm>
        </p:spPr>
        <p:txBody>
          <a:bodyPr>
            <a:normAutofit/>
          </a:bodyPr>
          <a:lstStyle/>
          <a:p>
            <a:r>
              <a:rPr lang="en-US" dirty="0" smtClean="0"/>
              <a:t>Cognitive Computation RTI174005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b="1" dirty="0" err="1" smtClean="0"/>
              <a:t>Pengenalan</a:t>
            </a:r>
            <a:r>
              <a:rPr lang="en-US" sz="4000" b="1" dirty="0" smtClean="0"/>
              <a:t> Cognitive Computing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44" y="4673192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Semester </a:t>
            </a:r>
            <a:r>
              <a:rPr lang="en-US" dirty="0" err="1" smtClean="0"/>
              <a:t>Genap</a:t>
            </a:r>
            <a:r>
              <a:rPr lang="en-US" dirty="0" smtClean="0"/>
              <a:t> 2018/2019,</a:t>
            </a:r>
          </a:p>
          <a:p>
            <a:r>
              <a:rPr lang="en-US" dirty="0" err="1" smtClean="0"/>
              <a:t>Minggu</a:t>
            </a:r>
            <a:r>
              <a:rPr lang="en-US" dirty="0" smtClean="0"/>
              <a:t> 1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Rosa </a:t>
            </a:r>
            <a:r>
              <a:rPr lang="en-US" dirty="0" err="1" smtClean="0"/>
              <a:t>Andrie</a:t>
            </a:r>
            <a:r>
              <a:rPr lang="en-US" dirty="0" smtClean="0"/>
              <a:t> A., </a:t>
            </a:r>
            <a:r>
              <a:rPr lang="en-US" dirty="0" err="1" smtClean="0"/>
              <a:t>Arie</a:t>
            </a:r>
            <a:r>
              <a:rPr lang="en-US" dirty="0" smtClean="0"/>
              <a:t> </a:t>
            </a:r>
            <a:r>
              <a:rPr lang="en-US" dirty="0" err="1" smtClean="0"/>
              <a:t>Rachmad</a:t>
            </a:r>
            <a:r>
              <a:rPr lang="en-US" dirty="0" smtClean="0"/>
              <a:t> S, </a:t>
            </a:r>
            <a:r>
              <a:rPr lang="en-US" dirty="0" err="1" smtClean="0"/>
              <a:t>Vipkas</a:t>
            </a:r>
            <a:r>
              <a:rPr lang="en-US" dirty="0" smtClean="0"/>
              <a:t> 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74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Kontrak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Pengenalan</a:t>
            </a:r>
            <a:r>
              <a:rPr lang="en-US" dirty="0" smtClean="0"/>
              <a:t> Cognitive Computing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Connectionism – Perceptron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Connectionism – Perceptron Program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Connectionism – Backpropagation Program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Q1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Basic Bayesian Inference – Probabilistic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Simple Bayesian Learning Program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29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Kontrak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14314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Supervised, Unsupervised, </a:t>
            </a:r>
            <a:r>
              <a:rPr lang="en-US" dirty="0" err="1" smtClean="0"/>
              <a:t>dan</a:t>
            </a:r>
            <a:r>
              <a:rPr lang="en-US" dirty="0" smtClean="0"/>
              <a:t> Semi-Supervised Learning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Supervised KNN Program Development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Unsupervised </a:t>
            </a:r>
            <a:r>
              <a:rPr lang="en-US" dirty="0" err="1" smtClean="0"/>
              <a:t>Kmeans</a:t>
            </a:r>
            <a:r>
              <a:rPr lang="en-US" dirty="0" smtClean="0"/>
              <a:t> Program Development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Q2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Semantic Network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Semantic Network – Hierarchical Network Program Development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Semantic Network – Small Word Graph Program Development, </a:t>
            </a:r>
            <a:r>
              <a:rPr lang="en-US" dirty="0" err="1" smtClean="0"/>
              <a:t>Tugas</a:t>
            </a:r>
            <a:endParaRPr lang="en-US" dirty="0" smtClean="0"/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Review </a:t>
            </a:r>
            <a:r>
              <a:rPr lang="en-US" dirty="0" err="1" smtClean="0"/>
              <a:t>Materi</a:t>
            </a:r>
            <a:endParaRPr lang="en-US" dirty="0" smtClean="0"/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UAS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2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Penilaian</a:t>
            </a:r>
            <a:r>
              <a:rPr lang="en-US" dirty="0" smtClean="0"/>
              <a:t> : 2x </a:t>
            </a:r>
            <a:r>
              <a:rPr lang="en-US" dirty="0" err="1" smtClean="0"/>
              <a:t>Kuis</a:t>
            </a:r>
            <a:r>
              <a:rPr lang="en-US" dirty="0" smtClean="0"/>
              <a:t> 20%, 1UTS 20%, 1 </a:t>
            </a:r>
            <a:r>
              <a:rPr lang="en-US" dirty="0" err="1" smtClean="0"/>
              <a:t>Tugas</a:t>
            </a:r>
            <a:r>
              <a:rPr lang="en-US" dirty="0" smtClean="0"/>
              <a:t> 25%, 1UAS 35%</a:t>
            </a:r>
          </a:p>
          <a:p>
            <a:r>
              <a:rPr lang="en-US" dirty="0" smtClean="0"/>
              <a:t>2 SKS, 4 Jam </a:t>
            </a:r>
            <a:r>
              <a:rPr lang="en-US" dirty="0" err="1" smtClean="0"/>
              <a:t>Tatap</a:t>
            </a:r>
            <a:r>
              <a:rPr lang="en-US" dirty="0" smtClean="0"/>
              <a:t> </a:t>
            </a:r>
            <a:r>
              <a:rPr lang="en-US" dirty="0" err="1" smtClean="0"/>
              <a:t>Muka</a:t>
            </a:r>
            <a:endParaRPr lang="en-US" dirty="0" smtClean="0"/>
          </a:p>
          <a:p>
            <a:r>
              <a:rPr lang="en-US" dirty="0" err="1" smtClean="0"/>
              <a:t>Perkuliahan</a:t>
            </a:r>
            <a:r>
              <a:rPr lang="en-US" dirty="0" smtClean="0"/>
              <a:t> </a:t>
            </a:r>
            <a:r>
              <a:rPr lang="en-US" dirty="0" err="1" smtClean="0"/>
              <a:t>Mulai</a:t>
            </a:r>
            <a:r>
              <a:rPr lang="en-US" dirty="0" smtClean="0"/>
              <a:t> 4 </a:t>
            </a:r>
            <a:r>
              <a:rPr lang="en-US" dirty="0" err="1" smtClean="0"/>
              <a:t>Peb</a:t>
            </a:r>
            <a:r>
              <a:rPr lang="en-US" dirty="0" smtClean="0"/>
              <a:t> 2019, UAS </a:t>
            </a:r>
            <a:r>
              <a:rPr lang="en-US" dirty="0" err="1" smtClean="0"/>
              <a:t>tgl</a:t>
            </a:r>
            <a:r>
              <a:rPr lang="en-US" dirty="0" smtClean="0"/>
              <a:t> 27 – 31 Mei 2019 (?) </a:t>
            </a:r>
            <a:r>
              <a:rPr lang="en-US" dirty="0" err="1" smtClean="0"/>
              <a:t>tgl</a:t>
            </a:r>
            <a:r>
              <a:rPr lang="en-US" dirty="0" smtClean="0"/>
              <a:t> 30mei </a:t>
            </a:r>
            <a:r>
              <a:rPr lang="en-US" dirty="0" err="1" smtClean="0"/>
              <a:t>lebaran</a:t>
            </a:r>
            <a:r>
              <a:rPr lang="en-US" dirty="0" smtClean="0"/>
              <a:t>, </a:t>
            </a:r>
            <a:r>
              <a:rPr lang="en-US" dirty="0" err="1" smtClean="0"/>
              <a:t>kemungkinan</a:t>
            </a:r>
            <a:r>
              <a:rPr lang="en-US" dirty="0" smtClean="0"/>
              <a:t> UAS </a:t>
            </a:r>
            <a:r>
              <a:rPr lang="en-US" dirty="0" err="1" smtClean="0"/>
              <a:t>mundur</a:t>
            </a:r>
            <a:r>
              <a:rPr lang="en-US" dirty="0" smtClean="0"/>
              <a:t> </a:t>
            </a:r>
            <a:r>
              <a:rPr lang="en-US" dirty="0" err="1" smtClean="0"/>
              <a:t>setelah</a:t>
            </a:r>
            <a:r>
              <a:rPr lang="en-US" dirty="0" smtClean="0"/>
              <a:t> </a:t>
            </a:r>
            <a:r>
              <a:rPr lang="en-US" dirty="0" err="1" smtClean="0"/>
              <a:t>lebaran</a:t>
            </a:r>
            <a:r>
              <a:rPr lang="en-US" dirty="0" smtClean="0"/>
              <a:t> </a:t>
            </a:r>
            <a:r>
              <a:rPr lang="en-US" dirty="0" err="1" smtClean="0"/>
              <a:t>tgl</a:t>
            </a:r>
            <a:r>
              <a:rPr lang="en-US" dirty="0" smtClean="0"/>
              <a:t> 10 – 14 </a:t>
            </a:r>
            <a:r>
              <a:rPr lang="en-US" dirty="0" err="1" smtClean="0"/>
              <a:t>Juni</a:t>
            </a:r>
            <a:endParaRPr lang="en-US" dirty="0" smtClean="0"/>
          </a:p>
          <a:p>
            <a:r>
              <a:rPr lang="en-US" dirty="0" err="1" smtClean="0"/>
              <a:t>Cek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http://lms.jti.polinema.ac.id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materi</a:t>
            </a:r>
            <a:r>
              <a:rPr lang="en-US" dirty="0" smtClean="0"/>
              <a:t> </a:t>
            </a:r>
            <a:r>
              <a:rPr lang="en-US" dirty="0" err="1" smtClean="0"/>
              <a:t>mingguan</a:t>
            </a:r>
            <a:endParaRPr lang="en-US" dirty="0" smtClean="0"/>
          </a:p>
          <a:p>
            <a:r>
              <a:rPr lang="en-US" dirty="0" smtClean="0"/>
              <a:t>Email </a:t>
            </a:r>
            <a:r>
              <a:rPr lang="en-US" dirty="0" err="1" smtClean="0"/>
              <a:t>dosen</a:t>
            </a:r>
            <a:endParaRPr lang="en-US" dirty="0" smtClean="0"/>
          </a:p>
          <a:p>
            <a:pPr lvl="1"/>
            <a:r>
              <a:rPr lang="en-US" dirty="0" smtClean="0"/>
              <a:t>rosa.andrie@polinema.ac.id (TI-2A)</a:t>
            </a:r>
          </a:p>
          <a:p>
            <a:pPr lvl="1"/>
            <a:r>
              <a:rPr lang="en-US" dirty="0" smtClean="0"/>
              <a:t>arie.rachmad.s@gmail.com (TI-2B, 2C, 2D)</a:t>
            </a:r>
          </a:p>
          <a:p>
            <a:pPr lvl="1"/>
            <a:r>
              <a:rPr lang="en-US" dirty="0" smtClean="0"/>
              <a:t>vipkas.firdaus@gmail.com (TI-2E, 2F, 2G)</a:t>
            </a:r>
          </a:p>
          <a:p>
            <a:r>
              <a:rPr lang="en-US" dirty="0" err="1" smtClean="0"/>
              <a:t>Praktikum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Visual Studio Code </a:t>
            </a:r>
            <a:r>
              <a:rPr lang="en-US" dirty="0" err="1" smtClean="0"/>
              <a:t>dan</a:t>
            </a:r>
            <a:r>
              <a:rPr lang="en-US" dirty="0" smtClean="0"/>
              <a:t>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3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4893401" cy="26768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618" y="217931"/>
            <a:ext cx="3381375" cy="5153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294" y="2387239"/>
            <a:ext cx="2920501" cy="425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7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Artificial Intelligence (</a:t>
            </a:r>
            <a:r>
              <a:rPr lang="en-US" dirty="0" err="1" smtClean="0"/>
              <a:t>Kecerdasan</a:t>
            </a:r>
            <a:r>
              <a:rPr lang="en-US" dirty="0" smtClean="0"/>
              <a:t> </a:t>
            </a:r>
            <a:r>
              <a:rPr lang="en-US" dirty="0" err="1" smtClean="0"/>
              <a:t>Buatan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577" y="1825625"/>
            <a:ext cx="11116492" cy="4351338"/>
          </a:xfrm>
        </p:spPr>
        <p:txBody>
          <a:bodyPr/>
          <a:lstStyle/>
          <a:p>
            <a:r>
              <a:rPr lang="en-US" dirty="0" err="1" smtClean="0"/>
              <a:t>Komputer</a:t>
            </a:r>
            <a:r>
              <a:rPr lang="en-US" dirty="0" smtClean="0"/>
              <a:t> </a:t>
            </a:r>
            <a:r>
              <a:rPr lang="en-US" dirty="0" err="1" smtClean="0"/>
              <a:t>bekerja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“</a:t>
            </a:r>
            <a:r>
              <a:rPr lang="en-US" dirty="0" err="1" smtClean="0"/>
              <a:t>cerdas</a:t>
            </a:r>
            <a:r>
              <a:rPr lang="en-US" dirty="0" smtClean="0"/>
              <a:t>”. </a:t>
            </a:r>
            <a:r>
              <a:rPr lang="en-US" dirty="0" err="1" smtClean="0"/>
              <a:t>Komputer</a:t>
            </a:r>
            <a:r>
              <a:rPr lang="en-US" dirty="0" smtClean="0"/>
              <a:t> </a:t>
            </a:r>
            <a:r>
              <a:rPr lang="en-US" dirty="0" err="1" smtClean="0"/>
              <a:t>bekerja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r>
              <a:rPr lang="en-US" dirty="0" smtClean="0"/>
              <a:t> yang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mengambil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/>
              <a:t> </a:t>
            </a:r>
            <a:r>
              <a:rPr lang="en-US" dirty="0" smtClean="0"/>
              <a:t>/ </a:t>
            </a:r>
            <a:r>
              <a:rPr lang="en-US" dirty="0" err="1" smtClean="0"/>
              <a:t>mencari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terbaik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Ilmu</a:t>
            </a:r>
            <a:r>
              <a:rPr lang="en-US" dirty="0" smtClean="0"/>
              <a:t> computer </a:t>
            </a:r>
            <a:r>
              <a:rPr lang="en-US" dirty="0" err="1" smtClean="0"/>
              <a:t>mendefinisikan</a:t>
            </a:r>
            <a:r>
              <a:rPr lang="en-US" dirty="0" smtClean="0"/>
              <a:t> AI </a:t>
            </a:r>
            <a:r>
              <a:rPr lang="en-US" dirty="0" err="1" smtClean="0"/>
              <a:t>secara</a:t>
            </a:r>
            <a:r>
              <a:rPr lang="en-US" dirty="0" smtClean="0"/>
              <a:t> general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riset</a:t>
            </a:r>
            <a:r>
              <a:rPr lang="en-US" dirty="0" smtClean="0"/>
              <a:t> </a:t>
            </a:r>
            <a:r>
              <a:rPr lang="en-US" dirty="0" err="1" smtClean="0"/>
              <a:t>pengembangan</a:t>
            </a:r>
            <a:r>
              <a:rPr lang="en-US" dirty="0" smtClean="0"/>
              <a:t> “Intelligent Agent”. </a:t>
            </a:r>
          </a:p>
          <a:p>
            <a:r>
              <a:rPr lang="en-US" dirty="0" smtClean="0"/>
              <a:t>Russel </a:t>
            </a:r>
            <a:r>
              <a:rPr lang="en-US" dirty="0" err="1" smtClean="0"/>
              <a:t>Norvig</a:t>
            </a:r>
            <a:r>
              <a:rPr lang="en-US" dirty="0" smtClean="0"/>
              <a:t> </a:t>
            </a:r>
            <a:r>
              <a:rPr lang="en-US" dirty="0" err="1" smtClean="0"/>
              <a:t>mendefinisikan</a:t>
            </a:r>
            <a:r>
              <a:rPr lang="en-US" dirty="0" smtClean="0"/>
              <a:t> AI : </a:t>
            </a:r>
            <a:r>
              <a:rPr lang="en-US" dirty="0" err="1" smtClean="0"/>
              <a:t>Mesin</a:t>
            </a:r>
            <a:r>
              <a:rPr lang="en-US" dirty="0" smtClean="0"/>
              <a:t> </a:t>
            </a:r>
            <a:r>
              <a:rPr lang="en-US" dirty="0" err="1" smtClean="0"/>
              <a:t>menduplikasi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“Cognitive” </a:t>
            </a:r>
            <a:r>
              <a:rPr lang="en-US" dirty="0" err="1" smtClean="0"/>
              <a:t>otak</a:t>
            </a:r>
            <a:r>
              <a:rPr lang="en-US" dirty="0" smtClean="0"/>
              <a:t> </a:t>
            </a:r>
            <a:r>
              <a:rPr lang="en-US" dirty="0" err="1" smtClean="0"/>
              <a:t>manusia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“learning” </a:t>
            </a:r>
            <a:r>
              <a:rPr lang="en-US" dirty="0" err="1" smtClean="0"/>
              <a:t>dan</a:t>
            </a:r>
            <a:r>
              <a:rPr lang="en-US" dirty="0" smtClean="0"/>
              <a:t> “problem solving”</a:t>
            </a:r>
          </a:p>
          <a:p>
            <a:r>
              <a:rPr lang="en-US" dirty="0" err="1" smtClean="0"/>
              <a:t>Subjectnya</a:t>
            </a:r>
            <a:r>
              <a:rPr lang="en-US" dirty="0" smtClean="0"/>
              <a:t> </a:t>
            </a:r>
            <a:r>
              <a:rPr lang="en-US" dirty="0" err="1" smtClean="0"/>
              <a:t>mencakup</a:t>
            </a:r>
            <a:r>
              <a:rPr lang="en-US" dirty="0" smtClean="0"/>
              <a:t> Machine Learning, NLP, NN, Deep Learning</a:t>
            </a:r>
          </a:p>
          <a:p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batasan</a:t>
            </a:r>
            <a:r>
              <a:rPr lang="en-US" dirty="0" smtClean="0"/>
              <a:t> </a:t>
            </a:r>
            <a:r>
              <a:rPr lang="en-US" dirty="0" err="1" smtClean="0"/>
              <a:t>baku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AI </a:t>
            </a:r>
            <a:r>
              <a:rPr lang="en-US" dirty="0" err="1" smtClean="0"/>
              <a:t>dan</a:t>
            </a:r>
            <a:r>
              <a:rPr lang="en-US" dirty="0" smtClean="0"/>
              <a:t> CC.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Cognitive Computing (CC)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Mengacu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system self-learning yang </a:t>
            </a:r>
            <a:r>
              <a:rPr lang="en-US" dirty="0" err="1" smtClean="0"/>
              <a:t>menggunakan</a:t>
            </a:r>
            <a:r>
              <a:rPr lang="en-US" dirty="0" smtClean="0"/>
              <a:t> data mining, pattern recognition and matching, and NLP </a:t>
            </a:r>
            <a:r>
              <a:rPr lang="en-US" dirty="0" err="1" smtClean="0"/>
              <a:t>sama</a:t>
            </a:r>
            <a:r>
              <a:rPr lang="en-US" dirty="0" smtClean="0"/>
              <a:t>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cara</a:t>
            </a:r>
            <a:r>
              <a:rPr lang="en-US" dirty="0" smtClean="0"/>
              <a:t> </a:t>
            </a:r>
            <a:r>
              <a:rPr lang="en-US" dirty="0" err="1" smtClean="0"/>
              <a:t>kerja</a:t>
            </a:r>
            <a:r>
              <a:rPr lang="en-US" dirty="0" smtClean="0"/>
              <a:t> </a:t>
            </a:r>
            <a:r>
              <a:rPr lang="en-US" dirty="0" err="1" smtClean="0"/>
              <a:t>otak</a:t>
            </a:r>
            <a:r>
              <a:rPr lang="en-US" dirty="0" smtClean="0"/>
              <a:t> </a:t>
            </a:r>
            <a:r>
              <a:rPr lang="en-US" dirty="0" err="1" smtClean="0"/>
              <a:t>manusia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Patanjali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Cognitive Computing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simulasi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proses </a:t>
            </a:r>
            <a:r>
              <a:rPr lang="en-US" dirty="0" err="1" smtClean="0"/>
              <a:t>pemikiran</a:t>
            </a:r>
            <a:r>
              <a:rPr lang="en-US" dirty="0" smtClean="0"/>
              <a:t> </a:t>
            </a:r>
            <a:r>
              <a:rPr lang="en-US" dirty="0" err="1" smtClean="0"/>
              <a:t>manusia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model computer. CC </a:t>
            </a:r>
            <a:r>
              <a:rPr lang="en-US" dirty="0" err="1" smtClean="0"/>
              <a:t>berkaitan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system self-learning yang </a:t>
            </a:r>
            <a:r>
              <a:rPr lang="en-US" dirty="0" err="1" smtClean="0"/>
              <a:t>menggunakan</a:t>
            </a:r>
            <a:r>
              <a:rPr lang="en-US" dirty="0" smtClean="0"/>
              <a:t> data mining, pattern </a:t>
            </a:r>
            <a:r>
              <a:rPr lang="en-US" dirty="0" err="1" smtClean="0"/>
              <a:t>recog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NLP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menirukan</a:t>
            </a:r>
            <a:r>
              <a:rPr lang="en-US" dirty="0" smtClean="0"/>
              <a:t> </a:t>
            </a:r>
            <a:r>
              <a:rPr lang="en-US" dirty="0" err="1" smtClean="0"/>
              <a:t>bagaimana</a:t>
            </a:r>
            <a:r>
              <a:rPr lang="en-US" dirty="0" smtClean="0"/>
              <a:t> </a:t>
            </a:r>
            <a:r>
              <a:rPr lang="en-US" dirty="0" err="1" smtClean="0"/>
              <a:t>otak</a:t>
            </a:r>
            <a:r>
              <a:rPr lang="en-US" dirty="0" smtClean="0"/>
              <a:t> </a:t>
            </a:r>
            <a:r>
              <a:rPr lang="en-US" dirty="0" err="1" smtClean="0"/>
              <a:t>manusia</a:t>
            </a:r>
            <a:r>
              <a:rPr lang="en-US" dirty="0" smtClean="0"/>
              <a:t> </a:t>
            </a:r>
            <a:r>
              <a:rPr lang="en-US" dirty="0" err="1" smtClean="0"/>
              <a:t>bekerja</a:t>
            </a:r>
            <a:r>
              <a:rPr lang="en-US" dirty="0"/>
              <a:t> </a:t>
            </a:r>
            <a:r>
              <a:rPr lang="en-US" dirty="0" smtClean="0"/>
              <a:t>(Whatis.com)</a:t>
            </a:r>
          </a:p>
          <a:p>
            <a:r>
              <a:rPr lang="en-US" dirty="0" err="1" smtClean="0"/>
              <a:t>Sistem</a:t>
            </a:r>
            <a:r>
              <a:rPr lang="en-US" dirty="0" smtClean="0"/>
              <a:t> CC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berorientasi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antarmuka</a:t>
            </a:r>
            <a:r>
              <a:rPr lang="en-US" dirty="0"/>
              <a:t> </a:t>
            </a:r>
            <a:r>
              <a:rPr lang="en-US" dirty="0" smtClean="0"/>
              <a:t>dialog Natural Language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Machine Learning (Wipro)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1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17" y="-457202"/>
            <a:ext cx="8239023" cy="7738797"/>
          </a:xfrm>
        </p:spPr>
      </p:pic>
      <p:sp>
        <p:nvSpPr>
          <p:cNvPr id="6" name="Oval 5"/>
          <p:cNvSpPr/>
          <p:nvPr/>
        </p:nvSpPr>
        <p:spPr>
          <a:xfrm>
            <a:off x="5133702" y="3412196"/>
            <a:ext cx="2116183" cy="8071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236823" y="2886891"/>
            <a:ext cx="1569077" cy="7968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79255" y="901732"/>
            <a:ext cx="30079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Proses </a:t>
            </a:r>
            <a:r>
              <a:rPr lang="en-US" sz="2800" dirty="0" err="1" smtClean="0"/>
              <a:t>Otomasi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</a:t>
            </a:r>
            <a:r>
              <a:rPr lang="en-US" sz="2800" dirty="0" err="1" smtClean="0"/>
              <a:t>untuk</a:t>
            </a:r>
            <a:r>
              <a:rPr lang="en-US" sz="2800" dirty="0" smtClean="0"/>
              <a:t> </a:t>
            </a:r>
            <a:r>
              <a:rPr lang="en-US" sz="2800" dirty="0" err="1" smtClean="0"/>
              <a:t>menggantikan</a:t>
            </a:r>
            <a:r>
              <a:rPr lang="en-US" sz="2800" dirty="0" smtClean="0"/>
              <a:t> </a:t>
            </a:r>
            <a:r>
              <a:rPr lang="en-US" sz="2800" dirty="0" err="1" smtClean="0"/>
              <a:t>kemampuan</a:t>
            </a:r>
            <a:r>
              <a:rPr lang="en-US" sz="2800" dirty="0" smtClean="0"/>
              <a:t> </a:t>
            </a:r>
            <a:r>
              <a:rPr lang="en-US" sz="2800" dirty="0" err="1" smtClean="0"/>
              <a:t>manusia</a:t>
            </a:r>
            <a:r>
              <a:rPr lang="en-US" sz="2800" dirty="0" smtClean="0"/>
              <a:t>.</a:t>
            </a:r>
          </a:p>
          <a:p>
            <a:r>
              <a:rPr lang="en-US" sz="2800" dirty="0" err="1" smtClean="0"/>
              <a:t>Definisi</a:t>
            </a:r>
            <a:r>
              <a:rPr lang="en-US" sz="2800" dirty="0" smtClean="0"/>
              <a:t> </a:t>
            </a:r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menunjukkan</a:t>
            </a:r>
            <a:r>
              <a:rPr lang="en-US" sz="2800" dirty="0" smtClean="0"/>
              <a:t> </a:t>
            </a:r>
            <a:r>
              <a:rPr lang="en-US" sz="2800" dirty="0" err="1" smtClean="0"/>
              <a:t>kalo</a:t>
            </a:r>
            <a:r>
              <a:rPr lang="en-US" sz="2800" dirty="0" smtClean="0"/>
              <a:t> cc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ai</a:t>
            </a:r>
            <a:r>
              <a:rPr lang="en-US" sz="2800" dirty="0" smtClean="0"/>
              <a:t> </a:t>
            </a:r>
            <a:r>
              <a:rPr lang="en-US" sz="2800" dirty="0" err="1" smtClean="0"/>
              <a:t>tidak</a:t>
            </a:r>
            <a:r>
              <a:rPr lang="en-US" sz="2800" dirty="0" smtClean="0"/>
              <a:t> </a:t>
            </a:r>
            <a:r>
              <a:rPr lang="en-US" sz="2800" dirty="0" err="1" smtClean="0"/>
              <a:t>ada</a:t>
            </a:r>
            <a:r>
              <a:rPr lang="en-US" sz="2800" dirty="0" smtClean="0"/>
              <a:t>  </a:t>
            </a:r>
            <a:r>
              <a:rPr lang="en-US" sz="2800" dirty="0" err="1" smtClean="0"/>
              <a:t>perbedaan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0225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 (ML)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Bagian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AI, </a:t>
            </a:r>
            <a:r>
              <a:rPr lang="en-US" dirty="0" err="1" smtClean="0"/>
              <a:t>studi</a:t>
            </a:r>
            <a:r>
              <a:rPr lang="en-US" dirty="0" smtClean="0"/>
              <a:t> </a:t>
            </a:r>
            <a:r>
              <a:rPr lang="en-US" dirty="0" err="1" smtClean="0"/>
              <a:t>ilmiah</a:t>
            </a:r>
            <a:r>
              <a:rPr lang="en-US" dirty="0" smtClean="0"/>
              <a:t> yang </a:t>
            </a:r>
            <a:r>
              <a:rPr lang="en-US" dirty="0" err="1" smtClean="0"/>
              <a:t>mempelajari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model-model statistic yang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system computer,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bergantung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instruksi</a:t>
            </a:r>
            <a:r>
              <a:rPr lang="en-US" dirty="0" smtClean="0"/>
              <a:t> yang </a:t>
            </a:r>
            <a:r>
              <a:rPr lang="en-US" dirty="0" err="1" smtClean="0"/>
              <a:t>diberikan</a:t>
            </a:r>
            <a:r>
              <a:rPr lang="en-US" dirty="0" smtClean="0"/>
              <a:t>.</a:t>
            </a:r>
          </a:p>
          <a:p>
            <a:r>
              <a:rPr lang="en-US" dirty="0" smtClean="0"/>
              <a:t>ML </a:t>
            </a:r>
            <a:r>
              <a:rPr lang="en-US" dirty="0" err="1" smtClean="0"/>
              <a:t>membuat</a:t>
            </a:r>
            <a:r>
              <a:rPr lang="en-US" dirty="0" smtClean="0"/>
              <a:t> model </a:t>
            </a:r>
            <a:r>
              <a:rPr lang="en-US" dirty="0" err="1" smtClean="0"/>
              <a:t>matematik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data </a:t>
            </a:r>
            <a:r>
              <a:rPr lang="en-US" dirty="0" err="1" smtClean="0"/>
              <a:t>sampel</a:t>
            </a:r>
            <a:r>
              <a:rPr lang="en-US" dirty="0" smtClean="0"/>
              <a:t>,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dikenal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sebutan</a:t>
            </a:r>
            <a:r>
              <a:rPr lang="en-US" dirty="0" smtClean="0"/>
              <a:t> “data training”. Model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prediksi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desisi</a:t>
            </a:r>
            <a:r>
              <a:rPr lang="en-US" dirty="0" smtClean="0"/>
              <a:t>.</a:t>
            </a:r>
          </a:p>
          <a:p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5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Catatan</a:t>
            </a:r>
            <a:r>
              <a:rPr lang="en-US" dirty="0" smtClean="0"/>
              <a:t> </a:t>
            </a:r>
            <a:r>
              <a:rPr lang="en-US" dirty="0" err="1" smtClean="0"/>
              <a:t>penting</a:t>
            </a:r>
            <a:r>
              <a:rPr lang="en-US" dirty="0" smtClean="0"/>
              <a:t> 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7872"/>
          </a:xfrm>
        </p:spPr>
        <p:txBody>
          <a:bodyPr>
            <a:normAutofit/>
          </a:bodyPr>
          <a:lstStyle/>
          <a:p>
            <a:r>
              <a:rPr lang="en-US" dirty="0" smtClean="0"/>
              <a:t>Salah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 smtClean="0"/>
              <a:t> AI yang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computer </a:t>
            </a:r>
            <a:r>
              <a:rPr lang="en-US" dirty="0" err="1" smtClean="0"/>
              <a:t>belajar</a:t>
            </a:r>
            <a:r>
              <a:rPr lang="en-US" dirty="0" smtClean="0"/>
              <a:t> </a:t>
            </a:r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 smtClean="0"/>
              <a:t>instruksi</a:t>
            </a:r>
            <a:r>
              <a:rPr lang="en-US" dirty="0" smtClean="0"/>
              <a:t> program </a:t>
            </a:r>
            <a:r>
              <a:rPr lang="en-US" dirty="0" err="1" smtClean="0"/>
              <a:t>khusus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Machine </a:t>
            </a:r>
            <a:r>
              <a:rPr lang="en-US" dirty="0" err="1" smtClean="0"/>
              <a:t>atau</a:t>
            </a:r>
            <a:r>
              <a:rPr lang="en-US" dirty="0" smtClean="0"/>
              <a:t> software </a:t>
            </a:r>
            <a:r>
              <a:rPr lang="en-US" dirty="0" err="1" smtClean="0"/>
              <a:t>belajar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pengalaman</a:t>
            </a:r>
            <a:r>
              <a:rPr lang="en-US" dirty="0" smtClean="0"/>
              <a:t> </a:t>
            </a:r>
            <a:r>
              <a:rPr lang="en-US" dirty="0" err="1" smtClean="0"/>
              <a:t>lampau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Performansi</a:t>
            </a:r>
            <a:r>
              <a:rPr lang="en-US" dirty="0" smtClean="0"/>
              <a:t> </a:t>
            </a:r>
            <a:r>
              <a:rPr lang="en-US" dirty="0" err="1" smtClean="0"/>
              <a:t>ditingkatkan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program intelligent </a:t>
            </a:r>
            <a:r>
              <a:rPr lang="en-US" dirty="0" err="1" smtClean="0"/>
              <a:t>gaya</a:t>
            </a:r>
            <a:r>
              <a:rPr lang="en-US" dirty="0" smtClean="0"/>
              <a:t> </a:t>
            </a:r>
            <a:r>
              <a:rPr lang="en-US" dirty="0" err="1" smtClean="0"/>
              <a:t>iterasi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Algoritma</a:t>
            </a:r>
            <a:r>
              <a:rPr lang="en-US" dirty="0" smtClean="0"/>
              <a:t> ML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kemampuan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belajar</a:t>
            </a:r>
            <a:r>
              <a:rPr lang="en-US" dirty="0" smtClean="0"/>
              <a:t>, </a:t>
            </a:r>
            <a:r>
              <a:rPr lang="en-US" dirty="0" err="1" smtClean="0"/>
              <a:t>mengajari</a:t>
            </a:r>
            <a:r>
              <a:rPr lang="en-US" dirty="0" smtClean="0"/>
              <a:t>, </a:t>
            </a:r>
            <a:r>
              <a:rPr lang="en-US" dirty="0" err="1" smtClean="0"/>
              <a:t>adaptasi</a:t>
            </a:r>
            <a:r>
              <a:rPr lang="en-US" dirty="0" smtClean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perubahan</a:t>
            </a:r>
            <a:endParaRPr lang="en-US" dirty="0"/>
          </a:p>
          <a:p>
            <a:r>
              <a:rPr lang="en-US" dirty="0" smtClean="0"/>
              <a:t>ML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mengembangkan</a:t>
            </a:r>
            <a:r>
              <a:rPr lang="en-US" dirty="0" smtClean="0"/>
              <a:t> program yang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mesin</a:t>
            </a:r>
            <a:r>
              <a:rPr lang="en-US" dirty="0" smtClean="0"/>
              <a:t> </a:t>
            </a:r>
            <a:r>
              <a:rPr lang="en-US" dirty="0" err="1" smtClean="0"/>
              <a:t>belajar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menyelesaikan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endParaRPr lang="en-US" dirty="0" smtClean="0"/>
          </a:p>
          <a:p>
            <a:r>
              <a:rPr lang="en-US" dirty="0" smtClean="0"/>
              <a:t>Program ML </a:t>
            </a:r>
            <a:r>
              <a:rPr lang="en-US" dirty="0" err="1" smtClean="0"/>
              <a:t>dianggap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performansi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penyelesain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jika</a:t>
            </a:r>
            <a:r>
              <a:rPr lang="en-US" dirty="0" smtClean="0"/>
              <a:t> data </a:t>
            </a:r>
            <a:r>
              <a:rPr lang="en-US" dirty="0" err="1" smtClean="0"/>
              <a:t>sampel</a:t>
            </a:r>
            <a:r>
              <a:rPr lang="en-US" dirty="0" smtClean="0"/>
              <a:t> </a:t>
            </a:r>
            <a:r>
              <a:rPr lang="en-US" dirty="0" err="1" smtClean="0"/>
              <a:t>makin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7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Kapan ML </a:t>
            </a:r>
            <a:r>
              <a:rPr lang="en-US" dirty="0" err="1" smtClean="0"/>
              <a:t>digunakan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Ketika</a:t>
            </a:r>
            <a:r>
              <a:rPr lang="en-US" dirty="0" smtClean="0"/>
              <a:t> system </a:t>
            </a:r>
            <a:r>
              <a:rPr lang="en-US" dirty="0" err="1" smtClean="0"/>
              <a:t>butuh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dinamis</a:t>
            </a:r>
            <a:r>
              <a:rPr lang="en-US" dirty="0" smtClean="0"/>
              <a:t>, self-learning, </a:t>
            </a:r>
            <a:r>
              <a:rPr lang="en-US" dirty="0" err="1" smtClean="0"/>
              <a:t>dan</a:t>
            </a:r>
            <a:r>
              <a:rPr lang="en-US" dirty="0" smtClean="0"/>
              <a:t> adaptive.</a:t>
            </a:r>
          </a:p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diambil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realtime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Ketika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data yang </a:t>
            </a:r>
            <a:r>
              <a:rPr lang="en-US" dirty="0" err="1" smtClean="0"/>
              <a:t>berasal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berbagai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, yang data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 smtClean="0"/>
              <a:t>juga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time </a:t>
            </a:r>
            <a:r>
              <a:rPr lang="en-US" dirty="0" err="1" smtClean="0"/>
              <a:t>seriesnya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2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Aplikasi</a:t>
            </a:r>
            <a:r>
              <a:rPr lang="en-US" dirty="0" smtClean="0"/>
              <a:t> 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 Vision</a:t>
            </a:r>
          </a:p>
          <a:p>
            <a:r>
              <a:rPr lang="en-US" dirty="0" smtClean="0"/>
              <a:t>NLP, syntactic pattern </a:t>
            </a:r>
            <a:r>
              <a:rPr lang="en-US" dirty="0" err="1" smtClean="0"/>
              <a:t>recog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Search Engines, medical analysis, brain-machine interfaces.</a:t>
            </a:r>
          </a:p>
          <a:p>
            <a:r>
              <a:rPr lang="en-US" dirty="0" err="1" smtClean="0"/>
              <a:t>CreditCard</a:t>
            </a:r>
            <a:r>
              <a:rPr lang="en-US" dirty="0" smtClean="0"/>
              <a:t> Fraud Detection, </a:t>
            </a:r>
            <a:r>
              <a:rPr lang="en-US" dirty="0" err="1" smtClean="0"/>
              <a:t>analisa</a:t>
            </a:r>
            <a:r>
              <a:rPr lang="en-US" dirty="0" smtClean="0"/>
              <a:t> </a:t>
            </a:r>
            <a:r>
              <a:rPr lang="en-US" dirty="0" err="1" smtClean="0"/>
              <a:t>pasar</a:t>
            </a:r>
            <a:r>
              <a:rPr lang="en-US" dirty="0" smtClean="0"/>
              <a:t> </a:t>
            </a:r>
            <a:r>
              <a:rPr lang="en-US" dirty="0" err="1" smtClean="0"/>
              <a:t>saham</a:t>
            </a:r>
            <a:r>
              <a:rPr lang="en-US" dirty="0" smtClean="0"/>
              <a:t>, </a:t>
            </a:r>
            <a:r>
              <a:rPr lang="en-US" dirty="0" err="1" smtClean="0"/>
              <a:t>Klasifikasi</a:t>
            </a:r>
            <a:r>
              <a:rPr lang="en-US" dirty="0" smtClean="0"/>
              <a:t> DNA.</a:t>
            </a:r>
          </a:p>
          <a:p>
            <a:r>
              <a:rPr lang="en-US" dirty="0" smtClean="0"/>
              <a:t>Speech </a:t>
            </a:r>
            <a:r>
              <a:rPr lang="en-US" dirty="0" err="1" smtClean="0"/>
              <a:t>dan</a:t>
            </a:r>
            <a:r>
              <a:rPr lang="en-US" dirty="0" smtClean="0"/>
              <a:t> handwriting </a:t>
            </a:r>
            <a:r>
              <a:rPr lang="en-US" dirty="0" err="1" smtClean="0"/>
              <a:t>recog</a:t>
            </a:r>
            <a:r>
              <a:rPr lang="en-US" dirty="0" smtClean="0"/>
              <a:t>, Adaptive websites, Robot Locomotion</a:t>
            </a:r>
          </a:p>
          <a:p>
            <a:r>
              <a:rPr lang="en-US" dirty="0" err="1" smtClean="0"/>
              <a:t>Komputasi</a:t>
            </a:r>
            <a:r>
              <a:rPr lang="en-US" dirty="0" smtClean="0"/>
              <a:t> </a:t>
            </a:r>
            <a:r>
              <a:rPr lang="en-US" dirty="0" err="1" smtClean="0"/>
              <a:t>periklanan</a:t>
            </a:r>
            <a:r>
              <a:rPr lang="en-US" dirty="0" smtClean="0"/>
              <a:t>, </a:t>
            </a:r>
            <a:r>
              <a:rPr lang="en-US" dirty="0" err="1" smtClean="0"/>
              <a:t>Komputasi</a:t>
            </a:r>
            <a:r>
              <a:rPr lang="en-US" dirty="0" smtClean="0"/>
              <a:t> </a:t>
            </a:r>
            <a:r>
              <a:rPr lang="en-US" dirty="0" err="1" smtClean="0"/>
              <a:t>keuangan</a:t>
            </a:r>
            <a:r>
              <a:rPr lang="en-US" dirty="0" smtClean="0"/>
              <a:t>, Monitoring </a:t>
            </a:r>
            <a:r>
              <a:rPr lang="en-US" dirty="0" err="1" smtClean="0"/>
              <a:t>kesehatan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53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9103"/>
            <a:ext cx="12425738" cy="254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4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80" y="0"/>
            <a:ext cx="11752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5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815737" cy="1619795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Arsitektur</a:t>
            </a:r>
            <a:r>
              <a:rPr lang="en-US" sz="3200" dirty="0" smtClean="0"/>
              <a:t> </a:t>
            </a:r>
            <a:r>
              <a:rPr lang="en-US" sz="3200" dirty="0" err="1" smtClean="0"/>
              <a:t>umum</a:t>
            </a:r>
            <a:r>
              <a:rPr lang="en-US" sz="3200" dirty="0" smtClean="0"/>
              <a:t> ML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737" y="-1"/>
            <a:ext cx="9130937" cy="687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60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Supervised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Proses </a:t>
            </a:r>
            <a:r>
              <a:rPr lang="en-US" dirty="0" err="1" smtClean="0"/>
              <a:t>pembelajaran</a:t>
            </a:r>
            <a:r>
              <a:rPr lang="en-US" dirty="0" smtClean="0"/>
              <a:t> (Learning) </a:t>
            </a:r>
            <a:r>
              <a:rPr lang="en-US" dirty="0" err="1" smtClean="0"/>
              <a:t>dimana</a:t>
            </a:r>
            <a:r>
              <a:rPr lang="en-US" dirty="0" smtClean="0"/>
              <a:t> </a:t>
            </a:r>
            <a:r>
              <a:rPr lang="en-US" dirty="0" err="1" smtClean="0"/>
              <a:t>keluarannya</a:t>
            </a:r>
            <a:r>
              <a:rPr lang="en-US" dirty="0" smtClean="0"/>
              <a:t>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diketahui</a:t>
            </a:r>
            <a:r>
              <a:rPr lang="en-US" dirty="0" smtClean="0"/>
              <a:t>.</a:t>
            </a:r>
          </a:p>
          <a:p>
            <a:r>
              <a:rPr lang="en-US" dirty="0" smtClean="0"/>
              <a:t>Data </a:t>
            </a:r>
            <a:r>
              <a:rPr lang="en-US" dirty="0" err="1" smtClean="0"/>
              <a:t>memiliki</a:t>
            </a:r>
            <a:r>
              <a:rPr lang="en-US" dirty="0" smtClean="0"/>
              <a:t> “Label”, </a:t>
            </a:r>
            <a:r>
              <a:rPr lang="en-US" dirty="0" err="1" smtClean="0"/>
              <a:t>dengan</a:t>
            </a:r>
            <a:r>
              <a:rPr lang="en-US" dirty="0" smtClean="0"/>
              <a:t> kata lain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tahu</a:t>
            </a:r>
            <a:r>
              <a:rPr lang="en-US" dirty="0" smtClean="0"/>
              <a:t> </a:t>
            </a:r>
            <a:r>
              <a:rPr lang="en-US" dirty="0" err="1" smtClean="0"/>
              <a:t>apa</a:t>
            </a:r>
            <a:r>
              <a:rPr lang="en-US" dirty="0" smtClean="0"/>
              <a:t> yang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prediksi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Proses </a:t>
            </a:r>
            <a:r>
              <a:rPr lang="en-US" dirty="0" err="1" smtClean="0"/>
              <a:t>pembelajaran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terus</a:t>
            </a:r>
            <a:r>
              <a:rPr lang="en-US" dirty="0" smtClean="0"/>
              <a:t> </a:t>
            </a:r>
            <a:r>
              <a:rPr lang="en-US" dirty="0" err="1" smtClean="0"/>
              <a:t>berlangsung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level </a:t>
            </a:r>
            <a:r>
              <a:rPr lang="en-US" dirty="0" err="1" smtClean="0"/>
              <a:t>kebenaran</a:t>
            </a:r>
            <a:r>
              <a:rPr lang="en-US" dirty="0" smtClean="0"/>
              <a:t> yang </a:t>
            </a:r>
            <a:r>
              <a:rPr lang="en-US" dirty="0" err="1" smtClean="0"/>
              <a:t>diinginkan</a:t>
            </a:r>
            <a:r>
              <a:rPr lang="en-US" dirty="0" smtClean="0"/>
              <a:t> </a:t>
            </a:r>
            <a:r>
              <a:rPr lang="en-US" dirty="0" err="1" smtClean="0"/>
              <a:t>tercapai</a:t>
            </a:r>
            <a:r>
              <a:rPr lang="en-US" dirty="0" smtClean="0"/>
              <a:t>.</a:t>
            </a:r>
          </a:p>
          <a:p>
            <a:r>
              <a:rPr lang="en-US" dirty="0" smtClean="0"/>
              <a:t>Learning / Training / Proses </a:t>
            </a:r>
            <a:r>
              <a:rPr lang="en-US" dirty="0" err="1" smtClean="0"/>
              <a:t>Pembelajaran</a:t>
            </a:r>
            <a:r>
              <a:rPr lang="en-US" dirty="0" smtClean="0"/>
              <a:t>: 	Model </a:t>
            </a:r>
            <a:r>
              <a:rPr lang="en-US" dirty="0" err="1" smtClean="0"/>
              <a:t>belajar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data training</a:t>
            </a:r>
          </a:p>
          <a:p>
            <a:r>
              <a:rPr lang="en-US" dirty="0" smtClean="0"/>
              <a:t>Test: </a:t>
            </a:r>
            <a:r>
              <a:rPr lang="en-US" dirty="0" err="1" smtClean="0"/>
              <a:t>Uji</a:t>
            </a:r>
            <a:r>
              <a:rPr lang="en-US" dirty="0" smtClean="0"/>
              <a:t> </a:t>
            </a:r>
            <a:r>
              <a:rPr lang="en-US" dirty="0" err="1" smtClean="0"/>
              <a:t>coba</a:t>
            </a:r>
            <a:r>
              <a:rPr lang="en-US" dirty="0" smtClean="0"/>
              <a:t> model </a:t>
            </a:r>
            <a:r>
              <a:rPr lang="en-US" dirty="0" err="1" smtClean="0"/>
              <a:t>menggunakan</a:t>
            </a:r>
            <a:r>
              <a:rPr lang="en-US" dirty="0" smtClean="0"/>
              <a:t> data </a:t>
            </a:r>
            <a:r>
              <a:rPr lang="en-US" dirty="0" err="1" smtClean="0"/>
              <a:t>tes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data training,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memeriksa</a:t>
            </a:r>
            <a:r>
              <a:rPr lang="en-US" dirty="0" smtClean="0"/>
              <a:t> </a:t>
            </a:r>
            <a:r>
              <a:rPr lang="en-US" dirty="0" err="1" smtClean="0"/>
              <a:t>akurasi</a:t>
            </a:r>
            <a:r>
              <a:rPr lang="en-US" dirty="0" smtClean="0"/>
              <a:t> model yang </a:t>
            </a:r>
            <a:r>
              <a:rPr lang="en-US" dirty="0" err="1" smtClean="0"/>
              <a:t>dibuat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74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48911" cy="353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1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Unsupervised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>
            <a:normAutofit/>
          </a:bodyPr>
          <a:lstStyle/>
          <a:p>
            <a:r>
              <a:rPr lang="en-US" dirty="0" err="1" smtClean="0"/>
              <a:t>Keluaran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diketahui</a:t>
            </a:r>
            <a:r>
              <a:rPr lang="en-US" dirty="0" smtClean="0"/>
              <a:t>. Clustering </a:t>
            </a:r>
            <a:r>
              <a:rPr lang="en-US" dirty="0" err="1" smtClean="0"/>
              <a:t>biasanya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mencari</a:t>
            </a:r>
            <a:r>
              <a:rPr lang="en-US" dirty="0" smtClean="0"/>
              <a:t> </a:t>
            </a:r>
            <a:r>
              <a:rPr lang="en-US" dirty="0" err="1" smtClean="0"/>
              <a:t>partisi</a:t>
            </a:r>
            <a:r>
              <a:rPr lang="en-US" dirty="0" smtClean="0"/>
              <a:t> data optimal</a:t>
            </a:r>
          </a:p>
          <a:p>
            <a:r>
              <a:rPr lang="en-US" dirty="0" smtClean="0"/>
              <a:t>Unsupervised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data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sejarah</a:t>
            </a:r>
            <a:r>
              <a:rPr lang="en-US" dirty="0" smtClean="0"/>
              <a:t> (“label”)</a:t>
            </a:r>
          </a:p>
          <a:p>
            <a:r>
              <a:rPr lang="en-US" dirty="0" err="1" smtClean="0"/>
              <a:t>Pada</a:t>
            </a:r>
            <a:r>
              <a:rPr lang="en-US" dirty="0" smtClean="0"/>
              <a:t> Unsupervised, </a:t>
            </a:r>
            <a:r>
              <a:rPr lang="en-US" dirty="0" err="1" smtClean="0"/>
              <a:t>Algoritma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mengelompokkan</a:t>
            </a:r>
            <a:r>
              <a:rPr lang="en-US" dirty="0" smtClean="0"/>
              <a:t> data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kemiripan</a:t>
            </a:r>
            <a:r>
              <a:rPr lang="en-US" dirty="0" smtClean="0"/>
              <a:t> </a:t>
            </a:r>
            <a:r>
              <a:rPr lang="en-US" dirty="0" err="1" smtClean="0"/>
              <a:t>cirinya</a:t>
            </a:r>
            <a:endParaRPr lang="en-US" dirty="0"/>
          </a:p>
          <a:p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dipakai</a:t>
            </a:r>
            <a:r>
              <a:rPr lang="en-US" dirty="0" smtClean="0"/>
              <a:t>: SOM, NN, SVD,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Kmeans</a:t>
            </a:r>
            <a:r>
              <a:rPr lang="en-US" dirty="0" smtClean="0"/>
              <a:t> Clustering</a:t>
            </a:r>
          </a:p>
          <a:p>
            <a:r>
              <a:rPr lang="en-US" dirty="0" smtClean="0"/>
              <a:t>Online Shopping </a:t>
            </a:r>
            <a:r>
              <a:rPr lang="en-US" dirty="0" err="1" smtClean="0"/>
              <a:t>spt</a:t>
            </a:r>
            <a:r>
              <a:rPr lang="en-US" dirty="0" smtClean="0"/>
              <a:t> amazon </a:t>
            </a:r>
            <a:r>
              <a:rPr lang="en-US" dirty="0" err="1" smtClean="0"/>
              <a:t>menggunakan</a:t>
            </a:r>
            <a:r>
              <a:rPr lang="en-US" dirty="0" smtClean="0"/>
              <a:t> Unsupervised </a:t>
            </a:r>
            <a:r>
              <a:rPr lang="en-US" dirty="0" err="1" smtClean="0"/>
              <a:t>utk</a:t>
            </a:r>
            <a:r>
              <a:rPr lang="en-US" dirty="0" smtClean="0"/>
              <a:t> recommendation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06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12198548" cy="54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5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440" y="0"/>
            <a:ext cx="8744903" cy="682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83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Bahasa </a:t>
            </a:r>
            <a:r>
              <a:rPr lang="en-US" dirty="0" err="1" smtClean="0"/>
              <a:t>Pemrog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</a:t>
            </a:r>
          </a:p>
          <a:p>
            <a:pPr marL="457200" lvl="1" indent="0">
              <a:buNone/>
            </a:pPr>
            <a:r>
              <a:rPr lang="en-US" sz="2800" dirty="0" smtClean="0"/>
              <a:t>R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software development free </a:t>
            </a:r>
            <a:r>
              <a:rPr lang="en-US" sz="2800" dirty="0" err="1" smtClean="0"/>
              <a:t>untuk</a:t>
            </a:r>
            <a:r>
              <a:rPr lang="en-US" sz="2800" dirty="0" smtClean="0"/>
              <a:t> </a:t>
            </a:r>
            <a:r>
              <a:rPr lang="en-US" sz="2800" dirty="0" err="1" smtClean="0"/>
              <a:t>komputasi</a:t>
            </a:r>
            <a:r>
              <a:rPr lang="en-US" sz="2800" dirty="0" smtClean="0"/>
              <a:t> statistic, </a:t>
            </a:r>
            <a:r>
              <a:rPr lang="en-US" sz="2800" dirty="0" err="1" smtClean="0"/>
              <a:t>grafis</a:t>
            </a:r>
            <a:r>
              <a:rPr lang="en-US" sz="2800" dirty="0" smtClean="0"/>
              <a:t>, data mining,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komputasi</a:t>
            </a:r>
            <a:r>
              <a:rPr lang="en-US" sz="2800" dirty="0" smtClean="0"/>
              <a:t> </a:t>
            </a:r>
            <a:r>
              <a:rPr lang="en-US" sz="2800" dirty="0" err="1" smtClean="0"/>
              <a:t>berbasis</a:t>
            </a:r>
            <a:r>
              <a:rPr lang="en-US" sz="2800" dirty="0" smtClean="0"/>
              <a:t> ML. R </a:t>
            </a:r>
            <a:r>
              <a:rPr lang="en-US" sz="2800" dirty="0" err="1" smtClean="0"/>
              <a:t>mengkompilasi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berjalan</a:t>
            </a:r>
            <a:r>
              <a:rPr lang="en-US" sz="2800" dirty="0" smtClean="0"/>
              <a:t> </a:t>
            </a:r>
            <a:r>
              <a:rPr lang="en-US" sz="2800" dirty="0" err="1" smtClean="0"/>
              <a:t>pada</a:t>
            </a:r>
            <a:r>
              <a:rPr lang="en-US" sz="2800" dirty="0" smtClean="0"/>
              <a:t> </a:t>
            </a:r>
            <a:r>
              <a:rPr lang="en-US" sz="2800" dirty="0" err="1" smtClean="0"/>
              <a:t>berbagai</a:t>
            </a:r>
            <a:r>
              <a:rPr lang="en-US" sz="2800" dirty="0" smtClean="0"/>
              <a:t> platform, </a:t>
            </a:r>
            <a:r>
              <a:rPr lang="en-US" sz="2800" dirty="0" err="1" smtClean="0"/>
              <a:t>termasuk</a:t>
            </a:r>
            <a:r>
              <a:rPr lang="en-US" sz="2800" dirty="0" smtClean="0"/>
              <a:t> UNIX, Linux, Windows,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MacOS</a:t>
            </a:r>
            <a:r>
              <a:rPr lang="en-US" sz="2800" dirty="0" smtClean="0"/>
              <a:t>. R </a:t>
            </a:r>
            <a:r>
              <a:rPr lang="en-US" sz="2800" dirty="0" err="1" smtClean="0"/>
              <a:t>dianggap</a:t>
            </a:r>
            <a:r>
              <a:rPr lang="en-US" sz="2800" dirty="0" smtClean="0"/>
              <a:t> </a:t>
            </a:r>
            <a:r>
              <a:rPr lang="en-US" sz="2800" dirty="0" err="1" smtClean="0"/>
              <a:t>sebagai</a:t>
            </a:r>
            <a:r>
              <a:rPr lang="en-US" sz="2800" dirty="0" smtClean="0"/>
              <a:t> </a:t>
            </a:r>
            <a:r>
              <a:rPr lang="en-US" sz="2800" dirty="0" err="1" smtClean="0"/>
              <a:t>sebagai</a:t>
            </a:r>
            <a:r>
              <a:rPr lang="en-US" sz="2800" dirty="0" smtClean="0"/>
              <a:t> </a:t>
            </a:r>
            <a:r>
              <a:rPr lang="en-US" sz="2800" dirty="0" err="1" smtClean="0"/>
              <a:t>paket</a:t>
            </a:r>
            <a:r>
              <a:rPr lang="en-US" sz="2800" dirty="0" smtClean="0"/>
              <a:t> Bahasa </a:t>
            </a:r>
            <a:r>
              <a:rPr lang="en-US" sz="2800" dirty="0" err="1" smtClean="0"/>
              <a:t>pemrog</a:t>
            </a:r>
            <a:r>
              <a:rPr lang="en-US" sz="2800" dirty="0" smtClean="0"/>
              <a:t> yang paling popular </a:t>
            </a:r>
            <a:r>
              <a:rPr lang="en-US" sz="2800" dirty="0" err="1" smtClean="0"/>
              <a:t>bagi</a:t>
            </a:r>
            <a:r>
              <a:rPr lang="en-US" sz="2800" dirty="0" smtClean="0"/>
              <a:t> para statistician, industry, enterprise,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peneliti</a:t>
            </a:r>
            <a:r>
              <a:rPr lang="en-US" sz="2800" dirty="0" smtClean="0"/>
              <a:t> </a:t>
            </a:r>
            <a:r>
              <a:rPr lang="en-US" sz="2800" dirty="0" err="1" smtClean="0"/>
              <a:t>untuk</a:t>
            </a:r>
            <a:r>
              <a:rPr lang="en-US" sz="2800" dirty="0" smtClean="0"/>
              <a:t> </a:t>
            </a:r>
            <a:r>
              <a:rPr lang="en-US" sz="2800" dirty="0" err="1" smtClean="0"/>
              <a:t>menyediakan</a:t>
            </a:r>
            <a:r>
              <a:rPr lang="en-US" sz="2800" dirty="0" smtClean="0"/>
              <a:t> </a:t>
            </a:r>
            <a:r>
              <a:rPr lang="en-US" sz="2800" dirty="0" err="1" smtClean="0"/>
              <a:t>fitur</a:t>
            </a:r>
            <a:r>
              <a:rPr lang="en-US" sz="2800" dirty="0" smtClean="0"/>
              <a:t> program statistic </a:t>
            </a:r>
            <a:r>
              <a:rPr lang="en-US" sz="2800" dirty="0" err="1" smtClean="0"/>
              <a:t>yg</a:t>
            </a:r>
            <a:r>
              <a:rPr lang="en-US" sz="2800" dirty="0" smtClean="0"/>
              <a:t> </a:t>
            </a:r>
            <a:r>
              <a:rPr lang="en-US" sz="2800" dirty="0" err="1" smtClean="0"/>
              <a:t>baik</a:t>
            </a:r>
            <a:r>
              <a:rPr lang="en-US" sz="2800" dirty="0" smtClean="0"/>
              <a:t>. R </a:t>
            </a:r>
            <a:r>
              <a:rPr lang="en-US" sz="2800" dirty="0" err="1" smtClean="0"/>
              <a:t>menyediakan</a:t>
            </a:r>
            <a:r>
              <a:rPr lang="en-US" sz="2800" dirty="0" smtClean="0"/>
              <a:t> 4000 packages </a:t>
            </a:r>
            <a:r>
              <a:rPr lang="en-US" sz="2800" dirty="0" err="1" smtClean="0"/>
              <a:t>khusus</a:t>
            </a:r>
            <a:r>
              <a:rPr lang="en-US" sz="2800" dirty="0" smtClean="0"/>
              <a:t>, yang </a:t>
            </a:r>
            <a:r>
              <a:rPr lang="en-US" sz="2800" dirty="0" err="1" smtClean="0"/>
              <a:t>umumnya</a:t>
            </a:r>
            <a:r>
              <a:rPr lang="en-US" sz="2800" dirty="0" smtClean="0"/>
              <a:t>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package2 </a:t>
            </a:r>
            <a:r>
              <a:rPr lang="en-US" sz="2800" dirty="0" err="1" smtClean="0"/>
              <a:t>untuk</a:t>
            </a:r>
            <a:r>
              <a:rPr lang="en-US" sz="2800" dirty="0" smtClean="0"/>
              <a:t> </a:t>
            </a:r>
            <a:r>
              <a:rPr lang="en-US" sz="2800" dirty="0" err="1" smtClean="0"/>
              <a:t>kebutuhan</a:t>
            </a:r>
            <a:r>
              <a:rPr lang="en-US" sz="2800" dirty="0" smtClean="0"/>
              <a:t> statistic.</a:t>
            </a:r>
          </a:p>
          <a:p>
            <a:pPr marL="457200" lvl="1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7787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Kapabilitas</a:t>
            </a:r>
            <a:r>
              <a:rPr lang="en-US" dirty="0" smtClean="0"/>
              <a:t> </a:t>
            </a:r>
            <a:r>
              <a:rPr lang="en-US" dirty="0" err="1" smtClean="0"/>
              <a:t>Manipulasi</a:t>
            </a:r>
            <a:r>
              <a:rPr lang="en-US" dirty="0" smtClean="0"/>
              <a:t> Data</a:t>
            </a:r>
          </a:p>
          <a:p>
            <a:r>
              <a:rPr lang="en-US" dirty="0" err="1" smtClean="0"/>
              <a:t>Fungsionalitas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Data</a:t>
            </a:r>
            <a:endParaRPr lang="en-US" dirty="0"/>
          </a:p>
          <a:p>
            <a:r>
              <a:rPr lang="en-US" dirty="0" err="1" smtClean="0"/>
              <a:t>Visualisasi</a:t>
            </a:r>
            <a:r>
              <a:rPr lang="en-US" dirty="0" smtClean="0"/>
              <a:t> Data</a:t>
            </a:r>
          </a:p>
          <a:p>
            <a:r>
              <a:rPr lang="en-US" dirty="0" err="1" smtClean="0"/>
              <a:t>Penggunaan</a:t>
            </a:r>
            <a:r>
              <a:rPr lang="en-US" dirty="0" smtClean="0"/>
              <a:t> yang </a:t>
            </a:r>
            <a:r>
              <a:rPr lang="en-US" dirty="0" err="1" smtClean="0"/>
              <a:t>mudah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endParaRPr lang="en-US" dirty="0" smtClean="0"/>
          </a:p>
          <a:p>
            <a:r>
              <a:rPr lang="en-US" dirty="0" err="1" smtClean="0"/>
              <a:t>Fasilitas</a:t>
            </a:r>
            <a:r>
              <a:rPr lang="en-US" dirty="0" smtClean="0"/>
              <a:t> </a:t>
            </a:r>
            <a:r>
              <a:rPr lang="en-US" dirty="0" err="1" smtClean="0"/>
              <a:t>Integrasi</a:t>
            </a:r>
            <a:endParaRPr lang="en-US" dirty="0" smtClean="0"/>
          </a:p>
          <a:p>
            <a:r>
              <a:rPr lang="en-US" dirty="0" smtClean="0"/>
              <a:t>Free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OpenSource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957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Bahasa </a:t>
            </a:r>
            <a:r>
              <a:rPr lang="en-US" dirty="0" err="1" smtClean="0"/>
              <a:t>Pemrogr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Scala</a:t>
            </a:r>
          </a:p>
          <a:p>
            <a:pPr marL="457200" lvl="1" indent="0">
              <a:buNone/>
            </a:pPr>
            <a:r>
              <a:rPr lang="en-US" sz="2800" dirty="0" err="1" smtClean="0"/>
              <a:t>Kombinasi</a:t>
            </a:r>
            <a:r>
              <a:rPr lang="en-US" sz="2800" dirty="0" smtClean="0"/>
              <a:t> </a:t>
            </a:r>
            <a:r>
              <a:rPr lang="en-US" sz="2800" dirty="0" err="1" smtClean="0"/>
              <a:t>dari</a:t>
            </a:r>
            <a:r>
              <a:rPr lang="en-US" sz="2800" dirty="0" smtClean="0"/>
              <a:t> Bahasa </a:t>
            </a:r>
            <a:r>
              <a:rPr lang="en-US" sz="2800" dirty="0" err="1" smtClean="0"/>
              <a:t>pemrograman</a:t>
            </a:r>
            <a:r>
              <a:rPr lang="en-US" sz="2800" dirty="0" smtClean="0"/>
              <a:t> </a:t>
            </a:r>
            <a:r>
              <a:rPr lang="en-US" sz="2800" dirty="0" err="1" smtClean="0"/>
              <a:t>fungsional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OO. </a:t>
            </a:r>
            <a:r>
              <a:rPr lang="en-US" sz="2800" dirty="0" err="1" smtClean="0"/>
              <a:t>Berjalan</a:t>
            </a:r>
            <a:r>
              <a:rPr lang="en-US" sz="2800" dirty="0" smtClean="0"/>
              <a:t> </a:t>
            </a:r>
            <a:r>
              <a:rPr lang="en-US" sz="2800" dirty="0" err="1" smtClean="0"/>
              <a:t>pada</a:t>
            </a:r>
            <a:r>
              <a:rPr lang="en-US" sz="2800" dirty="0" smtClean="0"/>
              <a:t> Java VM. </a:t>
            </a:r>
            <a:r>
              <a:rPr lang="en-US" sz="2800" dirty="0" err="1" smtClean="0"/>
              <a:t>Versi</a:t>
            </a:r>
            <a:r>
              <a:rPr lang="en-US" sz="2800" dirty="0" smtClean="0"/>
              <a:t> </a:t>
            </a:r>
            <a:r>
              <a:rPr lang="en-US" sz="2800" dirty="0" err="1" smtClean="0"/>
              <a:t>.Net</a:t>
            </a:r>
            <a:r>
              <a:rPr lang="en-US" sz="2800" dirty="0" smtClean="0"/>
              <a:t> </a:t>
            </a:r>
            <a:r>
              <a:rPr lang="en-US" sz="2800" dirty="0" err="1" smtClean="0"/>
              <a:t>juga</a:t>
            </a:r>
            <a:r>
              <a:rPr lang="en-US" sz="2800" dirty="0" smtClean="0"/>
              <a:t> </a:t>
            </a:r>
            <a:r>
              <a:rPr lang="en-US" sz="2800" dirty="0" err="1" smtClean="0"/>
              <a:t>tersedia</a:t>
            </a:r>
            <a:r>
              <a:rPr lang="en-US" sz="2800" dirty="0" smtClean="0"/>
              <a:t>, </a:t>
            </a:r>
            <a:r>
              <a:rPr lang="en-US" sz="2800" dirty="0" err="1" smtClean="0"/>
              <a:t>sehingga</a:t>
            </a:r>
            <a:r>
              <a:rPr lang="en-US" sz="2800" dirty="0" smtClean="0"/>
              <a:t> </a:t>
            </a:r>
            <a:r>
              <a:rPr lang="en-US" sz="2800" dirty="0" err="1" smtClean="0"/>
              <a:t>memungkinkan</a:t>
            </a:r>
            <a:r>
              <a:rPr lang="en-US" sz="2800" dirty="0" smtClean="0"/>
              <a:t> </a:t>
            </a:r>
            <a:r>
              <a:rPr lang="en-US" sz="2800" dirty="0" err="1" smtClean="0"/>
              <a:t>berjalan</a:t>
            </a:r>
            <a:r>
              <a:rPr lang="en-US" sz="2800" dirty="0" smtClean="0"/>
              <a:t> </a:t>
            </a:r>
            <a:r>
              <a:rPr lang="en-US" sz="2800" dirty="0" err="1" smtClean="0"/>
              <a:t>pada</a:t>
            </a:r>
            <a:r>
              <a:rPr lang="en-US" sz="2800" dirty="0" smtClean="0"/>
              <a:t> </a:t>
            </a:r>
            <a:r>
              <a:rPr lang="en-US" sz="2800" dirty="0" err="1" smtClean="0"/>
              <a:t>lingkungan</a:t>
            </a:r>
            <a:r>
              <a:rPr lang="en-US" sz="2800" dirty="0" smtClean="0"/>
              <a:t> </a:t>
            </a:r>
            <a:r>
              <a:rPr lang="en-US" sz="2800" dirty="0" err="1" smtClean="0"/>
              <a:t>.Net</a:t>
            </a:r>
            <a:r>
              <a:rPr lang="en-US" sz="2800" dirty="0" smtClean="0"/>
              <a:t> </a:t>
            </a:r>
            <a:r>
              <a:rPr lang="en-US" sz="2800" dirty="0" err="1" smtClean="0"/>
              <a:t>juga</a:t>
            </a:r>
            <a:r>
              <a:rPr lang="en-US" sz="2800" dirty="0" smtClean="0"/>
              <a:t>. </a:t>
            </a:r>
          </a:p>
          <a:p>
            <a:pPr marL="457200" lvl="1" indent="0">
              <a:buNone/>
            </a:pPr>
            <a:r>
              <a:rPr lang="en-US" sz="2800" dirty="0" err="1" smtClean="0"/>
              <a:t>Sebagai</a:t>
            </a:r>
            <a:r>
              <a:rPr lang="en-US" sz="2800" dirty="0" smtClean="0"/>
              <a:t> Bahasa </a:t>
            </a:r>
            <a:r>
              <a:rPr lang="en-US" sz="2800" dirty="0" err="1" smtClean="0"/>
              <a:t>pemrog</a:t>
            </a:r>
            <a:r>
              <a:rPr lang="en-US" sz="2800" dirty="0" smtClean="0"/>
              <a:t> </a:t>
            </a:r>
            <a:r>
              <a:rPr lang="en-US" sz="2800" dirty="0" err="1" smtClean="0"/>
              <a:t>fungsional</a:t>
            </a:r>
            <a:r>
              <a:rPr lang="en-US" sz="2800" dirty="0" smtClean="0"/>
              <a:t>, Scala </a:t>
            </a:r>
            <a:r>
              <a:rPr lang="en-US" sz="2800" dirty="0" err="1" smtClean="0"/>
              <a:t>memiliki</a:t>
            </a:r>
            <a:r>
              <a:rPr lang="en-US" sz="2800" dirty="0" smtClean="0"/>
              <a:t> </a:t>
            </a:r>
            <a:r>
              <a:rPr lang="en-US" sz="2800" dirty="0" err="1" smtClean="0"/>
              <a:t>kemampuan</a:t>
            </a:r>
            <a:r>
              <a:rPr lang="en-US" sz="2800" dirty="0" smtClean="0"/>
              <a:t> pattern matching (</a:t>
            </a:r>
            <a:r>
              <a:rPr lang="en-US" sz="2800" dirty="0" err="1" smtClean="0"/>
              <a:t>hal</a:t>
            </a:r>
            <a:r>
              <a:rPr lang="en-US" sz="2800" dirty="0" smtClean="0"/>
              <a:t> </a:t>
            </a:r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berguna</a:t>
            </a:r>
            <a:r>
              <a:rPr lang="en-US" sz="2800" dirty="0" smtClean="0"/>
              <a:t> </a:t>
            </a:r>
            <a:r>
              <a:rPr lang="en-US" sz="2800" dirty="0" err="1" smtClean="0"/>
              <a:t>pada</a:t>
            </a:r>
            <a:r>
              <a:rPr lang="en-US" sz="2800" dirty="0" smtClean="0"/>
              <a:t> </a:t>
            </a:r>
            <a:r>
              <a:rPr lang="en-US" sz="2800" dirty="0" err="1" smtClean="0"/>
              <a:t>pemrograman</a:t>
            </a:r>
            <a:r>
              <a:rPr lang="en-US" sz="2800" dirty="0" smtClean="0"/>
              <a:t> </a:t>
            </a:r>
            <a:r>
              <a:rPr lang="en-US" sz="2800" dirty="0" err="1" smtClean="0"/>
              <a:t>algoritma</a:t>
            </a:r>
            <a:r>
              <a:rPr lang="en-US" sz="2800" dirty="0" smtClean="0"/>
              <a:t> ML)</a:t>
            </a:r>
          </a:p>
          <a:p>
            <a:pPr marL="457200" lvl="1" indent="0">
              <a:buNone/>
            </a:pPr>
            <a:r>
              <a:rPr lang="en-US" sz="2800" dirty="0" err="1" smtClean="0"/>
              <a:t>Sebagai</a:t>
            </a:r>
            <a:r>
              <a:rPr lang="en-US" sz="2800" dirty="0" smtClean="0"/>
              <a:t> Bahasa </a:t>
            </a:r>
            <a:r>
              <a:rPr lang="en-US" sz="2800" dirty="0" err="1" smtClean="0"/>
              <a:t>pemrog</a:t>
            </a:r>
            <a:r>
              <a:rPr lang="en-US" sz="2800" dirty="0" smtClean="0"/>
              <a:t> OO, Scala </a:t>
            </a:r>
            <a:r>
              <a:rPr lang="en-US" sz="2800" dirty="0" err="1" smtClean="0"/>
              <a:t>menyediakan</a:t>
            </a:r>
            <a:r>
              <a:rPr lang="en-US" sz="2800" dirty="0" smtClean="0"/>
              <a:t> </a:t>
            </a:r>
            <a:r>
              <a:rPr lang="en-US" sz="2800" dirty="0" err="1" smtClean="0"/>
              <a:t>fungsional</a:t>
            </a:r>
            <a:r>
              <a:rPr lang="en-US" sz="2800" dirty="0" smtClean="0"/>
              <a:t> </a:t>
            </a:r>
            <a:r>
              <a:rPr lang="en-US" sz="2800" dirty="0" err="1" smtClean="0"/>
              <a:t>fasilitas</a:t>
            </a:r>
            <a:r>
              <a:rPr lang="en-US" sz="2800" dirty="0" smtClean="0"/>
              <a:t> OO </a:t>
            </a:r>
            <a:r>
              <a:rPr lang="en-US" sz="2800" dirty="0" err="1" smtClean="0"/>
              <a:t>seperti</a:t>
            </a:r>
            <a:r>
              <a:rPr lang="en-US" sz="2800" dirty="0" smtClean="0"/>
              <a:t> Class </a:t>
            </a:r>
            <a:r>
              <a:rPr lang="en-US" sz="2800" dirty="0" err="1" smtClean="0"/>
              <a:t>dan</a:t>
            </a:r>
            <a:r>
              <a:rPr lang="en-US" sz="2800" dirty="0" smtClean="0"/>
              <a:t> Polymorphism. </a:t>
            </a:r>
          </a:p>
          <a:p>
            <a:pPr marL="457200" lvl="1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99055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Bahasa </a:t>
            </a:r>
            <a:r>
              <a:rPr lang="en-US" dirty="0" err="1" smtClean="0"/>
              <a:t>Pemrog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</a:p>
          <a:p>
            <a:pPr marL="457200" lvl="1" indent="0">
              <a:buNone/>
            </a:pPr>
            <a:r>
              <a:rPr lang="en-US" dirty="0" err="1" smtClean="0"/>
              <a:t>Dikenal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interpreter </a:t>
            </a:r>
            <a:r>
              <a:rPr lang="en-US" dirty="0" err="1" smtClean="0"/>
              <a:t>dan</a:t>
            </a:r>
            <a:r>
              <a:rPr lang="en-US" dirty="0" smtClean="0"/>
              <a:t> Bahasa </a:t>
            </a:r>
            <a:r>
              <a:rPr lang="en-US" dirty="0" err="1" smtClean="0"/>
              <a:t>pemrograman</a:t>
            </a:r>
            <a:r>
              <a:rPr lang="en-US" dirty="0" smtClean="0"/>
              <a:t> OO </a:t>
            </a:r>
            <a:r>
              <a:rPr lang="en-US" dirty="0" err="1" smtClean="0"/>
              <a:t>interaktif</a:t>
            </a:r>
            <a:r>
              <a:rPr lang="en-US" dirty="0" smtClean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. </a:t>
            </a:r>
          </a:p>
          <a:p>
            <a:pPr marL="457200" lvl="1" indent="0">
              <a:buNone/>
            </a:pPr>
            <a:r>
              <a:rPr lang="en-US" dirty="0" smtClean="0"/>
              <a:t>Bahasa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kekuatan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Realibilitas</a:t>
            </a:r>
            <a:r>
              <a:rPr lang="en-US" dirty="0" smtClean="0"/>
              <a:t> </a:t>
            </a:r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kesederhanaan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para programmer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mengembangkan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r>
              <a:rPr lang="en-US" dirty="0" smtClean="0"/>
              <a:t>Python </a:t>
            </a:r>
            <a:r>
              <a:rPr lang="en-US" dirty="0" err="1" smtClean="0"/>
              <a:t>adalah</a:t>
            </a:r>
            <a:r>
              <a:rPr lang="en-US" dirty="0" smtClean="0"/>
              <a:t> Bahasa </a:t>
            </a:r>
            <a:r>
              <a:rPr lang="en-US" dirty="0" err="1" smtClean="0"/>
              <a:t>pemrograman</a:t>
            </a:r>
            <a:r>
              <a:rPr lang="en-US" dirty="0" smtClean="0"/>
              <a:t> yang multi-paradigm, </a:t>
            </a:r>
            <a:r>
              <a:rPr lang="en-US" dirty="0" err="1" smtClean="0"/>
              <a:t>dimana</a:t>
            </a:r>
            <a:r>
              <a:rPr lang="en-US" dirty="0" smtClean="0"/>
              <a:t> python </a:t>
            </a:r>
            <a:r>
              <a:rPr lang="en-US" dirty="0" err="1" smtClean="0"/>
              <a:t>dapat</a:t>
            </a:r>
            <a:r>
              <a:rPr lang="en-US" dirty="0" smtClean="0"/>
              <a:t> decoding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style Bahasa </a:t>
            </a:r>
            <a:r>
              <a:rPr lang="en-US" dirty="0" err="1" smtClean="0"/>
              <a:t>pemrog</a:t>
            </a:r>
            <a:r>
              <a:rPr lang="en-US" dirty="0" smtClean="0"/>
              <a:t> yang </a:t>
            </a:r>
            <a:r>
              <a:rPr lang="en-US" dirty="0" err="1" smtClean="0"/>
              <a:t>berbeda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32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Pengembangan</a:t>
            </a:r>
            <a:r>
              <a:rPr lang="en-US" dirty="0" smtClean="0"/>
              <a:t> Cross-platform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opensource</a:t>
            </a:r>
            <a:endParaRPr lang="en-US" dirty="0" smtClean="0"/>
          </a:p>
          <a:p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mudah</a:t>
            </a:r>
            <a:r>
              <a:rPr lang="en-US" dirty="0" smtClean="0"/>
              <a:t> </a:t>
            </a:r>
            <a:r>
              <a:rPr lang="en-US" dirty="0" err="1" smtClean="0"/>
              <a:t>diintegrasi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C/C++, </a:t>
            </a:r>
            <a:r>
              <a:rPr lang="en-US" dirty="0" err="1" smtClean="0"/>
              <a:t>.Net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Java</a:t>
            </a:r>
          </a:p>
          <a:p>
            <a:r>
              <a:rPr lang="en-US" dirty="0" err="1" smtClean="0"/>
              <a:t>Kebanyakan</a:t>
            </a:r>
            <a:r>
              <a:rPr lang="en-US" dirty="0" smtClean="0"/>
              <a:t> program </a:t>
            </a:r>
            <a:r>
              <a:rPr lang="en-US" dirty="0" err="1" smtClean="0"/>
              <a:t>yg</a:t>
            </a:r>
            <a:r>
              <a:rPr lang="en-US" dirty="0" smtClean="0"/>
              <a:t> </a:t>
            </a:r>
            <a:r>
              <a:rPr lang="en-US" dirty="0" err="1" smtClean="0"/>
              <a:t>dikembangkan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baris</a:t>
            </a:r>
            <a:r>
              <a:rPr lang="en-US" dirty="0" smtClean="0"/>
              <a:t> yang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sedikit</a:t>
            </a:r>
            <a:r>
              <a:rPr lang="en-US" dirty="0" smtClean="0"/>
              <a:t> </a:t>
            </a:r>
            <a:r>
              <a:rPr lang="en-US" dirty="0" err="1" smtClean="0"/>
              <a:t>dibanding</a:t>
            </a:r>
            <a:r>
              <a:rPr lang="en-US" dirty="0" smtClean="0"/>
              <a:t> Bahasa lain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yang </a:t>
            </a:r>
            <a:r>
              <a:rPr lang="en-US" dirty="0" err="1" smtClean="0"/>
              <a:t>sama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Readability</a:t>
            </a:r>
          </a:p>
          <a:p>
            <a:r>
              <a:rPr lang="en-US" dirty="0" smtClean="0"/>
              <a:t>Effort Coding yang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kecil</a:t>
            </a:r>
            <a:endParaRPr lang="en-US" dirty="0" smtClean="0"/>
          </a:p>
          <a:p>
            <a:r>
              <a:rPr lang="en-US" dirty="0" err="1" smtClean="0"/>
              <a:t>Dukungan</a:t>
            </a:r>
            <a:r>
              <a:rPr lang="en-US" dirty="0" smtClean="0"/>
              <a:t> yang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matematika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statistika</a:t>
            </a:r>
            <a:endParaRPr lang="en-US" dirty="0" smtClean="0"/>
          </a:p>
          <a:p>
            <a:r>
              <a:rPr lang="en-US" dirty="0" smtClean="0"/>
              <a:t>Salah </a:t>
            </a:r>
            <a:r>
              <a:rPr lang="en-US" dirty="0" err="1" smtClean="0"/>
              <a:t>satu</a:t>
            </a:r>
            <a:r>
              <a:rPr lang="en-US" dirty="0" smtClean="0"/>
              <a:t> Bahasa yang </a:t>
            </a:r>
            <a:r>
              <a:rPr lang="en-US" dirty="0" err="1" smtClean="0"/>
              <a:t>tumbuh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265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9977"/>
            <a:ext cx="10515600" cy="5238206"/>
          </a:xfrm>
        </p:spPr>
        <p:txBody>
          <a:bodyPr>
            <a:normAutofit/>
          </a:bodyPr>
          <a:lstStyle/>
          <a:p>
            <a:r>
              <a:rPr lang="en-US" dirty="0" err="1" smtClean="0"/>
              <a:t>Fleksibilitas</a:t>
            </a:r>
            <a:endParaRPr lang="en-US" dirty="0" smtClean="0"/>
          </a:p>
          <a:p>
            <a:r>
              <a:rPr lang="en-US" dirty="0" err="1" smtClean="0"/>
              <a:t>Fitur</a:t>
            </a:r>
            <a:r>
              <a:rPr lang="en-US" dirty="0" smtClean="0"/>
              <a:t> </a:t>
            </a:r>
            <a:r>
              <a:rPr lang="en-US" dirty="0" err="1" smtClean="0"/>
              <a:t>numerik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simbolik</a:t>
            </a:r>
            <a:r>
              <a:rPr lang="en-US" dirty="0" smtClean="0"/>
              <a:t> yang </a:t>
            </a:r>
            <a:r>
              <a:rPr lang="en-US" dirty="0" err="1" smtClean="0"/>
              <a:t>baik</a:t>
            </a:r>
            <a:endParaRPr lang="en-US" dirty="0" smtClean="0"/>
          </a:p>
          <a:p>
            <a:r>
              <a:rPr lang="en-US" dirty="0" err="1" smtClean="0"/>
              <a:t>Fitur</a:t>
            </a:r>
            <a:r>
              <a:rPr lang="en-US" dirty="0" smtClean="0"/>
              <a:t> Plotting yang </a:t>
            </a:r>
            <a:r>
              <a:rPr lang="en-US" dirty="0" err="1" smtClean="0"/>
              <a:t>baik</a:t>
            </a:r>
            <a:endParaRPr lang="en-US" dirty="0" smtClean="0"/>
          </a:p>
          <a:p>
            <a:r>
              <a:rPr lang="en-US" dirty="0" err="1" smtClean="0"/>
              <a:t>Kompatibiliitas</a:t>
            </a:r>
            <a:r>
              <a:rPr lang="en-US" dirty="0" smtClean="0"/>
              <a:t> ML</a:t>
            </a:r>
          </a:p>
          <a:p>
            <a:r>
              <a:rPr lang="en-US" dirty="0" err="1" smtClean="0"/>
              <a:t>Dukungan</a:t>
            </a:r>
            <a:r>
              <a:rPr lang="en-US" dirty="0" smtClean="0"/>
              <a:t> UI</a:t>
            </a:r>
          </a:p>
          <a:p>
            <a:r>
              <a:rPr lang="en-US" dirty="0" err="1" smtClean="0"/>
              <a:t>Dukungan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parallel </a:t>
            </a:r>
            <a:r>
              <a:rPr lang="en-US" dirty="0" err="1" smtClean="0"/>
              <a:t>dan</a:t>
            </a:r>
            <a:r>
              <a:rPr lang="en-US" dirty="0" smtClean="0"/>
              <a:t> distributed computing</a:t>
            </a:r>
          </a:p>
          <a:p>
            <a:r>
              <a:rPr lang="en-US" dirty="0" smtClean="0"/>
              <a:t>Library prebuilt yang </a:t>
            </a:r>
            <a:r>
              <a:rPr lang="en-US" dirty="0" err="1" smtClean="0"/>
              <a:t>baik</a:t>
            </a:r>
            <a:r>
              <a:rPr lang="en-US" dirty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ML </a:t>
            </a:r>
            <a:r>
              <a:rPr lang="en-US" dirty="0" err="1" smtClean="0"/>
              <a:t>dan</a:t>
            </a:r>
            <a:r>
              <a:rPr lang="en-US" dirty="0" smtClean="0"/>
              <a:t> Comp Vision</a:t>
            </a:r>
          </a:p>
          <a:p>
            <a:r>
              <a:rPr lang="en-US" dirty="0" smtClean="0"/>
              <a:t>Developer Friendly</a:t>
            </a:r>
          </a:p>
          <a:p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pengguna</a:t>
            </a:r>
            <a:r>
              <a:rPr lang="en-US" dirty="0" smtClean="0"/>
              <a:t> yang </a:t>
            </a:r>
            <a:r>
              <a:rPr lang="en-US" dirty="0" err="1" smtClean="0"/>
              <a:t>terus</a:t>
            </a:r>
            <a:r>
              <a:rPr lang="en-US" dirty="0" smtClean="0"/>
              <a:t> </a:t>
            </a:r>
            <a:r>
              <a:rPr lang="en-US" dirty="0" err="1" smtClean="0"/>
              <a:t>meningkat</a:t>
            </a:r>
            <a:endParaRPr lang="en-US" dirty="0" smtClean="0"/>
          </a:p>
          <a:p>
            <a:r>
              <a:rPr lang="en-US" dirty="0" err="1" smtClean="0"/>
              <a:t>Mudah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setting </a:t>
            </a:r>
            <a:r>
              <a:rPr lang="en-US" dirty="0" err="1" smtClean="0"/>
              <a:t>awal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30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 err="1" smtClean="0"/>
              <a:t>Selesai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218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1455</TotalTime>
  <Words>1022</Words>
  <Application>Microsoft Macintosh PowerPoint</Application>
  <PresentationFormat>Widescreen</PresentationFormat>
  <Paragraphs>124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Calibri</vt:lpstr>
      <vt:lpstr>Calibri Light</vt:lpstr>
      <vt:lpstr>Arial</vt:lpstr>
      <vt:lpstr>Office Theme</vt:lpstr>
      <vt:lpstr>Cognitive Computation RTI174005  Pengenalan Cognitive Computing</vt:lpstr>
      <vt:lpstr>Kontrak Kuliah</vt:lpstr>
      <vt:lpstr>Kontrak Kuliah</vt:lpstr>
      <vt:lpstr>PowerPoint Presentation</vt:lpstr>
      <vt:lpstr>PowerPoint Presentation</vt:lpstr>
      <vt:lpstr>Artificial Intelligence (Kecerdasan Buatan)</vt:lpstr>
      <vt:lpstr>Cognitive Computing (CC)</vt:lpstr>
      <vt:lpstr>PowerPoint Presentation</vt:lpstr>
      <vt:lpstr>Machine Learning (ML)</vt:lpstr>
      <vt:lpstr>Catatan penting ML</vt:lpstr>
      <vt:lpstr>Kapan ML digunakan</vt:lpstr>
      <vt:lpstr>Aplikasi ML</vt:lpstr>
      <vt:lpstr>PowerPoint Presentation</vt:lpstr>
      <vt:lpstr>PowerPoint Presentation</vt:lpstr>
      <vt:lpstr>Arsitektur umum ML</vt:lpstr>
      <vt:lpstr>Supervised Learning</vt:lpstr>
      <vt:lpstr>PowerPoint Presentation</vt:lpstr>
      <vt:lpstr>Unsupervised Learning</vt:lpstr>
      <vt:lpstr>PowerPoint Presentation</vt:lpstr>
      <vt:lpstr>PowerPoint Presentation</vt:lpstr>
      <vt:lpstr>Bahasa Pemrog untuk ML</vt:lpstr>
      <vt:lpstr>Alasan Penggunaan R</vt:lpstr>
      <vt:lpstr>Bahasa Pemrogr untuk ML</vt:lpstr>
      <vt:lpstr>Bahasa Pemrog untuk ML</vt:lpstr>
      <vt:lpstr>Alasan penggunaan Python</vt:lpstr>
      <vt:lpstr>Alasan Penggunaan Python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Computation RTI174005  Pengenalan Cognitive Computing</dc:title>
  <dc:creator>User</dc:creator>
  <cp:lastModifiedBy>Arie Rachmad Syulistyo</cp:lastModifiedBy>
  <cp:revision>33</cp:revision>
  <dcterms:created xsi:type="dcterms:W3CDTF">2019-02-04T03:02:34Z</dcterms:created>
  <dcterms:modified xsi:type="dcterms:W3CDTF">2019-02-05T22:20:32Z</dcterms:modified>
</cp:coreProperties>
</file>