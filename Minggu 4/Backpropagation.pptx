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  <p:sldId id="265" r:id="rId10"/>
    <p:sldId id="267" r:id="rId11"/>
    <p:sldId id="268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44" autoAdjust="0"/>
    <p:restoredTop sz="94660"/>
  </p:normalViewPr>
  <p:slideViewPr>
    <p:cSldViewPr snapToGrid="0">
      <p:cViewPr varScale="1">
        <p:scale>
          <a:sx n="73" d="100"/>
          <a:sy n="73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B542-9C11-41BF-AF83-C04CC50DACB5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7B11E-0C5D-4CA7-9E82-C0264BB9D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16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B542-9C11-41BF-AF83-C04CC50DACB5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7B11E-0C5D-4CA7-9E82-C0264BB9D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80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B542-9C11-41BF-AF83-C04CC50DACB5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7B11E-0C5D-4CA7-9E82-C0264BB9D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86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B542-9C11-41BF-AF83-C04CC50DACB5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7B11E-0C5D-4CA7-9E82-C0264BB9D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260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B542-9C11-41BF-AF83-C04CC50DACB5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7B11E-0C5D-4CA7-9E82-C0264BB9D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691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B542-9C11-41BF-AF83-C04CC50DACB5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7B11E-0C5D-4CA7-9E82-C0264BB9D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415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B542-9C11-41BF-AF83-C04CC50DACB5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7B11E-0C5D-4CA7-9E82-C0264BB9D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26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B542-9C11-41BF-AF83-C04CC50DACB5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7B11E-0C5D-4CA7-9E82-C0264BB9D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30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B542-9C11-41BF-AF83-C04CC50DACB5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7B11E-0C5D-4CA7-9E82-C0264BB9D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61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B542-9C11-41BF-AF83-C04CC50DACB5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7B11E-0C5D-4CA7-9E82-C0264BB9D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28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B542-9C11-41BF-AF83-C04CC50DACB5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7B11E-0C5D-4CA7-9E82-C0264BB9D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0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DB542-9C11-41BF-AF83-C04CC50DACB5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97B11E-0C5D-4CA7-9E82-C0264BB9D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987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2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3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4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5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5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Backpropagation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634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Sekilas</a:t>
            </a:r>
            <a:r>
              <a:rPr lang="en-US" dirty="0" smtClean="0"/>
              <a:t> Perceptron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54" b="100000" l="10701" r="80351">
                        <a14:foregroundMark x1="26360" y1="37473" x2="26360" y2="37473"/>
                        <a14:backgroundMark x1="50726" y1="14597" x2="50726" y2="1459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625" r="23614"/>
          <a:stretch/>
        </p:blipFill>
        <p:spPr>
          <a:xfrm>
            <a:off x="1739537" y="1825625"/>
            <a:ext cx="82730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281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Sekilas</a:t>
            </a:r>
            <a:r>
              <a:rPr lang="en-US" dirty="0" smtClean="0"/>
              <a:t> Perceptron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7760" y="1449976"/>
            <a:ext cx="6416039" cy="4976949"/>
          </a:xfrm>
        </p:spPr>
        <p:txBody>
          <a:bodyPr/>
          <a:lstStyle/>
          <a:p>
            <a:r>
              <a:rPr lang="en-US" dirty="0" err="1" smtClean="0"/>
              <a:t>Iterasi</a:t>
            </a:r>
            <a:r>
              <a:rPr lang="en-US" dirty="0" smtClean="0"/>
              <a:t> 1:</a:t>
            </a:r>
          </a:p>
          <a:p>
            <a:r>
              <a:rPr lang="en-US" dirty="0" smtClean="0"/>
              <a:t>y = (-0.623*1) + (0.32*0) + (-0.773*1)</a:t>
            </a:r>
          </a:p>
          <a:p>
            <a:r>
              <a:rPr lang="en-US" dirty="0" err="1" smtClean="0"/>
              <a:t>Iterasi</a:t>
            </a:r>
            <a:r>
              <a:rPr lang="en-US" dirty="0" smtClean="0"/>
              <a:t> </a:t>
            </a:r>
            <a:r>
              <a:rPr lang="en-US" dirty="0" err="1" smtClean="0"/>
              <a:t>berikutnya</a:t>
            </a:r>
            <a:endParaRPr lang="en-US" dirty="0" smtClean="0"/>
          </a:p>
          <a:p>
            <a:r>
              <a:rPr lang="en-US" dirty="0" smtClean="0"/>
              <a:t>W</a:t>
            </a:r>
            <a:r>
              <a:rPr lang="en-US" sz="1100" dirty="0" smtClean="0"/>
              <a:t>i+1</a:t>
            </a:r>
            <a:r>
              <a:rPr lang="en-US" dirty="0" smtClean="0"/>
              <a:t> = W</a:t>
            </a:r>
            <a:r>
              <a:rPr lang="en-US" sz="1100" dirty="0" smtClean="0"/>
              <a:t>i</a:t>
            </a:r>
            <a:r>
              <a:rPr lang="en-US" dirty="0" smtClean="0"/>
              <a:t> + (LR * Error * X</a:t>
            </a:r>
            <a:r>
              <a:rPr lang="en-US" sz="1100" dirty="0" smtClean="0"/>
              <a:t>i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US" dirty="0" smtClean="0"/>
              <a:t>W = Weight</a:t>
            </a:r>
          </a:p>
          <a:p>
            <a:r>
              <a:rPr lang="en-US" dirty="0" smtClean="0"/>
              <a:t>LR = Learning Rate</a:t>
            </a:r>
          </a:p>
          <a:p>
            <a:r>
              <a:rPr lang="en-US" dirty="0"/>
              <a:t>X</a:t>
            </a:r>
            <a:r>
              <a:rPr lang="en-US" dirty="0" smtClean="0"/>
              <a:t> = Input</a:t>
            </a:r>
            <a:br>
              <a:rPr lang="en-US" dirty="0" smtClean="0"/>
            </a:br>
            <a:r>
              <a:rPr lang="en-US" dirty="0" smtClean="0"/>
              <a:t>B = Bias</a:t>
            </a:r>
          </a:p>
          <a:p>
            <a:r>
              <a:rPr lang="en-US" dirty="0" smtClean="0"/>
              <a:t>Y = output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4851714" cy="432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578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Sekilas</a:t>
            </a:r>
            <a:r>
              <a:rPr lang="en-US" dirty="0" smtClean="0"/>
              <a:t> Perceptron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Gerbang</a:t>
            </a:r>
            <a:r>
              <a:rPr lang="en-US" dirty="0" smtClean="0"/>
              <a:t> AND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715658"/>
              </p:ext>
            </p:extLst>
          </p:nvPr>
        </p:nvGraphicFramePr>
        <p:xfrm>
          <a:off x="1169851" y="2613780"/>
          <a:ext cx="4081416" cy="3029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472">
                  <a:extLst>
                    <a:ext uri="{9D8B030D-6E8A-4147-A177-3AD203B41FA5}">
                      <a16:colId xmlns:a16="http://schemas.microsoft.com/office/drawing/2014/main" val="1448623448"/>
                    </a:ext>
                  </a:extLst>
                </a:gridCol>
                <a:gridCol w="1360472">
                  <a:extLst>
                    <a:ext uri="{9D8B030D-6E8A-4147-A177-3AD203B41FA5}">
                      <a16:colId xmlns:a16="http://schemas.microsoft.com/office/drawing/2014/main" val="3675533978"/>
                    </a:ext>
                  </a:extLst>
                </a:gridCol>
                <a:gridCol w="1360472">
                  <a:extLst>
                    <a:ext uri="{9D8B030D-6E8A-4147-A177-3AD203B41FA5}">
                      <a16:colId xmlns:a16="http://schemas.microsoft.com/office/drawing/2014/main" val="3601221930"/>
                    </a:ext>
                  </a:extLst>
                </a:gridCol>
              </a:tblGrid>
              <a:tr h="60587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7604234"/>
                  </a:ext>
                </a:extLst>
              </a:tr>
              <a:tr h="605875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897873"/>
                  </a:ext>
                </a:extLst>
              </a:tr>
              <a:tr h="605875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01090"/>
                  </a:ext>
                </a:extLst>
              </a:tr>
              <a:tr h="605875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395665"/>
                  </a:ext>
                </a:extLst>
              </a:tr>
              <a:tr h="605875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422804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972" y="1389634"/>
            <a:ext cx="5371828" cy="478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622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Sekilas</a:t>
            </a:r>
            <a:r>
              <a:rPr lang="en-US" dirty="0" smtClean="0"/>
              <a:t> Perceptron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Gerbang</a:t>
            </a:r>
            <a:r>
              <a:rPr lang="en-US" dirty="0" smtClean="0"/>
              <a:t> OR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561764"/>
              </p:ext>
            </p:extLst>
          </p:nvPr>
        </p:nvGraphicFramePr>
        <p:xfrm>
          <a:off x="1169851" y="2613780"/>
          <a:ext cx="4081416" cy="3029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472">
                  <a:extLst>
                    <a:ext uri="{9D8B030D-6E8A-4147-A177-3AD203B41FA5}">
                      <a16:colId xmlns:a16="http://schemas.microsoft.com/office/drawing/2014/main" val="1448623448"/>
                    </a:ext>
                  </a:extLst>
                </a:gridCol>
                <a:gridCol w="1360472">
                  <a:extLst>
                    <a:ext uri="{9D8B030D-6E8A-4147-A177-3AD203B41FA5}">
                      <a16:colId xmlns:a16="http://schemas.microsoft.com/office/drawing/2014/main" val="3675533978"/>
                    </a:ext>
                  </a:extLst>
                </a:gridCol>
                <a:gridCol w="1360472">
                  <a:extLst>
                    <a:ext uri="{9D8B030D-6E8A-4147-A177-3AD203B41FA5}">
                      <a16:colId xmlns:a16="http://schemas.microsoft.com/office/drawing/2014/main" val="3601221930"/>
                    </a:ext>
                  </a:extLst>
                </a:gridCol>
              </a:tblGrid>
              <a:tr h="60587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7604234"/>
                  </a:ext>
                </a:extLst>
              </a:tr>
              <a:tr h="605875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897873"/>
                  </a:ext>
                </a:extLst>
              </a:tr>
              <a:tr h="605875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01090"/>
                  </a:ext>
                </a:extLst>
              </a:tr>
              <a:tr h="605875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395665"/>
                  </a:ext>
                </a:extLst>
              </a:tr>
              <a:tr h="605875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422804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650" y="1307374"/>
            <a:ext cx="4865150" cy="433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82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Sekilas</a:t>
            </a:r>
            <a:r>
              <a:rPr lang="en-US" dirty="0" smtClean="0"/>
              <a:t> Perceptron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Gerbang</a:t>
            </a:r>
            <a:r>
              <a:rPr lang="en-US" dirty="0" smtClean="0"/>
              <a:t> NAND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337056"/>
              </p:ext>
            </p:extLst>
          </p:nvPr>
        </p:nvGraphicFramePr>
        <p:xfrm>
          <a:off x="1169851" y="2613780"/>
          <a:ext cx="4081416" cy="3029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472">
                  <a:extLst>
                    <a:ext uri="{9D8B030D-6E8A-4147-A177-3AD203B41FA5}">
                      <a16:colId xmlns:a16="http://schemas.microsoft.com/office/drawing/2014/main" val="1448623448"/>
                    </a:ext>
                  </a:extLst>
                </a:gridCol>
                <a:gridCol w="1360472">
                  <a:extLst>
                    <a:ext uri="{9D8B030D-6E8A-4147-A177-3AD203B41FA5}">
                      <a16:colId xmlns:a16="http://schemas.microsoft.com/office/drawing/2014/main" val="3675533978"/>
                    </a:ext>
                  </a:extLst>
                </a:gridCol>
                <a:gridCol w="1360472">
                  <a:extLst>
                    <a:ext uri="{9D8B030D-6E8A-4147-A177-3AD203B41FA5}">
                      <a16:colId xmlns:a16="http://schemas.microsoft.com/office/drawing/2014/main" val="3601221930"/>
                    </a:ext>
                  </a:extLst>
                </a:gridCol>
              </a:tblGrid>
              <a:tr h="60587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7604234"/>
                  </a:ext>
                </a:extLst>
              </a:tr>
              <a:tr h="605875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897873"/>
                  </a:ext>
                </a:extLst>
              </a:tr>
              <a:tr h="605875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01090"/>
                  </a:ext>
                </a:extLst>
              </a:tr>
              <a:tr h="605875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395665"/>
                  </a:ext>
                </a:extLst>
              </a:tr>
              <a:tr h="605875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422804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595" y="975480"/>
            <a:ext cx="6087714" cy="5425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92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Sekilas</a:t>
            </a:r>
            <a:r>
              <a:rPr lang="en-US" dirty="0" smtClean="0"/>
              <a:t> Perceptron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Gerbang</a:t>
            </a:r>
            <a:r>
              <a:rPr lang="en-US" dirty="0" smtClean="0"/>
              <a:t> XOR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180522"/>
              </p:ext>
            </p:extLst>
          </p:nvPr>
        </p:nvGraphicFramePr>
        <p:xfrm>
          <a:off x="1169851" y="2613780"/>
          <a:ext cx="4081416" cy="3029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472">
                  <a:extLst>
                    <a:ext uri="{9D8B030D-6E8A-4147-A177-3AD203B41FA5}">
                      <a16:colId xmlns:a16="http://schemas.microsoft.com/office/drawing/2014/main" val="1448623448"/>
                    </a:ext>
                  </a:extLst>
                </a:gridCol>
                <a:gridCol w="1360472">
                  <a:extLst>
                    <a:ext uri="{9D8B030D-6E8A-4147-A177-3AD203B41FA5}">
                      <a16:colId xmlns:a16="http://schemas.microsoft.com/office/drawing/2014/main" val="3675533978"/>
                    </a:ext>
                  </a:extLst>
                </a:gridCol>
                <a:gridCol w="1360472">
                  <a:extLst>
                    <a:ext uri="{9D8B030D-6E8A-4147-A177-3AD203B41FA5}">
                      <a16:colId xmlns:a16="http://schemas.microsoft.com/office/drawing/2014/main" val="3601221930"/>
                    </a:ext>
                  </a:extLst>
                </a:gridCol>
              </a:tblGrid>
              <a:tr h="60587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7604234"/>
                  </a:ext>
                </a:extLst>
              </a:tr>
              <a:tr h="605875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897873"/>
                  </a:ext>
                </a:extLst>
              </a:tr>
              <a:tr h="605875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01090"/>
                  </a:ext>
                </a:extLst>
              </a:tr>
              <a:tr h="605875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395665"/>
                  </a:ext>
                </a:extLst>
              </a:tr>
              <a:tr h="605875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422804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562792"/>
            <a:ext cx="3676650" cy="3276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56663" y="4284617"/>
            <a:ext cx="4948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Perceptron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akan</a:t>
            </a:r>
            <a:r>
              <a:rPr lang="en-US" dirty="0" smtClean="0"/>
              <a:t> </a:t>
            </a:r>
            <a:r>
              <a:rPr lang="en-US" dirty="0" err="1" smtClean="0"/>
              <a:t>pernah</a:t>
            </a:r>
            <a:r>
              <a:rPr lang="en-US" dirty="0" smtClean="0"/>
              <a:t>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menyelesaikan</a:t>
            </a:r>
            <a:r>
              <a:rPr lang="en-US" dirty="0" smtClean="0"/>
              <a:t> </a:t>
            </a:r>
            <a:r>
              <a:rPr lang="en-US" dirty="0" err="1" smtClean="0"/>
              <a:t>permasalahan</a:t>
            </a:r>
            <a:r>
              <a:rPr lang="en-US" dirty="0" smtClean="0"/>
              <a:t> </a:t>
            </a:r>
            <a:r>
              <a:rPr lang="en-US" dirty="0" err="1" smtClean="0"/>
              <a:t>gerbang</a:t>
            </a:r>
            <a:r>
              <a:rPr lang="en-US" smtClean="0"/>
              <a:t> </a:t>
            </a:r>
            <a:r>
              <a:rPr lang="en-US" smtClean="0"/>
              <a:t>XOR </a:t>
            </a:r>
            <a:r>
              <a:rPr lang="en-US" dirty="0" err="1" smtClean="0"/>
              <a:t>karena</a:t>
            </a:r>
            <a:r>
              <a:rPr lang="en-US" dirty="0" smtClean="0"/>
              <a:t> </a:t>
            </a:r>
            <a:r>
              <a:rPr lang="en-US" dirty="0" err="1" smtClean="0"/>
              <a:t>sifatnya</a:t>
            </a:r>
            <a:r>
              <a:rPr lang="en-US" dirty="0" smtClean="0"/>
              <a:t> yang </a:t>
            </a:r>
            <a:r>
              <a:rPr lang="en-US" b="1" u="sng" dirty="0" smtClean="0">
                <a:solidFill>
                  <a:srgbClr val="FF0000"/>
                </a:solidFill>
              </a:rPr>
              <a:t>Linier Classifier</a:t>
            </a:r>
            <a:endParaRPr lang="en-US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4504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Multilayer Perceptron (Backpropagation)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04" y="1601692"/>
            <a:ext cx="5849983" cy="3792135"/>
          </a:xfrm>
          <a:prstGeom prst="rect">
            <a:avLst/>
          </a:prstGeom>
        </p:spPr>
      </p:pic>
      <p:pic>
        <p:nvPicPr>
          <p:cNvPr id="1026" name="Picture 2" descr="Image result for multilayer perceptr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2909" y="3694473"/>
            <a:ext cx="6075408" cy="3163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217922" y="1854926"/>
            <a:ext cx="57103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/>
              <a:t>Terdiri</a:t>
            </a:r>
            <a:r>
              <a:rPr lang="en-US" sz="3200" dirty="0" smtClean="0"/>
              <a:t> </a:t>
            </a:r>
            <a:r>
              <a:rPr lang="en-US" sz="3200" dirty="0" err="1" smtClean="0"/>
              <a:t>dari</a:t>
            </a:r>
            <a:r>
              <a:rPr lang="en-US" sz="3200" dirty="0" smtClean="0"/>
              <a:t> 3 </a:t>
            </a:r>
            <a:r>
              <a:rPr lang="en-US" sz="3200" dirty="0" err="1" smtClean="0"/>
              <a:t>bagian</a:t>
            </a:r>
            <a:r>
              <a:rPr lang="en-US" sz="3200" dirty="0" smtClean="0"/>
              <a:t>: Input Layer, Hidden Layer, Output Layer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57975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d-ID" dirty="0" smtClean="0"/>
              <a:t>Hard Limit </a:t>
            </a:r>
            <a:r>
              <a:rPr lang="en-US" dirty="0" err="1" smtClean="0"/>
              <a:t>yg</a:t>
            </a:r>
            <a:r>
              <a:rPr lang="en-US" dirty="0" smtClean="0"/>
              <a:t>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perceptron</a:t>
            </a:r>
            <a:endParaRPr lang="id-ID" dirty="0"/>
          </a:p>
        </p:txBody>
      </p:sp>
      <p:graphicFrame>
        <p:nvGraphicFramePr>
          <p:cNvPr id="3074" name="Object 4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238376" y="1714501"/>
          <a:ext cx="4786313" cy="388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8" name="Visio" r:id="rId3" imgW="2370125" imgH="1926336" progId="Visio.Drawing.11">
                  <p:embed/>
                </p:oleObj>
              </mc:Choice>
              <mc:Fallback>
                <p:oleObj name="Visio" r:id="rId3" imgW="2370125" imgH="1926336" progId="Visio.Drawing.11">
                  <p:embed/>
                  <p:pic>
                    <p:nvPicPr>
                      <p:cNvPr id="307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8376" y="1714501"/>
                        <a:ext cx="4786313" cy="3889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8" name="Group 11"/>
          <p:cNvGrpSpPr>
            <a:grpSpLocks/>
          </p:cNvGrpSpPr>
          <p:nvPr/>
        </p:nvGrpSpPr>
        <p:grpSpPr bwMode="auto">
          <a:xfrm>
            <a:off x="6810375" y="1714500"/>
            <a:ext cx="2952750" cy="863600"/>
            <a:chOff x="2608" y="1480"/>
            <a:chExt cx="1860" cy="544"/>
          </a:xfrm>
        </p:grpSpPr>
        <p:graphicFrame>
          <p:nvGraphicFramePr>
            <p:cNvPr id="3075" name="Object 5"/>
            <p:cNvGraphicFramePr>
              <a:graphicFrameLocks noChangeAspect="1"/>
            </p:cNvGraphicFramePr>
            <p:nvPr/>
          </p:nvGraphicFramePr>
          <p:xfrm>
            <a:off x="2608" y="1661"/>
            <a:ext cx="408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99" name="Equation" r:id="rId5" imgW="253780" imgH="164957" progId="Equation.3">
                    <p:embed/>
                  </p:oleObj>
                </mc:Choice>
                <mc:Fallback>
                  <p:oleObj name="Equation" r:id="rId5" imgW="253780" imgH="164957" progId="Equation.3">
                    <p:embed/>
                    <p:pic>
                      <p:nvPicPr>
                        <p:cNvPr id="3075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1661"/>
                          <a:ext cx="408" cy="25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6" name="Object 6"/>
            <p:cNvGraphicFramePr>
              <a:graphicFrameLocks noChangeAspect="1"/>
            </p:cNvGraphicFramePr>
            <p:nvPr/>
          </p:nvGraphicFramePr>
          <p:xfrm>
            <a:off x="3470" y="1525"/>
            <a:ext cx="998" cy="4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0" name="Equation" r:id="rId7" imgW="914400" imgH="431800" progId="Equation.3">
                    <p:embed/>
                  </p:oleObj>
                </mc:Choice>
                <mc:Fallback>
                  <p:oleObj name="Equation" r:id="rId7" imgW="914400" imgH="431800" progId="Equation.3">
                    <p:embed/>
                    <p:pic>
                      <p:nvPicPr>
                        <p:cNvPr id="3076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0" y="1525"/>
                          <a:ext cx="998" cy="4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9" name="AutoShape 7"/>
            <p:cNvSpPr>
              <a:spLocks/>
            </p:cNvSpPr>
            <p:nvPr/>
          </p:nvSpPr>
          <p:spPr bwMode="auto">
            <a:xfrm>
              <a:off x="3152" y="1480"/>
              <a:ext cx="216" cy="544"/>
            </a:xfrm>
            <a:prstGeom prst="leftBrace">
              <a:avLst>
                <a:gd name="adj1" fmla="val 20988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>
                <a:latin typeface="Century Schoolbook" panose="020406040505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5995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566" y="430439"/>
            <a:ext cx="4558937" cy="1325563"/>
          </a:xfrm>
        </p:spPr>
        <p:txBody>
          <a:bodyPr/>
          <a:lstStyle/>
          <a:p>
            <a:r>
              <a:rPr lang="en-US" dirty="0" smtClean="0"/>
              <a:t>Sigmoid </a:t>
            </a:r>
            <a:r>
              <a:rPr lang="en-US" dirty="0" err="1" smtClean="0"/>
              <a:t>pada</a:t>
            </a:r>
            <a:r>
              <a:rPr lang="en-US" dirty="0" smtClean="0"/>
              <a:t> backpropagation</a:t>
            </a:r>
            <a:endParaRPr lang="en-US" dirty="0"/>
          </a:p>
        </p:txBody>
      </p:sp>
      <p:pic>
        <p:nvPicPr>
          <p:cNvPr id="2050" name="Picture 2" descr="https://upload.wikimedia.org/wikipedia/commons/thumb/8/88/Logistic-curve.svg/320px-Logistic-curve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899" y="0"/>
            <a:ext cx="7634101" cy="5081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38304" y="5250633"/>
                <a:ext cx="6574971" cy="1287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1+ </m:t>
                          </m:r>
                          <m:sSup>
                            <m:sSup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8304" y="5250633"/>
                <a:ext cx="6574971" cy="12877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0499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26571"/>
                <a:ext cx="3537857" cy="585039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 smtClean="0"/>
                  <a:t>Contoh</a:t>
                </a:r>
                <a:r>
                  <a:rPr lang="en-US" dirty="0" smtClean="0"/>
                  <a:t>:</a:t>
                </a:r>
              </a:p>
              <a:p>
                <a:pPr marL="0" indent="0">
                  <a:buNone/>
                </a:pPr>
                <a:r>
                  <a:rPr lang="en-US" dirty="0" smtClean="0"/>
                  <a:t>x = -2, y = 5, z = -4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26571"/>
                <a:ext cx="3537857" cy="5850392"/>
              </a:xfrm>
              <a:blipFill>
                <a:blip r:embed="rId2"/>
                <a:stretch>
                  <a:fillRect l="-3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8033655" y="1350488"/>
            <a:ext cx="640081" cy="6139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+</a:t>
            </a:r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" name="Elbow Connector 5"/>
          <p:cNvCxnSpPr>
            <a:endCxn id="4" idx="1"/>
          </p:cNvCxnSpPr>
          <p:nvPr/>
        </p:nvCxnSpPr>
        <p:spPr>
          <a:xfrm>
            <a:off x="6087291" y="827974"/>
            <a:ext cx="2040102" cy="612426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endCxn id="4" idx="3"/>
          </p:cNvCxnSpPr>
          <p:nvPr/>
        </p:nvCxnSpPr>
        <p:spPr>
          <a:xfrm flipV="1">
            <a:off x="6100354" y="1874531"/>
            <a:ext cx="2027039" cy="677742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045337" y="2291014"/>
            <a:ext cx="731520" cy="67926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*</a:t>
            </a:r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13" name="Elbow Connector 12"/>
          <p:cNvCxnSpPr>
            <a:stCxn id="4" idx="6"/>
            <a:endCxn id="9" idx="1"/>
          </p:cNvCxnSpPr>
          <p:nvPr/>
        </p:nvCxnSpPr>
        <p:spPr>
          <a:xfrm>
            <a:off x="8673736" y="1657466"/>
            <a:ext cx="1478730" cy="73302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endCxn id="9" idx="3"/>
          </p:cNvCxnSpPr>
          <p:nvPr/>
        </p:nvCxnSpPr>
        <p:spPr>
          <a:xfrm flipV="1">
            <a:off x="6087291" y="2870806"/>
            <a:ext cx="4065175" cy="750851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87291" y="458642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   -2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120152" y="2157542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   5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120152" y="3273970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z   -4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9206346" y="13135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cxnSp>
        <p:nvCxnSpPr>
          <p:cNvPr id="24" name="Straight Connector 23"/>
          <p:cNvCxnSpPr>
            <a:stCxn id="9" idx="6"/>
          </p:cNvCxnSpPr>
          <p:nvPr/>
        </p:nvCxnSpPr>
        <p:spPr>
          <a:xfrm flipV="1">
            <a:off x="10776857" y="2630648"/>
            <a:ext cx="875211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943222" y="2253319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    -12</a:t>
            </a:r>
            <a:endParaRPr lang="en-US" dirty="0"/>
          </a:p>
        </p:txBody>
      </p:sp>
      <p:cxnSp>
        <p:nvCxnSpPr>
          <p:cNvPr id="27" name="Straight Arrow Connector 26"/>
          <p:cNvCxnSpPr/>
          <p:nvPr/>
        </p:nvCxnSpPr>
        <p:spPr>
          <a:xfrm flipH="1">
            <a:off x="8835089" y="458642"/>
            <a:ext cx="465665" cy="460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413101" y="89310"/>
            <a:ext cx="1590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Forward Graph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66885" y="3273970"/>
            <a:ext cx="4820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Yang </a:t>
            </a:r>
            <a:r>
              <a:rPr lang="en-US" dirty="0" err="1" smtClean="0"/>
              <a:t>dilakukan</a:t>
            </a:r>
            <a:r>
              <a:rPr lang="en-US" dirty="0" smtClean="0"/>
              <a:t> </a:t>
            </a:r>
            <a:r>
              <a:rPr lang="en-US" dirty="0" err="1" smtClean="0"/>
              <a:t>berikutnya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menurunkan</a:t>
            </a:r>
            <a:r>
              <a:rPr lang="en-US" dirty="0" smtClean="0"/>
              <a:t> gradient </a:t>
            </a:r>
            <a:r>
              <a:rPr lang="en-US" dirty="0" err="1" smtClean="0"/>
              <a:t>pada</a:t>
            </a:r>
            <a:r>
              <a:rPr lang="en-US" dirty="0" smtClean="0"/>
              <a:t> input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8733059" y="126648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266885" y="4336869"/>
                <a:ext cx="4820755" cy="67659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           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     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=1</m:t>
                    </m:r>
                  </m:oMath>
                </a14:m>
                <a:r>
                  <a:rPr lang="en-US" sz="2400" dirty="0" smtClean="0"/>
                  <a:t>     </a:t>
                </a:r>
                <a:endParaRPr lang="en-US" sz="2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885" y="4336869"/>
                <a:ext cx="4820755" cy="6765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256357" y="5099990"/>
                <a:ext cx="4831283" cy="856838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            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57" y="5099990"/>
                <a:ext cx="4831283" cy="8568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56357" y="6043354"/>
                <a:ext cx="2209131" cy="6765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smtClean="0"/>
                  <a:t>Cari: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57" y="6043354"/>
                <a:ext cx="2209131" cy="676595"/>
              </a:xfrm>
              <a:prstGeom prst="rect">
                <a:avLst/>
              </a:prstGeom>
              <a:blipFill>
                <a:blip r:embed="rId5"/>
                <a:stretch>
                  <a:fillRect l="-4144"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/>
          <p:cNvSpPr txBox="1"/>
          <p:nvPr/>
        </p:nvSpPr>
        <p:spPr>
          <a:xfrm>
            <a:off x="5704093" y="4015313"/>
            <a:ext cx="5947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mencari</a:t>
            </a:r>
            <a:r>
              <a:rPr lang="en-US" dirty="0" smtClean="0"/>
              <a:t> turunan2 </a:t>
            </a:r>
            <a:r>
              <a:rPr lang="en-US" dirty="0" err="1" smtClean="0"/>
              <a:t>tersebut</a:t>
            </a:r>
            <a:r>
              <a:rPr lang="en-US" dirty="0" smtClean="0"/>
              <a:t>, </a:t>
            </a:r>
            <a:r>
              <a:rPr lang="en-US" dirty="0" err="1" smtClean="0"/>
              <a:t>kita</a:t>
            </a:r>
            <a:r>
              <a:rPr lang="en-US" dirty="0" smtClean="0"/>
              <a:t> </a:t>
            </a:r>
            <a:r>
              <a:rPr lang="en-US" dirty="0" err="1" smtClean="0"/>
              <a:t>mulai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belakang</a:t>
            </a:r>
            <a:r>
              <a:rPr lang="en-US" dirty="0" smtClean="0"/>
              <a:t> (f)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10943222" y="3246231"/>
                <a:ext cx="499175" cy="667619"/>
              </a:xfrm>
              <a:prstGeom prst="rect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3222" y="3246231"/>
                <a:ext cx="499175" cy="6676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/>
          <p:cNvCxnSpPr>
            <a:stCxn id="36" idx="0"/>
          </p:cNvCxnSpPr>
          <p:nvPr/>
        </p:nvCxnSpPr>
        <p:spPr>
          <a:xfrm flipV="1">
            <a:off x="11192810" y="2970283"/>
            <a:ext cx="136094" cy="2759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1286746" y="2641892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= 1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704093" y="4462725"/>
            <a:ext cx="2830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Nilai</a:t>
            </a:r>
            <a:r>
              <a:rPr lang="en-US" dirty="0" smtClean="0"/>
              <a:t> gradient </a:t>
            </a:r>
            <a:r>
              <a:rPr lang="en-US" dirty="0" err="1" smtClean="0"/>
              <a:t>dari</a:t>
            </a:r>
            <a:r>
              <a:rPr lang="en-US" dirty="0" smtClean="0"/>
              <a:t> f </a:t>
            </a:r>
            <a:r>
              <a:rPr lang="en-US" dirty="0" err="1" smtClean="0"/>
              <a:t>adalah</a:t>
            </a:r>
            <a:r>
              <a:rPr lang="en-US" dirty="0" smtClean="0"/>
              <a:t>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535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5" grpId="0"/>
      <p:bldP spid="28" grpId="0"/>
      <p:bldP spid="30" grpId="0"/>
      <p:bldP spid="31" grpId="0"/>
      <p:bldP spid="32" grpId="0" animBg="1"/>
      <p:bldP spid="33" grpId="0" animBg="1"/>
      <p:bldP spid="34" grpId="0"/>
      <p:bldP spid="35" grpId="0"/>
      <p:bldP spid="36" grpId="0" animBg="1"/>
      <p:bldP spid="40" grpId="0"/>
      <p:bldP spid="4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26571"/>
                <a:ext cx="3537857" cy="585039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 smtClean="0"/>
                  <a:t>Contoh</a:t>
                </a:r>
                <a:r>
                  <a:rPr lang="en-US" dirty="0" smtClean="0"/>
                  <a:t>:</a:t>
                </a:r>
              </a:p>
              <a:p>
                <a:pPr marL="0" indent="0">
                  <a:buNone/>
                </a:pPr>
                <a:r>
                  <a:rPr lang="en-US" dirty="0" smtClean="0"/>
                  <a:t>x = -2, y = 5, z = -4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26571"/>
                <a:ext cx="3537857" cy="5850392"/>
              </a:xfrm>
              <a:blipFill>
                <a:blip r:embed="rId2"/>
                <a:stretch>
                  <a:fillRect l="-3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8033655" y="1350488"/>
            <a:ext cx="640081" cy="6139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+</a:t>
            </a:r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" name="Elbow Connector 5"/>
          <p:cNvCxnSpPr>
            <a:endCxn id="4" idx="1"/>
          </p:cNvCxnSpPr>
          <p:nvPr/>
        </p:nvCxnSpPr>
        <p:spPr>
          <a:xfrm>
            <a:off x="6087291" y="827974"/>
            <a:ext cx="2040102" cy="612426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endCxn id="4" idx="3"/>
          </p:cNvCxnSpPr>
          <p:nvPr/>
        </p:nvCxnSpPr>
        <p:spPr>
          <a:xfrm flipV="1">
            <a:off x="6100354" y="1874531"/>
            <a:ext cx="2027039" cy="677742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045337" y="2291014"/>
            <a:ext cx="731520" cy="67926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*</a:t>
            </a:r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13" name="Elbow Connector 12"/>
          <p:cNvCxnSpPr>
            <a:stCxn id="4" idx="6"/>
            <a:endCxn id="9" idx="1"/>
          </p:cNvCxnSpPr>
          <p:nvPr/>
        </p:nvCxnSpPr>
        <p:spPr>
          <a:xfrm>
            <a:off x="8673736" y="1657466"/>
            <a:ext cx="1478730" cy="73302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endCxn id="9" idx="3"/>
          </p:cNvCxnSpPr>
          <p:nvPr/>
        </p:nvCxnSpPr>
        <p:spPr>
          <a:xfrm flipV="1">
            <a:off x="6087291" y="2870806"/>
            <a:ext cx="4065175" cy="750851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87291" y="458642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   -2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120152" y="2157542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   5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120152" y="3273970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z   -4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9206346" y="13135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cxnSp>
        <p:nvCxnSpPr>
          <p:cNvPr id="24" name="Straight Connector 23"/>
          <p:cNvCxnSpPr>
            <a:stCxn id="9" idx="6"/>
          </p:cNvCxnSpPr>
          <p:nvPr/>
        </p:nvCxnSpPr>
        <p:spPr>
          <a:xfrm flipV="1">
            <a:off x="10776857" y="2630648"/>
            <a:ext cx="875211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943222" y="2253319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    -12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66885" y="3273970"/>
            <a:ext cx="4820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Yang </a:t>
            </a:r>
            <a:r>
              <a:rPr lang="en-US" dirty="0" err="1" smtClean="0"/>
              <a:t>dilakukan</a:t>
            </a:r>
            <a:r>
              <a:rPr lang="en-US" dirty="0" smtClean="0"/>
              <a:t> </a:t>
            </a:r>
            <a:r>
              <a:rPr lang="en-US" dirty="0" err="1" smtClean="0"/>
              <a:t>berikutnya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menurunkan</a:t>
            </a:r>
            <a:r>
              <a:rPr lang="en-US" dirty="0" smtClean="0"/>
              <a:t> gradient </a:t>
            </a:r>
            <a:r>
              <a:rPr lang="en-US" dirty="0" err="1" smtClean="0"/>
              <a:t>pada</a:t>
            </a:r>
            <a:r>
              <a:rPr lang="en-US" dirty="0" smtClean="0"/>
              <a:t> input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8733059" y="126648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266885" y="4336869"/>
                <a:ext cx="4820755" cy="67659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           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     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=1</m:t>
                    </m:r>
                  </m:oMath>
                </a14:m>
                <a:r>
                  <a:rPr lang="en-US" sz="2400" dirty="0" smtClean="0"/>
                  <a:t>     </a:t>
                </a:r>
                <a:endParaRPr lang="en-US" sz="2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885" y="4336869"/>
                <a:ext cx="4820755" cy="6765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256357" y="5099990"/>
                <a:ext cx="4831283" cy="856838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            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57" y="5099990"/>
                <a:ext cx="4831283" cy="8568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56357" y="6043354"/>
                <a:ext cx="2209131" cy="6765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smtClean="0"/>
                  <a:t>Cari: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57" y="6043354"/>
                <a:ext cx="2209131" cy="676595"/>
              </a:xfrm>
              <a:prstGeom prst="rect">
                <a:avLst/>
              </a:prstGeom>
              <a:blipFill>
                <a:blip r:embed="rId5"/>
                <a:stretch>
                  <a:fillRect l="-4144"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10457746" y="4474670"/>
                <a:ext cx="499175" cy="619016"/>
              </a:xfrm>
              <a:prstGeom prst="rect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7746" y="4474670"/>
                <a:ext cx="499175" cy="6190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/>
          <p:cNvCxnSpPr>
            <a:stCxn id="36" idx="0"/>
          </p:cNvCxnSpPr>
          <p:nvPr/>
        </p:nvCxnSpPr>
        <p:spPr>
          <a:xfrm flipH="1" flipV="1">
            <a:off x="6742438" y="3749040"/>
            <a:ext cx="3964896" cy="7256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1286746" y="26418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6167441" y="36771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5972174" y="4524819"/>
            <a:ext cx="32341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Nilai</a:t>
            </a:r>
            <a:r>
              <a:rPr lang="en-US" dirty="0" smtClean="0"/>
              <a:t> gradient </a:t>
            </a:r>
            <a:r>
              <a:rPr lang="en-US" dirty="0" err="1" smtClean="0"/>
              <a:t>dari</a:t>
            </a:r>
            <a:r>
              <a:rPr lang="en-US" dirty="0" smtClean="0"/>
              <a:t> z </a:t>
            </a:r>
            <a:r>
              <a:rPr lang="en-US" dirty="0" err="1" smtClean="0"/>
              <a:t>adalah</a:t>
            </a:r>
            <a:r>
              <a:rPr lang="en-US" dirty="0" smtClean="0"/>
              <a:t> 3</a:t>
            </a:r>
          </a:p>
          <a:p>
            <a:r>
              <a:rPr lang="en-US" dirty="0" err="1" smtClean="0"/>
              <a:t>Artinya</a:t>
            </a:r>
            <a:r>
              <a:rPr lang="en-US" dirty="0" smtClean="0"/>
              <a:t>: </a:t>
            </a:r>
            <a:r>
              <a:rPr lang="en-US" dirty="0" err="1" smtClean="0"/>
              <a:t>Penambahan</a:t>
            </a:r>
            <a:r>
              <a:rPr lang="en-US" dirty="0" smtClean="0"/>
              <a:t> 1 </a:t>
            </a:r>
            <a:r>
              <a:rPr lang="en-US" dirty="0" err="1" smtClean="0"/>
              <a:t>nilai</a:t>
            </a:r>
            <a:r>
              <a:rPr lang="en-US" dirty="0" smtClean="0"/>
              <a:t> z </a:t>
            </a:r>
            <a:r>
              <a:rPr lang="en-US" dirty="0" err="1" smtClean="0"/>
              <a:t>akan</a:t>
            </a:r>
            <a:r>
              <a:rPr lang="en-US" dirty="0" smtClean="0"/>
              <a:t> </a:t>
            </a:r>
            <a:r>
              <a:rPr lang="en-US" dirty="0" err="1" smtClean="0"/>
              <a:t>membuat</a:t>
            </a:r>
            <a:r>
              <a:rPr lang="en-US" dirty="0" smtClean="0"/>
              <a:t> </a:t>
            </a:r>
            <a:r>
              <a:rPr lang="en-US" dirty="0" err="1" smtClean="0"/>
              <a:t>keluaran</a:t>
            </a:r>
            <a:r>
              <a:rPr lang="en-US" dirty="0" smtClean="0"/>
              <a:t> f </a:t>
            </a:r>
            <a:r>
              <a:rPr lang="en-US" dirty="0" err="1" smtClean="0"/>
              <a:t>bertambah</a:t>
            </a:r>
            <a:r>
              <a:rPr lang="en-US" dirty="0" smtClean="0"/>
              <a:t> 3</a:t>
            </a:r>
          </a:p>
          <a:p>
            <a:r>
              <a:rPr lang="en-US" dirty="0" err="1" smtClean="0"/>
              <a:t>Contoh</a:t>
            </a:r>
            <a:r>
              <a:rPr lang="en-US" dirty="0" smtClean="0"/>
              <a:t>: </a:t>
            </a:r>
            <a:r>
              <a:rPr lang="en-US" dirty="0" err="1" smtClean="0"/>
              <a:t>jika</a:t>
            </a:r>
            <a:r>
              <a:rPr lang="en-US" dirty="0" smtClean="0"/>
              <a:t> z = -3, </a:t>
            </a:r>
            <a:r>
              <a:rPr lang="en-US" dirty="0" err="1" smtClean="0"/>
              <a:t>maka</a:t>
            </a:r>
            <a:r>
              <a:rPr lang="en-US" dirty="0" smtClean="0"/>
              <a:t> f = -9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64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/>
      <p:bldP spid="3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26571"/>
                <a:ext cx="3537857" cy="585039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 smtClean="0"/>
                  <a:t>Contoh</a:t>
                </a:r>
                <a:r>
                  <a:rPr lang="en-US" dirty="0" smtClean="0"/>
                  <a:t>:</a:t>
                </a:r>
              </a:p>
              <a:p>
                <a:pPr marL="0" indent="0">
                  <a:buNone/>
                </a:pPr>
                <a:r>
                  <a:rPr lang="en-US" dirty="0" smtClean="0"/>
                  <a:t>x = -2, y = 5, z = -4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26571"/>
                <a:ext cx="3537857" cy="5850392"/>
              </a:xfrm>
              <a:blipFill>
                <a:blip r:embed="rId2"/>
                <a:stretch>
                  <a:fillRect l="-3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8033655" y="1350488"/>
            <a:ext cx="640081" cy="6139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+</a:t>
            </a:r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" name="Elbow Connector 5"/>
          <p:cNvCxnSpPr>
            <a:endCxn id="4" idx="1"/>
          </p:cNvCxnSpPr>
          <p:nvPr/>
        </p:nvCxnSpPr>
        <p:spPr>
          <a:xfrm>
            <a:off x="6087291" y="827974"/>
            <a:ext cx="2040102" cy="612426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endCxn id="4" idx="3"/>
          </p:cNvCxnSpPr>
          <p:nvPr/>
        </p:nvCxnSpPr>
        <p:spPr>
          <a:xfrm flipV="1">
            <a:off x="6100354" y="1874531"/>
            <a:ext cx="2027039" cy="677742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045337" y="2291014"/>
            <a:ext cx="731520" cy="67926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*</a:t>
            </a:r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13" name="Elbow Connector 12"/>
          <p:cNvCxnSpPr>
            <a:stCxn id="4" idx="6"/>
            <a:endCxn id="9" idx="1"/>
          </p:cNvCxnSpPr>
          <p:nvPr/>
        </p:nvCxnSpPr>
        <p:spPr>
          <a:xfrm>
            <a:off x="8673736" y="1657466"/>
            <a:ext cx="1478730" cy="73302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endCxn id="9" idx="3"/>
          </p:cNvCxnSpPr>
          <p:nvPr/>
        </p:nvCxnSpPr>
        <p:spPr>
          <a:xfrm flipV="1">
            <a:off x="6087291" y="2870806"/>
            <a:ext cx="4065175" cy="750851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87291" y="458642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   -2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120152" y="2157542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   5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120152" y="3273970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z   -4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9206346" y="13135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cxnSp>
        <p:nvCxnSpPr>
          <p:cNvPr id="24" name="Straight Connector 23"/>
          <p:cNvCxnSpPr>
            <a:stCxn id="9" idx="6"/>
          </p:cNvCxnSpPr>
          <p:nvPr/>
        </p:nvCxnSpPr>
        <p:spPr>
          <a:xfrm flipV="1">
            <a:off x="10776857" y="2630648"/>
            <a:ext cx="875211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943222" y="2253319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    -12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66885" y="3273970"/>
            <a:ext cx="4820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Yang </a:t>
            </a:r>
            <a:r>
              <a:rPr lang="en-US" dirty="0" err="1" smtClean="0"/>
              <a:t>dilakukan</a:t>
            </a:r>
            <a:r>
              <a:rPr lang="en-US" dirty="0" smtClean="0"/>
              <a:t> </a:t>
            </a:r>
            <a:r>
              <a:rPr lang="en-US" dirty="0" err="1" smtClean="0"/>
              <a:t>berikutnya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menurunkan</a:t>
            </a:r>
            <a:r>
              <a:rPr lang="en-US" dirty="0" smtClean="0"/>
              <a:t> gradient </a:t>
            </a:r>
            <a:r>
              <a:rPr lang="en-US" dirty="0" err="1" smtClean="0"/>
              <a:t>pada</a:t>
            </a:r>
            <a:r>
              <a:rPr lang="en-US" dirty="0" smtClean="0"/>
              <a:t> input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8733059" y="126648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266885" y="4336869"/>
                <a:ext cx="4820755" cy="67659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           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     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=1</m:t>
                    </m:r>
                  </m:oMath>
                </a14:m>
                <a:r>
                  <a:rPr lang="en-US" sz="2400" dirty="0" smtClean="0"/>
                  <a:t>     </a:t>
                </a:r>
                <a:endParaRPr lang="en-US" sz="2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885" y="4336869"/>
                <a:ext cx="4820755" cy="6765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256357" y="5099990"/>
                <a:ext cx="4831283" cy="856838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            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57" y="5099990"/>
                <a:ext cx="4831283" cy="8568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56357" y="6043354"/>
                <a:ext cx="2209131" cy="6765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smtClean="0"/>
                  <a:t>Cari: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57" y="6043354"/>
                <a:ext cx="2209131" cy="676595"/>
              </a:xfrm>
              <a:prstGeom prst="rect">
                <a:avLst/>
              </a:prstGeom>
              <a:blipFill>
                <a:blip r:embed="rId5"/>
                <a:stretch>
                  <a:fillRect l="-4144"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10457746" y="4474670"/>
                <a:ext cx="499175" cy="665695"/>
              </a:xfrm>
              <a:prstGeom prst="rect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7746" y="4474670"/>
                <a:ext cx="499175" cy="6656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/>
          <p:cNvCxnSpPr>
            <a:stCxn id="36" idx="0"/>
          </p:cNvCxnSpPr>
          <p:nvPr/>
        </p:nvCxnSpPr>
        <p:spPr>
          <a:xfrm flipH="1" flipV="1">
            <a:off x="9614648" y="1874532"/>
            <a:ext cx="1092686" cy="260013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1286746" y="26418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6167441" y="36771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8845110" y="1669553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-4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5972174" y="4524819"/>
            <a:ext cx="32341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Nilai</a:t>
            </a:r>
            <a:r>
              <a:rPr lang="en-US" dirty="0" smtClean="0"/>
              <a:t> gradient </a:t>
            </a:r>
            <a:r>
              <a:rPr lang="en-US" dirty="0" err="1" smtClean="0"/>
              <a:t>dari</a:t>
            </a:r>
            <a:r>
              <a:rPr lang="en-US" dirty="0" smtClean="0"/>
              <a:t> q </a:t>
            </a:r>
            <a:r>
              <a:rPr lang="en-US" dirty="0" err="1" smtClean="0"/>
              <a:t>adalah</a:t>
            </a:r>
            <a:r>
              <a:rPr lang="en-US" dirty="0" smtClean="0"/>
              <a:t> -4</a:t>
            </a:r>
          </a:p>
          <a:p>
            <a:r>
              <a:rPr lang="en-US" dirty="0" err="1" smtClean="0"/>
              <a:t>Artinya</a:t>
            </a:r>
            <a:r>
              <a:rPr lang="en-US" dirty="0" smtClean="0"/>
              <a:t>: </a:t>
            </a:r>
            <a:r>
              <a:rPr lang="en-US" dirty="0" err="1" smtClean="0"/>
              <a:t>Penambahan</a:t>
            </a:r>
            <a:r>
              <a:rPr lang="en-US" dirty="0" smtClean="0"/>
              <a:t> 1 </a:t>
            </a:r>
            <a:r>
              <a:rPr lang="en-US" dirty="0" err="1" smtClean="0"/>
              <a:t>nilai</a:t>
            </a:r>
            <a:r>
              <a:rPr lang="en-US" dirty="0" smtClean="0"/>
              <a:t> q </a:t>
            </a:r>
            <a:r>
              <a:rPr lang="en-US" dirty="0" err="1" smtClean="0"/>
              <a:t>akan</a:t>
            </a:r>
            <a:r>
              <a:rPr lang="en-US" dirty="0" smtClean="0"/>
              <a:t> </a:t>
            </a:r>
            <a:r>
              <a:rPr lang="en-US" dirty="0" err="1" smtClean="0"/>
              <a:t>membuat</a:t>
            </a:r>
            <a:r>
              <a:rPr lang="en-US" dirty="0" smtClean="0"/>
              <a:t> </a:t>
            </a:r>
            <a:r>
              <a:rPr lang="en-US" dirty="0" err="1" smtClean="0"/>
              <a:t>keluaran</a:t>
            </a:r>
            <a:r>
              <a:rPr lang="en-US" dirty="0" smtClean="0"/>
              <a:t> f </a:t>
            </a:r>
            <a:r>
              <a:rPr lang="en-US" dirty="0" err="1" smtClean="0"/>
              <a:t>berkurang</a:t>
            </a:r>
            <a:r>
              <a:rPr lang="en-US" dirty="0" smtClean="0"/>
              <a:t> </a:t>
            </a:r>
            <a:r>
              <a:rPr lang="en-US" dirty="0"/>
              <a:t>4</a:t>
            </a:r>
            <a:endParaRPr lang="en-US" dirty="0" smtClean="0"/>
          </a:p>
          <a:p>
            <a:r>
              <a:rPr lang="en-US" dirty="0" err="1" smtClean="0"/>
              <a:t>Contoh</a:t>
            </a:r>
            <a:r>
              <a:rPr lang="en-US" dirty="0" smtClean="0"/>
              <a:t>: </a:t>
            </a:r>
            <a:r>
              <a:rPr lang="en-US" dirty="0" err="1" smtClean="0"/>
              <a:t>jika</a:t>
            </a:r>
            <a:r>
              <a:rPr lang="en-US" dirty="0" smtClean="0"/>
              <a:t> q = 4, </a:t>
            </a:r>
            <a:r>
              <a:rPr lang="en-US" dirty="0" err="1" smtClean="0"/>
              <a:t>maka</a:t>
            </a:r>
            <a:r>
              <a:rPr lang="en-US" dirty="0" smtClean="0"/>
              <a:t> f = -16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964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29" grpId="0"/>
      <p:bldP spid="4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26571"/>
                <a:ext cx="3537857" cy="585039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 smtClean="0"/>
                  <a:t>Contoh</a:t>
                </a:r>
                <a:r>
                  <a:rPr lang="en-US" dirty="0" smtClean="0"/>
                  <a:t>:</a:t>
                </a:r>
              </a:p>
              <a:p>
                <a:pPr marL="0" indent="0">
                  <a:buNone/>
                </a:pPr>
                <a:r>
                  <a:rPr lang="en-US" dirty="0" smtClean="0"/>
                  <a:t>x = -2, y = 5, z = -4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26571"/>
                <a:ext cx="3537857" cy="5850392"/>
              </a:xfrm>
              <a:blipFill>
                <a:blip r:embed="rId2"/>
                <a:stretch>
                  <a:fillRect l="-3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8033655" y="1350488"/>
            <a:ext cx="640081" cy="6139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+</a:t>
            </a:r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" name="Elbow Connector 5"/>
          <p:cNvCxnSpPr>
            <a:endCxn id="4" idx="1"/>
          </p:cNvCxnSpPr>
          <p:nvPr/>
        </p:nvCxnSpPr>
        <p:spPr>
          <a:xfrm>
            <a:off x="6087291" y="827974"/>
            <a:ext cx="2040102" cy="612426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endCxn id="4" idx="3"/>
          </p:cNvCxnSpPr>
          <p:nvPr/>
        </p:nvCxnSpPr>
        <p:spPr>
          <a:xfrm flipV="1">
            <a:off x="6100354" y="1874531"/>
            <a:ext cx="2027039" cy="677742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045337" y="2291014"/>
            <a:ext cx="731520" cy="67926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*</a:t>
            </a:r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13" name="Elbow Connector 12"/>
          <p:cNvCxnSpPr>
            <a:stCxn id="4" idx="6"/>
            <a:endCxn id="9" idx="1"/>
          </p:cNvCxnSpPr>
          <p:nvPr/>
        </p:nvCxnSpPr>
        <p:spPr>
          <a:xfrm>
            <a:off x="8673736" y="1657466"/>
            <a:ext cx="1478730" cy="73302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endCxn id="9" idx="3"/>
          </p:cNvCxnSpPr>
          <p:nvPr/>
        </p:nvCxnSpPr>
        <p:spPr>
          <a:xfrm flipV="1">
            <a:off x="6087291" y="2870806"/>
            <a:ext cx="4065175" cy="750851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87291" y="458642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   -2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120152" y="2157542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   5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120152" y="3273970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z   -4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9206346" y="13135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cxnSp>
        <p:nvCxnSpPr>
          <p:cNvPr id="24" name="Straight Connector 23"/>
          <p:cNvCxnSpPr>
            <a:stCxn id="9" idx="6"/>
          </p:cNvCxnSpPr>
          <p:nvPr/>
        </p:nvCxnSpPr>
        <p:spPr>
          <a:xfrm flipV="1">
            <a:off x="10776857" y="2630648"/>
            <a:ext cx="875211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943222" y="2253319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    -12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66885" y="3273970"/>
            <a:ext cx="4820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Yang </a:t>
            </a:r>
            <a:r>
              <a:rPr lang="en-US" dirty="0" err="1" smtClean="0"/>
              <a:t>dilakukan</a:t>
            </a:r>
            <a:r>
              <a:rPr lang="en-US" dirty="0" smtClean="0"/>
              <a:t> </a:t>
            </a:r>
            <a:r>
              <a:rPr lang="en-US" dirty="0" err="1" smtClean="0"/>
              <a:t>berikutnya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menurunkan</a:t>
            </a:r>
            <a:r>
              <a:rPr lang="en-US" dirty="0" smtClean="0"/>
              <a:t> gradient </a:t>
            </a:r>
            <a:r>
              <a:rPr lang="en-US" dirty="0" err="1" smtClean="0"/>
              <a:t>pada</a:t>
            </a:r>
            <a:r>
              <a:rPr lang="en-US" dirty="0" smtClean="0"/>
              <a:t> input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8733059" y="126648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266885" y="4336869"/>
                <a:ext cx="4820755" cy="67659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           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     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=1</m:t>
                    </m:r>
                  </m:oMath>
                </a14:m>
                <a:r>
                  <a:rPr lang="en-US" sz="2400" dirty="0" smtClean="0"/>
                  <a:t>     </a:t>
                </a:r>
                <a:endParaRPr lang="en-US" sz="2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885" y="4336869"/>
                <a:ext cx="4820755" cy="6765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256357" y="5099990"/>
                <a:ext cx="4831283" cy="856838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            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57" y="5099990"/>
                <a:ext cx="4831283" cy="8568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56357" y="6043354"/>
                <a:ext cx="2209131" cy="6765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smtClean="0"/>
                  <a:t>Cari: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57" y="6043354"/>
                <a:ext cx="2209131" cy="676595"/>
              </a:xfrm>
              <a:prstGeom prst="rect">
                <a:avLst/>
              </a:prstGeom>
              <a:blipFill>
                <a:blip r:embed="rId5"/>
                <a:stretch>
                  <a:fillRect l="-4144"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10457746" y="4474670"/>
                <a:ext cx="499624" cy="666336"/>
              </a:xfrm>
              <a:prstGeom prst="rect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7746" y="4474670"/>
                <a:ext cx="499624" cy="6663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/>
          <p:cNvCxnSpPr>
            <a:stCxn id="36" idx="0"/>
          </p:cNvCxnSpPr>
          <p:nvPr/>
        </p:nvCxnSpPr>
        <p:spPr>
          <a:xfrm flipH="1" flipV="1">
            <a:off x="6775300" y="2824622"/>
            <a:ext cx="3932258" cy="16500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1286746" y="26418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6167441" y="36771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8845110" y="1669553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-4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6107892" y="2586105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-4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107892" y="4046466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Chain Rule: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167441" y="4444834"/>
                <a:ext cx="1517467" cy="666336"/>
              </a:xfrm>
              <a:prstGeom prst="rect">
                <a:avLst/>
              </a:prstGeom>
              <a:noFill/>
              <a:ln w="28575">
                <a:solidFill>
                  <a:schemeClr val="accent1">
                    <a:lumMod val="5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7441" y="4444834"/>
                <a:ext cx="1517467" cy="6663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accent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/>
          <p:cNvSpPr txBox="1"/>
          <p:nvPr/>
        </p:nvSpPr>
        <p:spPr>
          <a:xfrm>
            <a:off x="6053913" y="5475164"/>
            <a:ext cx="59712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Nilai</a:t>
            </a:r>
            <a:r>
              <a:rPr lang="en-US" dirty="0" smtClean="0"/>
              <a:t> gradient </a:t>
            </a:r>
            <a:r>
              <a:rPr lang="en-US" dirty="0" err="1" smtClean="0"/>
              <a:t>dari</a:t>
            </a:r>
            <a:r>
              <a:rPr lang="en-US" dirty="0" smtClean="0"/>
              <a:t> y </a:t>
            </a:r>
            <a:r>
              <a:rPr lang="en-US" dirty="0" err="1" smtClean="0"/>
              <a:t>adalah</a:t>
            </a:r>
            <a:r>
              <a:rPr lang="en-US" dirty="0" smtClean="0"/>
              <a:t> -4</a:t>
            </a:r>
          </a:p>
          <a:p>
            <a:r>
              <a:rPr lang="en-US" dirty="0" err="1" smtClean="0"/>
              <a:t>Artinya</a:t>
            </a:r>
            <a:r>
              <a:rPr lang="en-US" dirty="0" smtClean="0"/>
              <a:t>: </a:t>
            </a:r>
            <a:r>
              <a:rPr lang="en-US" dirty="0" err="1" smtClean="0"/>
              <a:t>Penambahan</a:t>
            </a:r>
            <a:r>
              <a:rPr lang="en-US" dirty="0" smtClean="0"/>
              <a:t> 1 </a:t>
            </a:r>
            <a:r>
              <a:rPr lang="en-US" dirty="0" err="1" smtClean="0"/>
              <a:t>nilai</a:t>
            </a:r>
            <a:r>
              <a:rPr lang="en-US" dirty="0" smtClean="0"/>
              <a:t> y </a:t>
            </a:r>
            <a:r>
              <a:rPr lang="en-US" dirty="0" err="1" smtClean="0"/>
              <a:t>akan</a:t>
            </a:r>
            <a:r>
              <a:rPr lang="en-US" dirty="0" smtClean="0"/>
              <a:t> </a:t>
            </a:r>
            <a:r>
              <a:rPr lang="en-US" dirty="0" err="1" smtClean="0"/>
              <a:t>membuat</a:t>
            </a:r>
            <a:r>
              <a:rPr lang="en-US" dirty="0" smtClean="0"/>
              <a:t> q </a:t>
            </a:r>
            <a:r>
              <a:rPr lang="en-US" dirty="0" err="1" smtClean="0"/>
              <a:t>bertambah</a:t>
            </a:r>
            <a:r>
              <a:rPr lang="en-US" dirty="0" smtClean="0"/>
              <a:t> 1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keluaran</a:t>
            </a:r>
            <a:r>
              <a:rPr lang="en-US" dirty="0" smtClean="0"/>
              <a:t> f </a:t>
            </a:r>
            <a:r>
              <a:rPr lang="en-US" dirty="0" err="1" smtClean="0"/>
              <a:t>berkurang</a:t>
            </a:r>
            <a:r>
              <a:rPr lang="en-US" dirty="0" smtClean="0"/>
              <a:t> </a:t>
            </a:r>
            <a:r>
              <a:rPr lang="en-US" dirty="0"/>
              <a:t>4</a:t>
            </a:r>
            <a:endParaRPr lang="en-US" dirty="0" smtClean="0"/>
          </a:p>
          <a:p>
            <a:r>
              <a:rPr lang="en-US" dirty="0" err="1" smtClean="0"/>
              <a:t>Contoh</a:t>
            </a:r>
            <a:r>
              <a:rPr lang="en-US" dirty="0" smtClean="0"/>
              <a:t>: </a:t>
            </a:r>
            <a:r>
              <a:rPr lang="en-US" dirty="0" err="1" smtClean="0"/>
              <a:t>jika</a:t>
            </a:r>
            <a:r>
              <a:rPr lang="en-US" dirty="0" smtClean="0"/>
              <a:t> y = 6, </a:t>
            </a:r>
            <a:r>
              <a:rPr lang="en-US" dirty="0" err="1" smtClean="0"/>
              <a:t>maka</a:t>
            </a:r>
            <a:r>
              <a:rPr lang="en-US" dirty="0" smtClean="0"/>
              <a:t> q = 4 </a:t>
            </a:r>
            <a:r>
              <a:rPr lang="en-US" dirty="0" err="1" smtClean="0"/>
              <a:t>dan</a:t>
            </a:r>
            <a:r>
              <a:rPr lang="en-US" dirty="0" smtClean="0"/>
              <a:t> f = -16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956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5" grpId="0"/>
      <p:bldP spid="7" grpId="0"/>
      <p:bldP spid="10" grpId="0" animBg="1"/>
      <p:bldP spid="3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26571"/>
                <a:ext cx="3537857" cy="5850392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 smtClean="0"/>
                  <a:t>Contoh</a:t>
                </a:r>
                <a:r>
                  <a:rPr lang="en-US" dirty="0" smtClean="0"/>
                  <a:t>:</a:t>
                </a:r>
              </a:p>
              <a:p>
                <a:pPr marL="0" indent="0">
                  <a:buNone/>
                </a:pPr>
                <a:r>
                  <a:rPr lang="en-US" dirty="0" smtClean="0"/>
                  <a:t>x = -2, y = 5, z = -4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26571"/>
                <a:ext cx="3537857" cy="5850392"/>
              </a:xfrm>
              <a:blipFill>
                <a:blip r:embed="rId2"/>
                <a:stretch>
                  <a:fillRect l="-3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8033655" y="1350488"/>
            <a:ext cx="640081" cy="61395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+</a:t>
            </a:r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" name="Elbow Connector 5"/>
          <p:cNvCxnSpPr>
            <a:endCxn id="4" idx="1"/>
          </p:cNvCxnSpPr>
          <p:nvPr/>
        </p:nvCxnSpPr>
        <p:spPr>
          <a:xfrm>
            <a:off x="6087291" y="827974"/>
            <a:ext cx="2040102" cy="612426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endCxn id="4" idx="3"/>
          </p:cNvCxnSpPr>
          <p:nvPr/>
        </p:nvCxnSpPr>
        <p:spPr>
          <a:xfrm flipV="1">
            <a:off x="6100354" y="1874531"/>
            <a:ext cx="2027039" cy="677742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045337" y="2291014"/>
            <a:ext cx="731520" cy="67926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*</a:t>
            </a:r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13" name="Elbow Connector 12"/>
          <p:cNvCxnSpPr>
            <a:stCxn id="4" idx="6"/>
            <a:endCxn id="9" idx="1"/>
          </p:cNvCxnSpPr>
          <p:nvPr/>
        </p:nvCxnSpPr>
        <p:spPr>
          <a:xfrm>
            <a:off x="8673736" y="1657466"/>
            <a:ext cx="1478730" cy="733025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endCxn id="9" idx="3"/>
          </p:cNvCxnSpPr>
          <p:nvPr/>
        </p:nvCxnSpPr>
        <p:spPr>
          <a:xfrm flipV="1">
            <a:off x="6087291" y="2870806"/>
            <a:ext cx="4065175" cy="750851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87291" y="458642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   -2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120152" y="2157542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   5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120152" y="3273970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z   -4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9206346" y="13135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cxnSp>
        <p:nvCxnSpPr>
          <p:cNvPr id="24" name="Straight Connector 23"/>
          <p:cNvCxnSpPr>
            <a:stCxn id="9" idx="6"/>
          </p:cNvCxnSpPr>
          <p:nvPr/>
        </p:nvCxnSpPr>
        <p:spPr>
          <a:xfrm flipV="1">
            <a:off x="10776857" y="2630648"/>
            <a:ext cx="875211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943222" y="2253319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    -12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66885" y="3273970"/>
            <a:ext cx="4820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Yang </a:t>
            </a:r>
            <a:r>
              <a:rPr lang="en-US" dirty="0" err="1" smtClean="0"/>
              <a:t>dilakukan</a:t>
            </a:r>
            <a:r>
              <a:rPr lang="en-US" dirty="0" smtClean="0"/>
              <a:t> </a:t>
            </a:r>
            <a:r>
              <a:rPr lang="en-US" dirty="0" err="1" smtClean="0"/>
              <a:t>berikutnya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menurunkan</a:t>
            </a:r>
            <a:r>
              <a:rPr lang="en-US" dirty="0" smtClean="0"/>
              <a:t> gradient </a:t>
            </a:r>
            <a:r>
              <a:rPr lang="en-US" dirty="0" err="1" smtClean="0"/>
              <a:t>pada</a:t>
            </a:r>
            <a:r>
              <a:rPr lang="en-US" dirty="0" smtClean="0"/>
              <a:t> input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8733059" y="126648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266885" y="4336869"/>
                <a:ext cx="4820755" cy="67659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           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     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=1</m:t>
                    </m:r>
                  </m:oMath>
                </a14:m>
                <a:r>
                  <a:rPr lang="en-US" sz="2400" dirty="0" smtClean="0"/>
                  <a:t>     </a:t>
                </a:r>
                <a:endParaRPr lang="en-US" sz="2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885" y="4336869"/>
                <a:ext cx="4820755" cy="6765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256357" y="5099990"/>
                <a:ext cx="4831283" cy="856838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            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57" y="5099990"/>
                <a:ext cx="4831283" cy="8568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56357" y="6043354"/>
                <a:ext cx="2209131" cy="6765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smtClean="0"/>
                  <a:t>Cari: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57" y="6043354"/>
                <a:ext cx="2209131" cy="676595"/>
              </a:xfrm>
              <a:prstGeom prst="rect">
                <a:avLst/>
              </a:prstGeom>
              <a:blipFill>
                <a:blip r:embed="rId5"/>
                <a:stretch>
                  <a:fillRect l="-4144"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10457746" y="4474670"/>
                <a:ext cx="499175" cy="619016"/>
              </a:xfrm>
              <a:prstGeom prst="rect">
                <a:avLst/>
              </a:prstGeom>
              <a:no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7746" y="4474670"/>
                <a:ext cx="499175" cy="6190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/>
          <p:cNvCxnSpPr>
            <a:stCxn id="36" idx="0"/>
          </p:cNvCxnSpPr>
          <p:nvPr/>
        </p:nvCxnSpPr>
        <p:spPr>
          <a:xfrm flipH="1" flipV="1">
            <a:off x="6742438" y="1062318"/>
            <a:ext cx="3964896" cy="34123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1286746" y="26418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6167441" y="36771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8845110" y="1669553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-4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6107892" y="2586105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-4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114185" y="4040266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Chain Rule: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173734" y="4438634"/>
                <a:ext cx="1517467" cy="666336"/>
              </a:xfrm>
              <a:prstGeom prst="rect">
                <a:avLst/>
              </a:prstGeom>
              <a:noFill/>
              <a:ln w="28575">
                <a:solidFill>
                  <a:schemeClr val="accent1">
                    <a:lumMod val="5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3734" y="4438634"/>
                <a:ext cx="1517467" cy="6663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accent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/>
          <p:cNvSpPr txBox="1"/>
          <p:nvPr/>
        </p:nvSpPr>
        <p:spPr>
          <a:xfrm>
            <a:off x="6067387" y="92631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-4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6053913" y="5356663"/>
            <a:ext cx="59712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Nilai</a:t>
            </a:r>
            <a:r>
              <a:rPr lang="en-US" dirty="0" smtClean="0"/>
              <a:t> gradient </a:t>
            </a:r>
            <a:r>
              <a:rPr lang="en-US" dirty="0" err="1" smtClean="0"/>
              <a:t>dari</a:t>
            </a:r>
            <a:r>
              <a:rPr lang="en-US" dirty="0" smtClean="0"/>
              <a:t> x </a:t>
            </a:r>
            <a:r>
              <a:rPr lang="en-US" dirty="0" err="1" smtClean="0"/>
              <a:t>adalah</a:t>
            </a:r>
            <a:r>
              <a:rPr lang="en-US" dirty="0" smtClean="0"/>
              <a:t> -4</a:t>
            </a:r>
          </a:p>
          <a:p>
            <a:r>
              <a:rPr lang="en-US" dirty="0" err="1" smtClean="0"/>
              <a:t>Artinya</a:t>
            </a:r>
            <a:r>
              <a:rPr lang="en-US" dirty="0" smtClean="0"/>
              <a:t>: </a:t>
            </a:r>
            <a:r>
              <a:rPr lang="en-US" dirty="0" err="1" smtClean="0"/>
              <a:t>Penambahan</a:t>
            </a:r>
            <a:r>
              <a:rPr lang="en-US" dirty="0" smtClean="0"/>
              <a:t> 1 </a:t>
            </a:r>
            <a:r>
              <a:rPr lang="en-US" dirty="0" err="1" smtClean="0"/>
              <a:t>nilai</a:t>
            </a:r>
            <a:r>
              <a:rPr lang="en-US" dirty="0" smtClean="0"/>
              <a:t> x </a:t>
            </a:r>
            <a:r>
              <a:rPr lang="en-US" dirty="0" err="1" smtClean="0"/>
              <a:t>akan</a:t>
            </a:r>
            <a:r>
              <a:rPr lang="en-US" dirty="0" smtClean="0"/>
              <a:t> </a:t>
            </a:r>
            <a:r>
              <a:rPr lang="en-US" dirty="0" err="1" smtClean="0"/>
              <a:t>membuat</a:t>
            </a:r>
            <a:r>
              <a:rPr lang="en-US" dirty="0" smtClean="0"/>
              <a:t> q </a:t>
            </a:r>
            <a:r>
              <a:rPr lang="en-US" dirty="0" err="1" smtClean="0"/>
              <a:t>bertambah</a:t>
            </a:r>
            <a:r>
              <a:rPr lang="en-US" dirty="0" smtClean="0"/>
              <a:t> 1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keluaran</a:t>
            </a:r>
            <a:r>
              <a:rPr lang="en-US" dirty="0" smtClean="0"/>
              <a:t> f </a:t>
            </a:r>
            <a:r>
              <a:rPr lang="en-US" dirty="0" err="1" smtClean="0"/>
              <a:t>berkurang</a:t>
            </a:r>
            <a:r>
              <a:rPr lang="en-US" dirty="0" smtClean="0"/>
              <a:t> </a:t>
            </a:r>
            <a:r>
              <a:rPr lang="en-US" dirty="0"/>
              <a:t>4</a:t>
            </a:r>
            <a:endParaRPr lang="en-US" dirty="0" smtClean="0"/>
          </a:p>
          <a:p>
            <a:r>
              <a:rPr lang="en-US" dirty="0" err="1" smtClean="0"/>
              <a:t>Contoh</a:t>
            </a:r>
            <a:r>
              <a:rPr lang="en-US" dirty="0" smtClean="0"/>
              <a:t>: </a:t>
            </a:r>
            <a:r>
              <a:rPr lang="en-US" dirty="0" err="1" smtClean="0"/>
              <a:t>jika</a:t>
            </a:r>
            <a:r>
              <a:rPr lang="en-US" dirty="0" smtClean="0"/>
              <a:t> x = -1, </a:t>
            </a:r>
            <a:r>
              <a:rPr lang="en-US" dirty="0" err="1" smtClean="0"/>
              <a:t>maka</a:t>
            </a:r>
            <a:r>
              <a:rPr lang="en-US" dirty="0" smtClean="0"/>
              <a:t> q = 4 </a:t>
            </a:r>
            <a:r>
              <a:rPr lang="en-US" dirty="0" err="1" smtClean="0"/>
              <a:t>dan</a:t>
            </a:r>
            <a:r>
              <a:rPr lang="en-US" dirty="0" smtClean="0"/>
              <a:t> f = -16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016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7" grpId="0"/>
      <p:bldP spid="10" grpId="0" animBg="1"/>
      <p:bldP spid="39" grpId="0"/>
      <p:bldP spid="4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186954" y="734661"/>
            <a:ext cx="3361764" cy="3160059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f</a:t>
            </a:r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endCxn id="4" idx="1"/>
          </p:cNvCxnSpPr>
          <p:nvPr/>
        </p:nvCxnSpPr>
        <p:spPr>
          <a:xfrm>
            <a:off x="874060" y="411932"/>
            <a:ext cx="2805213" cy="785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endCxn id="4" idx="3"/>
          </p:cNvCxnSpPr>
          <p:nvPr/>
        </p:nvCxnSpPr>
        <p:spPr>
          <a:xfrm flipV="1">
            <a:off x="874060" y="3431940"/>
            <a:ext cx="2805213" cy="1215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74060" y="0"/>
            <a:ext cx="309282" cy="295836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74060" y="4076283"/>
            <a:ext cx="309282" cy="295836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y</a:t>
            </a:r>
            <a:endParaRPr lang="en-US" dirty="0"/>
          </a:p>
        </p:txBody>
      </p:sp>
      <p:cxnSp>
        <p:nvCxnSpPr>
          <p:cNvPr id="12" name="Straight Arrow Connector 11"/>
          <p:cNvCxnSpPr>
            <a:stCxn id="4" idx="6"/>
          </p:cNvCxnSpPr>
          <p:nvPr/>
        </p:nvCxnSpPr>
        <p:spPr>
          <a:xfrm flipV="1">
            <a:off x="6548718" y="2314690"/>
            <a:ext cx="205740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416055" y="1902240"/>
            <a:ext cx="309282" cy="295836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518" y="4925216"/>
            <a:ext cx="6860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Ketika</a:t>
            </a:r>
            <a:r>
              <a:rPr lang="en-US" dirty="0" smtClean="0"/>
              <a:t> </a:t>
            </a:r>
            <a:r>
              <a:rPr lang="en-US" dirty="0" err="1" smtClean="0"/>
              <a:t>menghitung</a:t>
            </a:r>
            <a:r>
              <a:rPr lang="en-US" dirty="0" smtClean="0"/>
              <a:t> output z, local gradient </a:t>
            </a:r>
            <a:r>
              <a:rPr lang="en-US" dirty="0" err="1" smtClean="0"/>
              <a:t>jg</a:t>
            </a:r>
            <a:r>
              <a:rPr lang="en-US" dirty="0" smtClean="0"/>
              <a:t>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langsung</a:t>
            </a:r>
            <a:r>
              <a:rPr lang="en-US" dirty="0" smtClean="0"/>
              <a:t> </a:t>
            </a:r>
            <a:r>
              <a:rPr lang="en-US" dirty="0" err="1" smtClean="0"/>
              <a:t>kita</a:t>
            </a:r>
            <a:r>
              <a:rPr lang="en-US" dirty="0" smtClean="0"/>
              <a:t> </a:t>
            </a:r>
            <a:r>
              <a:rPr lang="en-US" dirty="0" err="1" smtClean="0"/>
              <a:t>hitung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689241" y="1197441"/>
            <a:ext cx="15288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</a:rPr>
              <a:t>“Local gradient”</a:t>
            </a:r>
            <a:endParaRPr lang="en-US" sz="16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3848264" y="1116786"/>
                <a:ext cx="457200" cy="644343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8264" y="1116786"/>
                <a:ext cx="457200" cy="6443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3806720" y="2787597"/>
                <a:ext cx="457200" cy="644343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6720" y="2787597"/>
                <a:ext cx="457200" cy="6443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389965" y="5282024"/>
            <a:ext cx="11214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Nilai</a:t>
            </a:r>
            <a:r>
              <a:rPr lang="en-US" dirty="0" smtClean="0"/>
              <a:t> z </a:t>
            </a:r>
            <a:r>
              <a:rPr lang="en-US" dirty="0" err="1" smtClean="0"/>
              <a:t>diluar</a:t>
            </a:r>
            <a:r>
              <a:rPr lang="en-US" dirty="0" smtClean="0"/>
              <a:t> node </a:t>
            </a:r>
            <a:r>
              <a:rPr lang="en-US" dirty="0" err="1" smtClean="0"/>
              <a:t>akan</a:t>
            </a:r>
            <a:r>
              <a:rPr lang="en-US" dirty="0" smtClean="0"/>
              <a:t> </a:t>
            </a:r>
            <a:r>
              <a:rPr lang="en-US" dirty="0" err="1" smtClean="0"/>
              <a:t>dihitung</a:t>
            </a:r>
            <a:r>
              <a:rPr lang="en-US" dirty="0" smtClean="0"/>
              <a:t> </a:t>
            </a:r>
            <a:r>
              <a:rPr lang="en-US" dirty="0" err="1" smtClean="0"/>
              <a:t>kembali</a:t>
            </a:r>
            <a:r>
              <a:rPr lang="en-US" dirty="0" smtClean="0"/>
              <a:t> </a:t>
            </a:r>
            <a:r>
              <a:rPr lang="en-US" dirty="0" err="1" smtClean="0"/>
              <a:t>hingga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</a:t>
            </a:r>
            <a:r>
              <a:rPr lang="en-US" dirty="0" err="1" smtClean="0"/>
              <a:t>saat</a:t>
            </a:r>
            <a:r>
              <a:rPr lang="en-US" dirty="0" smtClean="0"/>
              <a:t> </a:t>
            </a:r>
            <a:r>
              <a:rPr lang="en-US" dirty="0" err="1" smtClean="0"/>
              <a:t>akan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dihitung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Loss (L), </a:t>
            </a:r>
            <a:r>
              <a:rPr lang="en-US" dirty="0" err="1" smtClean="0"/>
              <a:t>kemudian</a:t>
            </a:r>
            <a:r>
              <a:rPr lang="en-US" dirty="0" smtClean="0"/>
              <a:t> </a:t>
            </a:r>
            <a:r>
              <a:rPr lang="en-US" dirty="0" err="1" smtClean="0"/>
              <a:t>dilakukan</a:t>
            </a:r>
            <a:r>
              <a:rPr lang="en-US" dirty="0" smtClean="0"/>
              <a:t> </a:t>
            </a:r>
            <a:r>
              <a:rPr lang="en-US" dirty="0" err="1" smtClean="0"/>
              <a:t>perhitungan</a:t>
            </a:r>
            <a:r>
              <a:rPr lang="en-US" dirty="0" smtClean="0"/>
              <a:t> gradient </a:t>
            </a:r>
            <a:r>
              <a:rPr lang="en-US" dirty="0" err="1" smtClean="0"/>
              <a:t>mundur</a:t>
            </a:r>
            <a:r>
              <a:rPr lang="en-US" dirty="0" smtClean="0"/>
              <a:t> </a:t>
            </a:r>
            <a:r>
              <a:rPr lang="en-US" dirty="0" err="1" smtClean="0"/>
              <a:t>sehingga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z </a:t>
            </a:r>
            <a:r>
              <a:rPr lang="en-US" dirty="0" err="1" smtClean="0"/>
              <a:t>akan</a:t>
            </a:r>
            <a:r>
              <a:rPr lang="en-US" dirty="0" smtClean="0"/>
              <a:t> </a:t>
            </a:r>
            <a:r>
              <a:rPr lang="en-US" dirty="0" err="1" smtClean="0"/>
              <a:t>dihitung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n-US" dirty="0" err="1" smtClean="0"/>
              <a:t>gradientnya</a:t>
            </a:r>
            <a:endParaRPr lang="en-US" dirty="0"/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6548718" y="2501153"/>
            <a:ext cx="205740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7342096" y="2665250"/>
                <a:ext cx="457200" cy="644343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2096" y="2665250"/>
                <a:ext cx="457200" cy="6443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7087454" y="3639811"/>
            <a:ext cx="980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gradient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H="1" flipV="1">
            <a:off x="842870" y="618565"/>
            <a:ext cx="2647221" cy="7756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1183342" y="3588931"/>
            <a:ext cx="2598192" cy="11399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 rot="881504">
                <a:off x="741368" y="830632"/>
                <a:ext cx="457200" cy="644343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881504">
                <a:off x="741368" y="830632"/>
                <a:ext cx="457200" cy="6443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 rot="881504">
                <a:off x="1286413" y="1082736"/>
                <a:ext cx="1273173" cy="644343"/>
              </a:xfrm>
              <a:prstGeom prst="rect">
                <a:avLst/>
              </a:prstGeom>
              <a:ln w="28575"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881504">
                <a:off x="1286413" y="1082736"/>
                <a:ext cx="1273173" cy="6443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 rot="20091857">
                <a:off x="2382845" y="4253724"/>
                <a:ext cx="457200" cy="644343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091857">
                <a:off x="2382845" y="4253724"/>
                <a:ext cx="457200" cy="6443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 rot="20039263">
                <a:off x="2762963" y="3819075"/>
                <a:ext cx="1273173" cy="644343"/>
              </a:xfrm>
              <a:prstGeom prst="rect">
                <a:avLst/>
              </a:prstGeom>
              <a:ln w="28575"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039263">
                <a:off x="2762963" y="3819075"/>
                <a:ext cx="1273173" cy="6443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/>
          <p:cNvSpPr txBox="1"/>
          <p:nvPr/>
        </p:nvSpPr>
        <p:spPr>
          <a:xfrm>
            <a:off x="389965" y="5876387"/>
            <a:ext cx="9857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Gradient x </a:t>
            </a:r>
            <a:r>
              <a:rPr lang="en-US" dirty="0" err="1" smtClean="0"/>
              <a:t>terhadap</a:t>
            </a:r>
            <a:r>
              <a:rPr lang="en-US" dirty="0" smtClean="0"/>
              <a:t> L </a:t>
            </a:r>
            <a:r>
              <a:rPr lang="en-US" dirty="0" err="1" smtClean="0"/>
              <a:t>juga</a:t>
            </a:r>
            <a:r>
              <a:rPr lang="en-US" dirty="0" smtClean="0"/>
              <a:t>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dihitung</a:t>
            </a:r>
            <a:r>
              <a:rPr lang="en-US" dirty="0" smtClean="0"/>
              <a:t>, </a:t>
            </a:r>
            <a:r>
              <a:rPr lang="en-US" dirty="0" err="1" smtClean="0"/>
              <a:t>sehingga</a:t>
            </a:r>
            <a:r>
              <a:rPr lang="en-US" dirty="0" smtClean="0"/>
              <a:t>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diketahui</a:t>
            </a:r>
            <a:r>
              <a:rPr lang="en-US" dirty="0" smtClean="0"/>
              <a:t> </a:t>
            </a:r>
            <a:r>
              <a:rPr lang="en-US" dirty="0" err="1" smtClean="0"/>
              <a:t>seberapa</a:t>
            </a:r>
            <a:r>
              <a:rPr lang="en-US" dirty="0" smtClean="0"/>
              <a:t> </a:t>
            </a:r>
            <a:r>
              <a:rPr lang="en-US" dirty="0" err="1" smtClean="0"/>
              <a:t>besar</a:t>
            </a:r>
            <a:r>
              <a:rPr lang="en-US" dirty="0" smtClean="0"/>
              <a:t> </a:t>
            </a:r>
            <a:r>
              <a:rPr lang="en-US" dirty="0" err="1" smtClean="0"/>
              <a:t>pengaruh</a:t>
            </a:r>
            <a:r>
              <a:rPr lang="en-US" dirty="0" smtClean="0"/>
              <a:t> x </a:t>
            </a:r>
            <a:r>
              <a:rPr lang="en-US" dirty="0" err="1" smtClean="0"/>
              <a:t>terhadap</a:t>
            </a:r>
            <a:r>
              <a:rPr lang="en-US" dirty="0" smtClean="0"/>
              <a:t> L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389965" y="6237541"/>
            <a:ext cx="9436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Proses </a:t>
            </a:r>
            <a:r>
              <a:rPr lang="en-US" dirty="0" err="1" smtClean="0"/>
              <a:t>perhitungan</a:t>
            </a:r>
            <a:r>
              <a:rPr lang="en-US" dirty="0" smtClean="0"/>
              <a:t> </a:t>
            </a:r>
            <a:r>
              <a:rPr lang="en-US" dirty="0" err="1" smtClean="0"/>
              <a:t>mundur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mendapatkan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gradient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disebut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backpropagation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247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20" grpId="0" animBg="1"/>
      <p:bldP spid="21" grpId="0" animBg="1"/>
      <p:bldP spid="22" grpId="0"/>
      <p:bldP spid="25" grpId="0" animBg="1"/>
      <p:bldP spid="27" grpId="0"/>
      <p:bldP spid="37" grpId="0" animBg="1"/>
      <p:bldP spid="38" grpId="0" animBg="1"/>
      <p:bldP spid="39" grpId="0" animBg="1"/>
      <p:bldP spid="40" grpId="0" animBg="1"/>
      <p:bldP spid="41" grpId="0"/>
      <p:bldP spid="4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97541" y="174812"/>
                <a:ext cx="8821271" cy="7903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 smtClean="0"/>
                  <a:t>Contoh Lain :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                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−(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541" y="174812"/>
                <a:ext cx="8821271" cy="790345"/>
              </a:xfrm>
              <a:prstGeom prst="rect">
                <a:avLst/>
              </a:prstGeom>
              <a:blipFill>
                <a:blip r:embed="rId2"/>
                <a:stretch>
                  <a:fillRect l="-1797" b="-12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>
          <a:xfrm>
            <a:off x="2272553" y="1664437"/>
            <a:ext cx="57822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*</a:t>
            </a:r>
            <a:endParaRPr lang="en-US" b="1" dirty="0"/>
          </a:p>
        </p:txBody>
      </p:sp>
      <p:sp>
        <p:nvSpPr>
          <p:cNvPr id="6" name="Oval 5"/>
          <p:cNvSpPr/>
          <p:nvPr/>
        </p:nvSpPr>
        <p:spPr>
          <a:xfrm>
            <a:off x="2265831" y="2934423"/>
            <a:ext cx="57822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*</a:t>
            </a:r>
            <a:endParaRPr lang="en-US" b="1" dirty="0"/>
          </a:p>
        </p:txBody>
      </p:sp>
      <p:sp>
        <p:nvSpPr>
          <p:cNvPr id="7" name="Oval 6"/>
          <p:cNvSpPr/>
          <p:nvPr/>
        </p:nvSpPr>
        <p:spPr>
          <a:xfrm>
            <a:off x="3859306" y="2375056"/>
            <a:ext cx="57822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+</a:t>
            </a:r>
            <a:endParaRPr lang="en-US" b="1" dirty="0"/>
          </a:p>
        </p:txBody>
      </p:sp>
      <p:cxnSp>
        <p:nvCxnSpPr>
          <p:cNvPr id="11" name="Elbow Connector 10"/>
          <p:cNvCxnSpPr/>
          <p:nvPr/>
        </p:nvCxnSpPr>
        <p:spPr>
          <a:xfrm>
            <a:off x="1075765" y="1560023"/>
            <a:ext cx="1196788" cy="3225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 flipV="1">
            <a:off x="1075765" y="2011063"/>
            <a:ext cx="1196788" cy="29367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17"/>
          <p:cNvCxnSpPr/>
          <p:nvPr/>
        </p:nvCxnSpPr>
        <p:spPr>
          <a:xfrm>
            <a:off x="2867004" y="1922204"/>
            <a:ext cx="992302" cy="581239"/>
          </a:xfrm>
          <a:prstGeom prst="bentConnector3">
            <a:avLst>
              <a:gd name="adj1" fmla="val 6626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Elbow Connector 18"/>
          <p:cNvCxnSpPr/>
          <p:nvPr/>
        </p:nvCxnSpPr>
        <p:spPr>
          <a:xfrm flipV="1">
            <a:off x="2850777" y="2773479"/>
            <a:ext cx="1008529" cy="417617"/>
          </a:xfrm>
          <a:prstGeom prst="bentConnector3">
            <a:avLst>
              <a:gd name="adj1" fmla="val 66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9902" y="1220077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r>
              <a:rPr lang="en-US" dirty="0" smtClean="0"/>
              <a:t>0   2.00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55262" y="1973233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x0   -1.00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50572" y="2513890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</a:t>
            </a:r>
            <a:r>
              <a:rPr lang="en-US" dirty="0"/>
              <a:t>1</a:t>
            </a:r>
            <a:r>
              <a:rPr lang="en-US" dirty="0" smtClean="0"/>
              <a:t>   -3.00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65932" y="3267046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x1   -2.00</a:t>
            </a:r>
            <a:endParaRPr lang="en-US" dirty="0"/>
          </a:p>
        </p:txBody>
      </p:sp>
      <p:cxnSp>
        <p:nvCxnSpPr>
          <p:cNvPr id="29" name="Elbow Connector 28"/>
          <p:cNvCxnSpPr/>
          <p:nvPr/>
        </p:nvCxnSpPr>
        <p:spPr>
          <a:xfrm>
            <a:off x="1069043" y="2828718"/>
            <a:ext cx="1196788" cy="3225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Elbow Connector 29"/>
          <p:cNvCxnSpPr/>
          <p:nvPr/>
        </p:nvCxnSpPr>
        <p:spPr>
          <a:xfrm flipV="1">
            <a:off x="1069043" y="3279758"/>
            <a:ext cx="1196788" cy="29367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429832" y="3191096"/>
            <a:ext cx="57822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+</a:t>
            </a:r>
            <a:endParaRPr lang="en-US" b="1" dirty="0"/>
          </a:p>
        </p:txBody>
      </p:sp>
      <p:cxnSp>
        <p:nvCxnSpPr>
          <p:cNvPr id="33" name="Elbow Connector 32"/>
          <p:cNvCxnSpPr/>
          <p:nvPr/>
        </p:nvCxnSpPr>
        <p:spPr>
          <a:xfrm>
            <a:off x="4437530" y="2711123"/>
            <a:ext cx="992302" cy="581239"/>
          </a:xfrm>
          <a:prstGeom prst="bentConnector3">
            <a:avLst>
              <a:gd name="adj1" fmla="val 6897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Elbow Connector 37"/>
          <p:cNvCxnSpPr/>
          <p:nvPr/>
        </p:nvCxnSpPr>
        <p:spPr>
          <a:xfrm flipV="1">
            <a:off x="1075765" y="3573431"/>
            <a:ext cx="4354067" cy="890993"/>
          </a:xfrm>
          <a:prstGeom prst="bentConnector3">
            <a:avLst>
              <a:gd name="adj1" fmla="val 5586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33180" y="4085311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w2   -3.00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2911287" y="1604065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  <a:r>
              <a:rPr lang="en-US" dirty="0" smtClean="0"/>
              <a:t>2.00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2946553" y="2872597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6.00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4554892" y="2404147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r>
              <a:rPr lang="en-US" dirty="0" smtClean="0"/>
              <a:t>.00</a:t>
            </a:r>
            <a:endParaRPr lang="en-US" dirty="0"/>
          </a:p>
        </p:txBody>
      </p:sp>
      <p:sp>
        <p:nvSpPr>
          <p:cNvPr id="44" name="Oval 43"/>
          <p:cNvSpPr/>
          <p:nvPr/>
        </p:nvSpPr>
        <p:spPr>
          <a:xfrm>
            <a:off x="6566108" y="3191096"/>
            <a:ext cx="63201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*-1</a:t>
            </a:r>
            <a:endParaRPr lang="en-US" b="1" dirty="0"/>
          </a:p>
        </p:txBody>
      </p:sp>
      <p:sp>
        <p:nvSpPr>
          <p:cNvPr id="45" name="Oval 44"/>
          <p:cNvSpPr/>
          <p:nvPr/>
        </p:nvSpPr>
        <p:spPr>
          <a:xfrm>
            <a:off x="7756174" y="3169324"/>
            <a:ext cx="63201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 smtClean="0"/>
              <a:t>exp</a:t>
            </a:r>
            <a:endParaRPr lang="en-US" b="1" dirty="0"/>
          </a:p>
        </p:txBody>
      </p:sp>
      <p:sp>
        <p:nvSpPr>
          <p:cNvPr id="46" name="Oval 45"/>
          <p:cNvSpPr/>
          <p:nvPr/>
        </p:nvSpPr>
        <p:spPr>
          <a:xfrm>
            <a:off x="8946240" y="3169324"/>
            <a:ext cx="63201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+1</a:t>
            </a:r>
            <a:endParaRPr lang="en-US" b="1" dirty="0"/>
          </a:p>
        </p:txBody>
      </p:sp>
      <p:sp>
        <p:nvSpPr>
          <p:cNvPr id="47" name="Oval 46"/>
          <p:cNvSpPr/>
          <p:nvPr/>
        </p:nvSpPr>
        <p:spPr>
          <a:xfrm>
            <a:off x="10136306" y="3151283"/>
            <a:ext cx="63201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1/x</a:t>
            </a:r>
            <a:endParaRPr lang="en-US" b="1" dirty="0"/>
          </a:p>
        </p:txBody>
      </p:sp>
      <p:cxnSp>
        <p:nvCxnSpPr>
          <p:cNvPr id="49" name="Straight Arrow Connector 48"/>
          <p:cNvCxnSpPr>
            <a:stCxn id="32" idx="6"/>
            <a:endCxn id="44" idx="2"/>
          </p:cNvCxnSpPr>
          <p:nvPr/>
        </p:nvCxnSpPr>
        <p:spPr>
          <a:xfrm>
            <a:off x="6008056" y="3473484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7198122" y="3451712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8388188" y="3451712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9578254" y="3435219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10768320" y="3433671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987884" y="310769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1.00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7169328" y="3095092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-1.00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8352808" y="30950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0.37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9562165" y="308238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1.37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10768320" y="3064339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0.73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847165" y="5056094"/>
                <a:ext cx="12905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165" y="5056094"/>
                <a:ext cx="1290546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865952" y="5832430"/>
                <a:ext cx="12529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952" y="5832430"/>
                <a:ext cx="1252972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3400847" y="4977483"/>
                <a:ext cx="916918" cy="526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0847" y="4977483"/>
                <a:ext cx="916918" cy="526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400847" y="5753819"/>
                <a:ext cx="754566" cy="526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0847" y="5753819"/>
                <a:ext cx="754566" cy="526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/>
          <p:cNvCxnSpPr/>
          <p:nvPr/>
        </p:nvCxnSpPr>
        <p:spPr>
          <a:xfrm>
            <a:off x="2460812" y="5240760"/>
            <a:ext cx="6051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2460811" y="6017096"/>
            <a:ext cx="6051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6392558" y="4974599"/>
                <a:ext cx="1124731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558" y="4974599"/>
                <a:ext cx="1124731" cy="612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6411345" y="5750935"/>
                <a:ext cx="15615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1345" y="5750935"/>
                <a:ext cx="1561581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8946240" y="4895988"/>
                <a:ext cx="1330557" cy="526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6240" y="4895988"/>
                <a:ext cx="1330557" cy="526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8946240" y="5672324"/>
                <a:ext cx="748923" cy="526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6240" y="5672324"/>
                <a:ext cx="748923" cy="526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Arrow Connector 69"/>
          <p:cNvCxnSpPr/>
          <p:nvPr/>
        </p:nvCxnSpPr>
        <p:spPr>
          <a:xfrm>
            <a:off x="8006205" y="5159265"/>
            <a:ext cx="6051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8006204" y="5935601"/>
            <a:ext cx="6051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0732940" y="3511311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1.00</a:t>
            </a:r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9542550" y="3518101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-0.53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9542550" y="2167832"/>
                <a:ext cx="2313582" cy="506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1.37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1.00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 smtClean="0"/>
                  <a:t> - 0.53</a:t>
                </a:r>
                <a:endParaRPr lang="en-US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2550" y="2167832"/>
                <a:ext cx="2313582" cy="506870"/>
              </a:xfrm>
              <a:prstGeom prst="rect">
                <a:avLst/>
              </a:prstGeom>
              <a:blipFill>
                <a:blip r:embed="rId11"/>
                <a:stretch>
                  <a:fillRect r="-1579" b="-6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4397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/>
      <p:bldP spid="61" grpId="0"/>
      <p:bldP spid="62" grpId="0"/>
      <p:bldP spid="66" grpId="0"/>
      <p:bldP spid="67" grpId="0"/>
      <p:bldP spid="68" grpId="0"/>
      <p:bldP spid="69" grpId="0"/>
      <p:bldP spid="72" grpId="0"/>
      <p:bldP spid="73" grpId="0"/>
      <p:bldP spid="7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97541" y="174812"/>
                <a:ext cx="8821271" cy="7903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 smtClean="0"/>
                  <a:t>Contoh Lain :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                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−(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541" y="174812"/>
                <a:ext cx="8821271" cy="790345"/>
              </a:xfrm>
              <a:prstGeom prst="rect">
                <a:avLst/>
              </a:prstGeom>
              <a:blipFill>
                <a:blip r:embed="rId2"/>
                <a:stretch>
                  <a:fillRect l="-1797" b="-12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>
          <a:xfrm>
            <a:off x="2272553" y="1664437"/>
            <a:ext cx="57822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*</a:t>
            </a:r>
            <a:endParaRPr lang="en-US" b="1" dirty="0"/>
          </a:p>
        </p:txBody>
      </p:sp>
      <p:sp>
        <p:nvSpPr>
          <p:cNvPr id="6" name="Oval 5"/>
          <p:cNvSpPr/>
          <p:nvPr/>
        </p:nvSpPr>
        <p:spPr>
          <a:xfrm>
            <a:off x="2265831" y="2934423"/>
            <a:ext cx="57822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*</a:t>
            </a:r>
            <a:endParaRPr lang="en-US" b="1" dirty="0"/>
          </a:p>
        </p:txBody>
      </p:sp>
      <p:sp>
        <p:nvSpPr>
          <p:cNvPr id="7" name="Oval 6"/>
          <p:cNvSpPr/>
          <p:nvPr/>
        </p:nvSpPr>
        <p:spPr>
          <a:xfrm>
            <a:off x="3859306" y="2375056"/>
            <a:ext cx="57822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+</a:t>
            </a:r>
            <a:endParaRPr lang="en-US" b="1" dirty="0"/>
          </a:p>
        </p:txBody>
      </p:sp>
      <p:cxnSp>
        <p:nvCxnSpPr>
          <p:cNvPr id="11" name="Elbow Connector 10"/>
          <p:cNvCxnSpPr/>
          <p:nvPr/>
        </p:nvCxnSpPr>
        <p:spPr>
          <a:xfrm>
            <a:off x="1075765" y="1560023"/>
            <a:ext cx="1196788" cy="3225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 flipV="1">
            <a:off x="1075765" y="2011063"/>
            <a:ext cx="1196788" cy="29367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17"/>
          <p:cNvCxnSpPr/>
          <p:nvPr/>
        </p:nvCxnSpPr>
        <p:spPr>
          <a:xfrm>
            <a:off x="2867004" y="1922204"/>
            <a:ext cx="992302" cy="581239"/>
          </a:xfrm>
          <a:prstGeom prst="bentConnector3">
            <a:avLst>
              <a:gd name="adj1" fmla="val 6626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Elbow Connector 18"/>
          <p:cNvCxnSpPr/>
          <p:nvPr/>
        </p:nvCxnSpPr>
        <p:spPr>
          <a:xfrm flipV="1">
            <a:off x="2850777" y="2773479"/>
            <a:ext cx="1008529" cy="417617"/>
          </a:xfrm>
          <a:prstGeom prst="bentConnector3">
            <a:avLst>
              <a:gd name="adj1" fmla="val 66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9902" y="1220077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r>
              <a:rPr lang="en-US" dirty="0" smtClean="0"/>
              <a:t>0   2.00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55262" y="1973233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x0   -1.00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50572" y="2513890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</a:t>
            </a:r>
            <a:r>
              <a:rPr lang="en-US" dirty="0"/>
              <a:t>1</a:t>
            </a:r>
            <a:r>
              <a:rPr lang="en-US" dirty="0" smtClean="0"/>
              <a:t>   -3.00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65932" y="3267046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x1   -2.00</a:t>
            </a:r>
            <a:endParaRPr lang="en-US" dirty="0"/>
          </a:p>
        </p:txBody>
      </p:sp>
      <p:cxnSp>
        <p:nvCxnSpPr>
          <p:cNvPr id="29" name="Elbow Connector 28"/>
          <p:cNvCxnSpPr/>
          <p:nvPr/>
        </p:nvCxnSpPr>
        <p:spPr>
          <a:xfrm>
            <a:off x="1069043" y="2828718"/>
            <a:ext cx="1196788" cy="3225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Elbow Connector 29"/>
          <p:cNvCxnSpPr/>
          <p:nvPr/>
        </p:nvCxnSpPr>
        <p:spPr>
          <a:xfrm flipV="1">
            <a:off x="1069043" y="3279758"/>
            <a:ext cx="1196788" cy="29367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429832" y="3191096"/>
            <a:ext cx="57822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+</a:t>
            </a:r>
            <a:endParaRPr lang="en-US" b="1" dirty="0"/>
          </a:p>
        </p:txBody>
      </p:sp>
      <p:cxnSp>
        <p:nvCxnSpPr>
          <p:cNvPr id="33" name="Elbow Connector 32"/>
          <p:cNvCxnSpPr/>
          <p:nvPr/>
        </p:nvCxnSpPr>
        <p:spPr>
          <a:xfrm>
            <a:off x="4437530" y="2711123"/>
            <a:ext cx="992302" cy="581239"/>
          </a:xfrm>
          <a:prstGeom prst="bentConnector3">
            <a:avLst>
              <a:gd name="adj1" fmla="val 6897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Elbow Connector 37"/>
          <p:cNvCxnSpPr/>
          <p:nvPr/>
        </p:nvCxnSpPr>
        <p:spPr>
          <a:xfrm flipV="1">
            <a:off x="1075765" y="3573431"/>
            <a:ext cx="4354067" cy="890993"/>
          </a:xfrm>
          <a:prstGeom prst="bentConnector3">
            <a:avLst>
              <a:gd name="adj1" fmla="val 5586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33180" y="4085311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w2   -3.00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2911287" y="1604065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  <a:r>
              <a:rPr lang="en-US" dirty="0" smtClean="0"/>
              <a:t>2.00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2946553" y="2872597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6.00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4554892" y="2404147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r>
              <a:rPr lang="en-US" dirty="0" smtClean="0"/>
              <a:t>.00</a:t>
            </a:r>
            <a:endParaRPr lang="en-US" dirty="0"/>
          </a:p>
        </p:txBody>
      </p:sp>
      <p:sp>
        <p:nvSpPr>
          <p:cNvPr id="44" name="Oval 43"/>
          <p:cNvSpPr/>
          <p:nvPr/>
        </p:nvSpPr>
        <p:spPr>
          <a:xfrm>
            <a:off x="6566108" y="3191096"/>
            <a:ext cx="63201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*-1</a:t>
            </a:r>
            <a:endParaRPr lang="en-US" b="1" dirty="0"/>
          </a:p>
        </p:txBody>
      </p:sp>
      <p:sp>
        <p:nvSpPr>
          <p:cNvPr id="45" name="Oval 44"/>
          <p:cNvSpPr/>
          <p:nvPr/>
        </p:nvSpPr>
        <p:spPr>
          <a:xfrm>
            <a:off x="7756174" y="3169324"/>
            <a:ext cx="63201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 smtClean="0"/>
              <a:t>exp</a:t>
            </a:r>
            <a:endParaRPr lang="en-US" b="1" dirty="0"/>
          </a:p>
        </p:txBody>
      </p:sp>
      <p:sp>
        <p:nvSpPr>
          <p:cNvPr id="46" name="Oval 45"/>
          <p:cNvSpPr/>
          <p:nvPr/>
        </p:nvSpPr>
        <p:spPr>
          <a:xfrm>
            <a:off x="8946240" y="3169324"/>
            <a:ext cx="63201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+1</a:t>
            </a:r>
            <a:endParaRPr lang="en-US" b="1" dirty="0"/>
          </a:p>
        </p:txBody>
      </p:sp>
      <p:sp>
        <p:nvSpPr>
          <p:cNvPr id="47" name="Oval 46"/>
          <p:cNvSpPr/>
          <p:nvPr/>
        </p:nvSpPr>
        <p:spPr>
          <a:xfrm>
            <a:off x="10136306" y="3151283"/>
            <a:ext cx="63201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1/x</a:t>
            </a:r>
            <a:endParaRPr lang="en-US" b="1" dirty="0"/>
          </a:p>
        </p:txBody>
      </p:sp>
      <p:cxnSp>
        <p:nvCxnSpPr>
          <p:cNvPr id="49" name="Straight Arrow Connector 48"/>
          <p:cNvCxnSpPr>
            <a:stCxn id="32" idx="6"/>
            <a:endCxn id="44" idx="2"/>
          </p:cNvCxnSpPr>
          <p:nvPr/>
        </p:nvCxnSpPr>
        <p:spPr>
          <a:xfrm>
            <a:off x="6008056" y="3473484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7198122" y="3451712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8388188" y="3451712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9578254" y="3435219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10768320" y="3433671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987884" y="310769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1.00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7169328" y="3095092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-1.00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8352808" y="30950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0.37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9562165" y="308238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1.37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10768320" y="3064339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0.73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847165" y="5056094"/>
                <a:ext cx="12905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165" y="5056094"/>
                <a:ext cx="1290546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865952" y="5832430"/>
                <a:ext cx="12529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952" y="5832430"/>
                <a:ext cx="1252972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3400847" y="4977483"/>
                <a:ext cx="916918" cy="526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0847" y="4977483"/>
                <a:ext cx="916918" cy="526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400847" y="5753819"/>
                <a:ext cx="754566" cy="526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0847" y="5753819"/>
                <a:ext cx="754566" cy="526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/>
          <p:cNvCxnSpPr/>
          <p:nvPr/>
        </p:nvCxnSpPr>
        <p:spPr>
          <a:xfrm>
            <a:off x="2460812" y="5240760"/>
            <a:ext cx="6051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2460811" y="6017096"/>
            <a:ext cx="6051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6392558" y="4974599"/>
                <a:ext cx="1124731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558" y="4974599"/>
                <a:ext cx="1124731" cy="612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6411345" y="5750935"/>
                <a:ext cx="15615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1345" y="5750935"/>
                <a:ext cx="1561581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8946240" y="4895988"/>
                <a:ext cx="1330557" cy="526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6240" y="4895988"/>
                <a:ext cx="1330557" cy="526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8946240" y="5672324"/>
                <a:ext cx="748923" cy="526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6240" y="5672324"/>
                <a:ext cx="748923" cy="526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Arrow Connector 69"/>
          <p:cNvCxnSpPr/>
          <p:nvPr/>
        </p:nvCxnSpPr>
        <p:spPr>
          <a:xfrm>
            <a:off x="8006205" y="5159265"/>
            <a:ext cx="6051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8006204" y="5935601"/>
            <a:ext cx="6051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0732940" y="3511311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1.00</a:t>
            </a:r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9542550" y="3518101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-0.53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8238750" y="2166296"/>
                <a:ext cx="2124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−0.53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 smtClean="0"/>
                  <a:t> - 0.53</a:t>
                </a:r>
                <a:endParaRPr lang="en-US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8750" y="2166296"/>
                <a:ext cx="2124364" cy="369332"/>
              </a:xfrm>
              <a:prstGeom prst="rect">
                <a:avLst/>
              </a:prstGeom>
              <a:blipFill>
                <a:blip r:embed="rId11"/>
                <a:stretch>
                  <a:fillRect t="-8197" r="-172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/>
          <p:cNvSpPr txBox="1"/>
          <p:nvPr/>
        </p:nvSpPr>
        <p:spPr>
          <a:xfrm>
            <a:off x="8320534" y="3549434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-0.53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935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6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97541" y="174812"/>
                <a:ext cx="8821271" cy="7903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 smtClean="0"/>
                  <a:t>Contoh Lain :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                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−(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541" y="174812"/>
                <a:ext cx="8821271" cy="790345"/>
              </a:xfrm>
              <a:prstGeom prst="rect">
                <a:avLst/>
              </a:prstGeom>
              <a:blipFill>
                <a:blip r:embed="rId2"/>
                <a:stretch>
                  <a:fillRect l="-1797" b="-12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>
          <a:xfrm>
            <a:off x="2272553" y="1664437"/>
            <a:ext cx="57822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*</a:t>
            </a:r>
            <a:endParaRPr lang="en-US" b="1" dirty="0"/>
          </a:p>
        </p:txBody>
      </p:sp>
      <p:sp>
        <p:nvSpPr>
          <p:cNvPr id="6" name="Oval 5"/>
          <p:cNvSpPr/>
          <p:nvPr/>
        </p:nvSpPr>
        <p:spPr>
          <a:xfrm>
            <a:off x="2265831" y="2934423"/>
            <a:ext cx="57822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*</a:t>
            </a:r>
            <a:endParaRPr lang="en-US" b="1" dirty="0"/>
          </a:p>
        </p:txBody>
      </p:sp>
      <p:sp>
        <p:nvSpPr>
          <p:cNvPr id="7" name="Oval 6"/>
          <p:cNvSpPr/>
          <p:nvPr/>
        </p:nvSpPr>
        <p:spPr>
          <a:xfrm>
            <a:off x="3859306" y="2375056"/>
            <a:ext cx="57822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+</a:t>
            </a:r>
            <a:endParaRPr lang="en-US" b="1" dirty="0"/>
          </a:p>
        </p:txBody>
      </p:sp>
      <p:cxnSp>
        <p:nvCxnSpPr>
          <p:cNvPr id="11" name="Elbow Connector 10"/>
          <p:cNvCxnSpPr/>
          <p:nvPr/>
        </p:nvCxnSpPr>
        <p:spPr>
          <a:xfrm>
            <a:off x="1075765" y="1560023"/>
            <a:ext cx="1196788" cy="3225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 flipV="1">
            <a:off x="1075765" y="2011063"/>
            <a:ext cx="1196788" cy="29367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17"/>
          <p:cNvCxnSpPr/>
          <p:nvPr/>
        </p:nvCxnSpPr>
        <p:spPr>
          <a:xfrm>
            <a:off x="2867004" y="1922204"/>
            <a:ext cx="992302" cy="581239"/>
          </a:xfrm>
          <a:prstGeom prst="bentConnector3">
            <a:avLst>
              <a:gd name="adj1" fmla="val 6626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Elbow Connector 18"/>
          <p:cNvCxnSpPr/>
          <p:nvPr/>
        </p:nvCxnSpPr>
        <p:spPr>
          <a:xfrm flipV="1">
            <a:off x="2850777" y="2773479"/>
            <a:ext cx="1008529" cy="417617"/>
          </a:xfrm>
          <a:prstGeom prst="bentConnector3">
            <a:avLst>
              <a:gd name="adj1" fmla="val 66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9902" y="1220077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r>
              <a:rPr lang="en-US" dirty="0" smtClean="0"/>
              <a:t>0   2.00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55262" y="1973233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x0   -1.00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50572" y="2513890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</a:t>
            </a:r>
            <a:r>
              <a:rPr lang="en-US" dirty="0"/>
              <a:t>1</a:t>
            </a:r>
            <a:r>
              <a:rPr lang="en-US" dirty="0" smtClean="0"/>
              <a:t>   -3.00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65932" y="3267046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x1   -2.00</a:t>
            </a:r>
            <a:endParaRPr lang="en-US" dirty="0"/>
          </a:p>
        </p:txBody>
      </p:sp>
      <p:cxnSp>
        <p:nvCxnSpPr>
          <p:cNvPr id="29" name="Elbow Connector 28"/>
          <p:cNvCxnSpPr/>
          <p:nvPr/>
        </p:nvCxnSpPr>
        <p:spPr>
          <a:xfrm>
            <a:off x="1069043" y="2828718"/>
            <a:ext cx="1196788" cy="3225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Elbow Connector 29"/>
          <p:cNvCxnSpPr/>
          <p:nvPr/>
        </p:nvCxnSpPr>
        <p:spPr>
          <a:xfrm flipV="1">
            <a:off x="1069043" y="3279758"/>
            <a:ext cx="1196788" cy="29367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429832" y="3191096"/>
            <a:ext cx="57822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+</a:t>
            </a:r>
            <a:endParaRPr lang="en-US" b="1" dirty="0"/>
          </a:p>
        </p:txBody>
      </p:sp>
      <p:cxnSp>
        <p:nvCxnSpPr>
          <p:cNvPr id="33" name="Elbow Connector 32"/>
          <p:cNvCxnSpPr/>
          <p:nvPr/>
        </p:nvCxnSpPr>
        <p:spPr>
          <a:xfrm>
            <a:off x="4437530" y="2711123"/>
            <a:ext cx="992302" cy="581239"/>
          </a:xfrm>
          <a:prstGeom prst="bentConnector3">
            <a:avLst>
              <a:gd name="adj1" fmla="val 6897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Elbow Connector 37"/>
          <p:cNvCxnSpPr/>
          <p:nvPr/>
        </p:nvCxnSpPr>
        <p:spPr>
          <a:xfrm flipV="1">
            <a:off x="1075765" y="3573431"/>
            <a:ext cx="4354067" cy="890993"/>
          </a:xfrm>
          <a:prstGeom prst="bentConnector3">
            <a:avLst>
              <a:gd name="adj1" fmla="val 5586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33180" y="4085311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w2   -3.00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2911287" y="1604065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  <a:r>
              <a:rPr lang="en-US" dirty="0" smtClean="0"/>
              <a:t>2.00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2946553" y="2872597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6.00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4554892" y="2404147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r>
              <a:rPr lang="en-US" dirty="0" smtClean="0"/>
              <a:t>.00</a:t>
            </a:r>
            <a:endParaRPr lang="en-US" dirty="0"/>
          </a:p>
        </p:txBody>
      </p:sp>
      <p:sp>
        <p:nvSpPr>
          <p:cNvPr id="44" name="Oval 43"/>
          <p:cNvSpPr/>
          <p:nvPr/>
        </p:nvSpPr>
        <p:spPr>
          <a:xfrm>
            <a:off x="6566108" y="3191096"/>
            <a:ext cx="63201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*-1</a:t>
            </a:r>
            <a:endParaRPr lang="en-US" b="1" dirty="0"/>
          </a:p>
        </p:txBody>
      </p:sp>
      <p:sp>
        <p:nvSpPr>
          <p:cNvPr id="45" name="Oval 44"/>
          <p:cNvSpPr/>
          <p:nvPr/>
        </p:nvSpPr>
        <p:spPr>
          <a:xfrm>
            <a:off x="7756174" y="3169324"/>
            <a:ext cx="63201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 smtClean="0"/>
              <a:t>exp</a:t>
            </a:r>
            <a:endParaRPr lang="en-US" b="1" dirty="0"/>
          </a:p>
        </p:txBody>
      </p:sp>
      <p:sp>
        <p:nvSpPr>
          <p:cNvPr id="46" name="Oval 45"/>
          <p:cNvSpPr/>
          <p:nvPr/>
        </p:nvSpPr>
        <p:spPr>
          <a:xfrm>
            <a:off x="8946240" y="3169324"/>
            <a:ext cx="63201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+1</a:t>
            </a:r>
            <a:endParaRPr lang="en-US" b="1" dirty="0"/>
          </a:p>
        </p:txBody>
      </p:sp>
      <p:sp>
        <p:nvSpPr>
          <p:cNvPr id="47" name="Oval 46"/>
          <p:cNvSpPr/>
          <p:nvPr/>
        </p:nvSpPr>
        <p:spPr>
          <a:xfrm>
            <a:off x="10136306" y="3151283"/>
            <a:ext cx="63201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1/x</a:t>
            </a:r>
            <a:endParaRPr lang="en-US" b="1" dirty="0"/>
          </a:p>
        </p:txBody>
      </p:sp>
      <p:cxnSp>
        <p:nvCxnSpPr>
          <p:cNvPr id="49" name="Straight Arrow Connector 48"/>
          <p:cNvCxnSpPr>
            <a:stCxn id="32" idx="6"/>
            <a:endCxn id="44" idx="2"/>
          </p:cNvCxnSpPr>
          <p:nvPr/>
        </p:nvCxnSpPr>
        <p:spPr>
          <a:xfrm>
            <a:off x="6008056" y="3473484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7198122" y="3451712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8388188" y="3451712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9578254" y="3435219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10768320" y="3433671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987884" y="310769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1.00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7169328" y="3095092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-1.00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8352808" y="30950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0.37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9562165" y="308238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1.37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10768320" y="3064339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0.73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847165" y="5056094"/>
                <a:ext cx="12905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165" y="5056094"/>
                <a:ext cx="1290546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865952" y="5832430"/>
                <a:ext cx="12529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952" y="5832430"/>
                <a:ext cx="1252972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3400847" y="4977483"/>
                <a:ext cx="916918" cy="526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0847" y="4977483"/>
                <a:ext cx="916918" cy="526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400847" y="5753819"/>
                <a:ext cx="754566" cy="526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0847" y="5753819"/>
                <a:ext cx="754566" cy="526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/>
          <p:cNvCxnSpPr/>
          <p:nvPr/>
        </p:nvCxnSpPr>
        <p:spPr>
          <a:xfrm>
            <a:off x="2460812" y="5240760"/>
            <a:ext cx="6051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2460811" y="6017096"/>
            <a:ext cx="6051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6392558" y="4974599"/>
                <a:ext cx="1124731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558" y="4974599"/>
                <a:ext cx="1124731" cy="612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6411345" y="5750935"/>
                <a:ext cx="15615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1345" y="5750935"/>
                <a:ext cx="1561581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8946240" y="4895988"/>
                <a:ext cx="1330557" cy="526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6240" y="4895988"/>
                <a:ext cx="1330557" cy="526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8946240" y="5672324"/>
                <a:ext cx="748923" cy="526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6240" y="5672324"/>
                <a:ext cx="748923" cy="526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Arrow Connector 69"/>
          <p:cNvCxnSpPr/>
          <p:nvPr/>
        </p:nvCxnSpPr>
        <p:spPr>
          <a:xfrm>
            <a:off x="8006205" y="5159265"/>
            <a:ext cx="6051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8006204" y="5935601"/>
            <a:ext cx="6051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0732940" y="3511311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1.00</a:t>
            </a:r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9542550" y="3518101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-0.53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5847568" y="2503443"/>
                <a:ext cx="21740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−0.20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 smtClean="0"/>
                  <a:t> 0.20</a:t>
                </a:r>
                <a:endParaRPr lang="en-US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7568" y="2503443"/>
                <a:ext cx="2174057" cy="369332"/>
              </a:xfrm>
              <a:prstGeom prst="rect">
                <a:avLst/>
              </a:prstGeom>
              <a:blipFill>
                <a:blip r:embed="rId11"/>
                <a:stretch>
                  <a:fillRect t="-10000" r="-168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/>
          <p:cNvSpPr txBox="1"/>
          <p:nvPr/>
        </p:nvSpPr>
        <p:spPr>
          <a:xfrm>
            <a:off x="8320534" y="3549434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-0.53</a:t>
            </a:r>
            <a:endParaRPr 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7160979" y="3527663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-0.20</a:t>
            </a:r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5926261" y="3549434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563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97541" y="174812"/>
                <a:ext cx="8821271" cy="7903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 smtClean="0"/>
                  <a:t>Contoh Lain :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                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−(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541" y="174812"/>
                <a:ext cx="8821271" cy="790345"/>
              </a:xfrm>
              <a:prstGeom prst="rect">
                <a:avLst/>
              </a:prstGeom>
              <a:blipFill>
                <a:blip r:embed="rId2"/>
                <a:stretch>
                  <a:fillRect l="-1797" b="-12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>
          <a:xfrm>
            <a:off x="2272553" y="1664437"/>
            <a:ext cx="57822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*</a:t>
            </a:r>
            <a:endParaRPr lang="en-US" b="1" dirty="0"/>
          </a:p>
        </p:txBody>
      </p:sp>
      <p:sp>
        <p:nvSpPr>
          <p:cNvPr id="6" name="Oval 5"/>
          <p:cNvSpPr/>
          <p:nvPr/>
        </p:nvSpPr>
        <p:spPr>
          <a:xfrm>
            <a:off x="2265831" y="2934423"/>
            <a:ext cx="57822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*</a:t>
            </a:r>
            <a:endParaRPr lang="en-US" b="1" dirty="0"/>
          </a:p>
        </p:txBody>
      </p:sp>
      <p:sp>
        <p:nvSpPr>
          <p:cNvPr id="7" name="Oval 6"/>
          <p:cNvSpPr/>
          <p:nvPr/>
        </p:nvSpPr>
        <p:spPr>
          <a:xfrm>
            <a:off x="3859306" y="2375056"/>
            <a:ext cx="57822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+</a:t>
            </a:r>
            <a:endParaRPr lang="en-US" b="1" dirty="0"/>
          </a:p>
        </p:txBody>
      </p:sp>
      <p:cxnSp>
        <p:nvCxnSpPr>
          <p:cNvPr id="11" name="Elbow Connector 10"/>
          <p:cNvCxnSpPr/>
          <p:nvPr/>
        </p:nvCxnSpPr>
        <p:spPr>
          <a:xfrm>
            <a:off x="1075765" y="1560023"/>
            <a:ext cx="1196788" cy="3225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 flipV="1">
            <a:off x="1075765" y="2011063"/>
            <a:ext cx="1196788" cy="29367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17"/>
          <p:cNvCxnSpPr/>
          <p:nvPr/>
        </p:nvCxnSpPr>
        <p:spPr>
          <a:xfrm>
            <a:off x="2867004" y="1922204"/>
            <a:ext cx="992302" cy="581239"/>
          </a:xfrm>
          <a:prstGeom prst="bentConnector3">
            <a:avLst>
              <a:gd name="adj1" fmla="val 6626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Elbow Connector 18"/>
          <p:cNvCxnSpPr/>
          <p:nvPr/>
        </p:nvCxnSpPr>
        <p:spPr>
          <a:xfrm flipV="1">
            <a:off x="2850777" y="2773479"/>
            <a:ext cx="1008529" cy="417617"/>
          </a:xfrm>
          <a:prstGeom prst="bentConnector3">
            <a:avLst>
              <a:gd name="adj1" fmla="val 66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9902" y="1220077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r>
              <a:rPr lang="en-US" dirty="0" smtClean="0"/>
              <a:t>0   2.00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55262" y="1973233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x0   -1.00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50572" y="2513890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</a:t>
            </a:r>
            <a:r>
              <a:rPr lang="en-US" dirty="0"/>
              <a:t>1</a:t>
            </a:r>
            <a:r>
              <a:rPr lang="en-US" dirty="0" smtClean="0"/>
              <a:t>   -3.00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65932" y="3267046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x1   -2.00</a:t>
            </a:r>
            <a:endParaRPr lang="en-US" dirty="0"/>
          </a:p>
        </p:txBody>
      </p:sp>
      <p:cxnSp>
        <p:nvCxnSpPr>
          <p:cNvPr id="29" name="Elbow Connector 28"/>
          <p:cNvCxnSpPr/>
          <p:nvPr/>
        </p:nvCxnSpPr>
        <p:spPr>
          <a:xfrm>
            <a:off x="1069043" y="2828718"/>
            <a:ext cx="1196788" cy="3225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Elbow Connector 29"/>
          <p:cNvCxnSpPr/>
          <p:nvPr/>
        </p:nvCxnSpPr>
        <p:spPr>
          <a:xfrm flipV="1">
            <a:off x="1069043" y="3279758"/>
            <a:ext cx="1196788" cy="29367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429832" y="3191096"/>
            <a:ext cx="57822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+</a:t>
            </a:r>
            <a:endParaRPr lang="en-US" b="1" dirty="0"/>
          </a:p>
        </p:txBody>
      </p:sp>
      <p:cxnSp>
        <p:nvCxnSpPr>
          <p:cNvPr id="33" name="Elbow Connector 32"/>
          <p:cNvCxnSpPr/>
          <p:nvPr/>
        </p:nvCxnSpPr>
        <p:spPr>
          <a:xfrm>
            <a:off x="4437530" y="2711123"/>
            <a:ext cx="992302" cy="581239"/>
          </a:xfrm>
          <a:prstGeom prst="bentConnector3">
            <a:avLst>
              <a:gd name="adj1" fmla="val 6897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Elbow Connector 37"/>
          <p:cNvCxnSpPr/>
          <p:nvPr/>
        </p:nvCxnSpPr>
        <p:spPr>
          <a:xfrm flipV="1">
            <a:off x="1075765" y="3573431"/>
            <a:ext cx="4354067" cy="890993"/>
          </a:xfrm>
          <a:prstGeom prst="bentConnector3">
            <a:avLst>
              <a:gd name="adj1" fmla="val 5586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33180" y="4085311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w2   -3.00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2911287" y="1604065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  <a:r>
              <a:rPr lang="en-US" dirty="0" smtClean="0"/>
              <a:t>2.00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2946553" y="2872597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6.00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4554892" y="2404147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r>
              <a:rPr lang="en-US" dirty="0" smtClean="0"/>
              <a:t>.00</a:t>
            </a:r>
            <a:endParaRPr lang="en-US" dirty="0"/>
          </a:p>
        </p:txBody>
      </p:sp>
      <p:sp>
        <p:nvSpPr>
          <p:cNvPr id="44" name="Oval 43"/>
          <p:cNvSpPr/>
          <p:nvPr/>
        </p:nvSpPr>
        <p:spPr>
          <a:xfrm>
            <a:off x="6566108" y="3191096"/>
            <a:ext cx="63201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*-1</a:t>
            </a:r>
            <a:endParaRPr lang="en-US" b="1" dirty="0"/>
          </a:p>
        </p:txBody>
      </p:sp>
      <p:sp>
        <p:nvSpPr>
          <p:cNvPr id="45" name="Oval 44"/>
          <p:cNvSpPr/>
          <p:nvPr/>
        </p:nvSpPr>
        <p:spPr>
          <a:xfrm>
            <a:off x="7756174" y="3169324"/>
            <a:ext cx="63201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 smtClean="0"/>
              <a:t>exp</a:t>
            </a:r>
            <a:endParaRPr lang="en-US" b="1" dirty="0"/>
          </a:p>
        </p:txBody>
      </p:sp>
      <p:sp>
        <p:nvSpPr>
          <p:cNvPr id="46" name="Oval 45"/>
          <p:cNvSpPr/>
          <p:nvPr/>
        </p:nvSpPr>
        <p:spPr>
          <a:xfrm>
            <a:off x="8946240" y="3169324"/>
            <a:ext cx="63201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+1</a:t>
            </a:r>
            <a:endParaRPr lang="en-US" b="1" dirty="0"/>
          </a:p>
        </p:txBody>
      </p:sp>
      <p:sp>
        <p:nvSpPr>
          <p:cNvPr id="47" name="Oval 46"/>
          <p:cNvSpPr/>
          <p:nvPr/>
        </p:nvSpPr>
        <p:spPr>
          <a:xfrm>
            <a:off x="10136306" y="3151283"/>
            <a:ext cx="63201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1/x</a:t>
            </a:r>
            <a:endParaRPr lang="en-US" b="1" dirty="0"/>
          </a:p>
        </p:txBody>
      </p:sp>
      <p:cxnSp>
        <p:nvCxnSpPr>
          <p:cNvPr id="49" name="Straight Arrow Connector 48"/>
          <p:cNvCxnSpPr>
            <a:stCxn id="32" idx="6"/>
            <a:endCxn id="44" idx="2"/>
          </p:cNvCxnSpPr>
          <p:nvPr/>
        </p:nvCxnSpPr>
        <p:spPr>
          <a:xfrm>
            <a:off x="6008056" y="3473484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7198122" y="3451712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8388188" y="3451712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9578254" y="3435219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10768320" y="3433671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987884" y="310769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1.00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7169328" y="3095092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-1.00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8352808" y="30950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0.37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9562165" y="308238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1.37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10768320" y="3064339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0.73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847165" y="5056094"/>
                <a:ext cx="12905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165" y="5056094"/>
                <a:ext cx="1290546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865952" y="5832430"/>
                <a:ext cx="12529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952" y="5832430"/>
                <a:ext cx="1252972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3400847" y="4977483"/>
                <a:ext cx="916918" cy="526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0847" y="4977483"/>
                <a:ext cx="916918" cy="526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400847" y="5753819"/>
                <a:ext cx="754566" cy="526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0847" y="5753819"/>
                <a:ext cx="754566" cy="526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/>
          <p:cNvCxnSpPr/>
          <p:nvPr/>
        </p:nvCxnSpPr>
        <p:spPr>
          <a:xfrm>
            <a:off x="2460812" y="5240760"/>
            <a:ext cx="6051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2460811" y="6017096"/>
            <a:ext cx="6051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6392558" y="4974599"/>
                <a:ext cx="1124731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558" y="4974599"/>
                <a:ext cx="1124731" cy="612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6411345" y="5750935"/>
                <a:ext cx="15615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1345" y="5750935"/>
                <a:ext cx="1561581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8946240" y="4895988"/>
                <a:ext cx="1330557" cy="526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6240" y="4895988"/>
                <a:ext cx="1330557" cy="526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8946240" y="5672324"/>
                <a:ext cx="748923" cy="526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6240" y="5672324"/>
                <a:ext cx="748923" cy="526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Arrow Connector 69"/>
          <p:cNvCxnSpPr/>
          <p:nvPr/>
        </p:nvCxnSpPr>
        <p:spPr>
          <a:xfrm>
            <a:off x="8006205" y="5159265"/>
            <a:ext cx="6051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8006204" y="5935601"/>
            <a:ext cx="6051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0732940" y="3511311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1.00</a:t>
            </a:r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9542550" y="3518101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-0.53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5497068" y="1724299"/>
                <a:ext cx="299338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0" i="1" dirty="0" smtClean="0">
                    <a:latin typeface="Cambria Math" panose="02040503050406030204" pitchFamily="18" charset="0"/>
                  </a:rPr>
                  <a:t>Local Gradient * </a:t>
                </a:r>
                <a:r>
                  <a:rPr lang="en-US" b="0" i="1" dirty="0" err="1" smtClean="0">
                    <a:latin typeface="Cambria Math" panose="02040503050406030204" pitchFamily="18" charset="0"/>
                  </a:rPr>
                  <a:t>gradientnya</a:t>
                </a: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1" dirty="0" smtClean="0">
                    <a:solidFill>
                      <a:srgbClr val="FF0000"/>
                    </a:solidFill>
                  </a:rPr>
                  <a:t> 0.20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</m:e>
                    </m:d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0.20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068" y="1724299"/>
                <a:ext cx="2993384" cy="923330"/>
              </a:xfrm>
              <a:prstGeom prst="rect">
                <a:avLst/>
              </a:prstGeom>
              <a:blipFill>
                <a:blip r:embed="rId11"/>
                <a:stretch>
                  <a:fillRect l="-1833" t="-4636" r="-1222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/>
          <p:cNvSpPr txBox="1"/>
          <p:nvPr/>
        </p:nvSpPr>
        <p:spPr>
          <a:xfrm>
            <a:off x="8320534" y="3549434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-0.53</a:t>
            </a:r>
            <a:endParaRPr 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7160979" y="3527663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-0.20</a:t>
            </a:r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5926261" y="3549434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0.20</a:t>
            </a:r>
            <a:endParaRPr 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1144538" y="4426594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0.20</a:t>
            </a:r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4548514" y="2683774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0.20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2974215" y="189346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0.20</a:t>
            </a:r>
            <a:endParaRPr lang="en-US" dirty="0"/>
          </a:p>
        </p:txBody>
      </p:sp>
      <p:sp>
        <p:nvSpPr>
          <p:cNvPr id="80" name="TextBox 79"/>
          <p:cNvSpPr txBox="1"/>
          <p:nvPr/>
        </p:nvSpPr>
        <p:spPr>
          <a:xfrm>
            <a:off x="2953275" y="3131321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798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7" grpId="0"/>
      <p:bldP spid="78" grpId="0"/>
      <p:bldP spid="79" grpId="0"/>
      <p:bldP spid="8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97541" y="174812"/>
                <a:ext cx="8821271" cy="7903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 smtClean="0"/>
                  <a:t>Contoh Lain :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                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−(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541" y="174812"/>
                <a:ext cx="8821271" cy="790345"/>
              </a:xfrm>
              <a:prstGeom prst="rect">
                <a:avLst/>
              </a:prstGeom>
              <a:blipFill>
                <a:blip r:embed="rId2"/>
                <a:stretch>
                  <a:fillRect l="-1797" b="-12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>
          <a:xfrm>
            <a:off x="2272553" y="1664437"/>
            <a:ext cx="57822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*</a:t>
            </a:r>
            <a:endParaRPr lang="en-US" b="1" dirty="0"/>
          </a:p>
        </p:txBody>
      </p:sp>
      <p:sp>
        <p:nvSpPr>
          <p:cNvPr id="6" name="Oval 5"/>
          <p:cNvSpPr/>
          <p:nvPr/>
        </p:nvSpPr>
        <p:spPr>
          <a:xfrm>
            <a:off x="2265831" y="2934423"/>
            <a:ext cx="57822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*</a:t>
            </a:r>
            <a:endParaRPr lang="en-US" b="1" dirty="0"/>
          </a:p>
        </p:txBody>
      </p:sp>
      <p:sp>
        <p:nvSpPr>
          <p:cNvPr id="7" name="Oval 6"/>
          <p:cNvSpPr/>
          <p:nvPr/>
        </p:nvSpPr>
        <p:spPr>
          <a:xfrm>
            <a:off x="3859306" y="2375056"/>
            <a:ext cx="57822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+</a:t>
            </a:r>
            <a:endParaRPr lang="en-US" b="1" dirty="0"/>
          </a:p>
        </p:txBody>
      </p:sp>
      <p:cxnSp>
        <p:nvCxnSpPr>
          <p:cNvPr id="11" name="Elbow Connector 10"/>
          <p:cNvCxnSpPr/>
          <p:nvPr/>
        </p:nvCxnSpPr>
        <p:spPr>
          <a:xfrm>
            <a:off x="1075765" y="1560023"/>
            <a:ext cx="1196788" cy="3225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 flipV="1">
            <a:off x="1075765" y="2011063"/>
            <a:ext cx="1196788" cy="29367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17"/>
          <p:cNvCxnSpPr/>
          <p:nvPr/>
        </p:nvCxnSpPr>
        <p:spPr>
          <a:xfrm>
            <a:off x="2867004" y="1922204"/>
            <a:ext cx="992302" cy="581239"/>
          </a:xfrm>
          <a:prstGeom prst="bentConnector3">
            <a:avLst>
              <a:gd name="adj1" fmla="val 6626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Elbow Connector 18"/>
          <p:cNvCxnSpPr/>
          <p:nvPr/>
        </p:nvCxnSpPr>
        <p:spPr>
          <a:xfrm flipV="1">
            <a:off x="2850777" y="2773479"/>
            <a:ext cx="1008529" cy="417617"/>
          </a:xfrm>
          <a:prstGeom prst="bentConnector3">
            <a:avLst>
              <a:gd name="adj1" fmla="val 66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9902" y="1220077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r>
              <a:rPr lang="en-US" dirty="0" smtClean="0"/>
              <a:t>0   2.00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55262" y="1973233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x0   -1.00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50572" y="2513890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</a:t>
            </a:r>
            <a:r>
              <a:rPr lang="en-US" dirty="0"/>
              <a:t>1</a:t>
            </a:r>
            <a:r>
              <a:rPr lang="en-US" dirty="0" smtClean="0"/>
              <a:t>   -3.00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65932" y="3267046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x1   -2.00</a:t>
            </a:r>
            <a:endParaRPr lang="en-US" dirty="0"/>
          </a:p>
        </p:txBody>
      </p:sp>
      <p:cxnSp>
        <p:nvCxnSpPr>
          <p:cNvPr id="29" name="Elbow Connector 28"/>
          <p:cNvCxnSpPr/>
          <p:nvPr/>
        </p:nvCxnSpPr>
        <p:spPr>
          <a:xfrm>
            <a:off x="1069043" y="2828718"/>
            <a:ext cx="1196788" cy="3225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Elbow Connector 29"/>
          <p:cNvCxnSpPr/>
          <p:nvPr/>
        </p:nvCxnSpPr>
        <p:spPr>
          <a:xfrm flipV="1">
            <a:off x="1069043" y="3279758"/>
            <a:ext cx="1196788" cy="29367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429832" y="3191096"/>
            <a:ext cx="57822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+</a:t>
            </a:r>
            <a:endParaRPr lang="en-US" b="1" dirty="0"/>
          </a:p>
        </p:txBody>
      </p:sp>
      <p:cxnSp>
        <p:nvCxnSpPr>
          <p:cNvPr id="33" name="Elbow Connector 32"/>
          <p:cNvCxnSpPr/>
          <p:nvPr/>
        </p:nvCxnSpPr>
        <p:spPr>
          <a:xfrm>
            <a:off x="4437530" y="2711123"/>
            <a:ext cx="992302" cy="581239"/>
          </a:xfrm>
          <a:prstGeom prst="bentConnector3">
            <a:avLst>
              <a:gd name="adj1" fmla="val 6897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Elbow Connector 37"/>
          <p:cNvCxnSpPr/>
          <p:nvPr/>
        </p:nvCxnSpPr>
        <p:spPr>
          <a:xfrm flipV="1">
            <a:off x="1075765" y="3573431"/>
            <a:ext cx="4354067" cy="890993"/>
          </a:xfrm>
          <a:prstGeom prst="bentConnector3">
            <a:avLst>
              <a:gd name="adj1" fmla="val 5586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33180" y="4085311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w2   -3.00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2911287" y="1604065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  <a:r>
              <a:rPr lang="en-US" dirty="0" smtClean="0"/>
              <a:t>2.00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2946553" y="2872597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6.00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4554892" y="2404147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r>
              <a:rPr lang="en-US" dirty="0" smtClean="0"/>
              <a:t>.00</a:t>
            </a:r>
            <a:endParaRPr lang="en-US" dirty="0"/>
          </a:p>
        </p:txBody>
      </p:sp>
      <p:sp>
        <p:nvSpPr>
          <p:cNvPr id="44" name="Oval 43"/>
          <p:cNvSpPr/>
          <p:nvPr/>
        </p:nvSpPr>
        <p:spPr>
          <a:xfrm>
            <a:off x="6566108" y="3191096"/>
            <a:ext cx="63201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*-1</a:t>
            </a:r>
            <a:endParaRPr lang="en-US" b="1" dirty="0"/>
          </a:p>
        </p:txBody>
      </p:sp>
      <p:sp>
        <p:nvSpPr>
          <p:cNvPr id="45" name="Oval 44"/>
          <p:cNvSpPr/>
          <p:nvPr/>
        </p:nvSpPr>
        <p:spPr>
          <a:xfrm>
            <a:off x="7756174" y="3169324"/>
            <a:ext cx="63201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 smtClean="0"/>
              <a:t>exp</a:t>
            </a:r>
            <a:endParaRPr lang="en-US" b="1" dirty="0"/>
          </a:p>
        </p:txBody>
      </p:sp>
      <p:sp>
        <p:nvSpPr>
          <p:cNvPr id="46" name="Oval 45"/>
          <p:cNvSpPr/>
          <p:nvPr/>
        </p:nvSpPr>
        <p:spPr>
          <a:xfrm>
            <a:off x="8946240" y="3169324"/>
            <a:ext cx="63201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+1</a:t>
            </a:r>
            <a:endParaRPr lang="en-US" b="1" dirty="0"/>
          </a:p>
        </p:txBody>
      </p:sp>
      <p:sp>
        <p:nvSpPr>
          <p:cNvPr id="47" name="Oval 46"/>
          <p:cNvSpPr/>
          <p:nvPr/>
        </p:nvSpPr>
        <p:spPr>
          <a:xfrm>
            <a:off x="10136306" y="3151283"/>
            <a:ext cx="63201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1/x</a:t>
            </a:r>
            <a:endParaRPr lang="en-US" b="1" dirty="0"/>
          </a:p>
        </p:txBody>
      </p:sp>
      <p:cxnSp>
        <p:nvCxnSpPr>
          <p:cNvPr id="49" name="Straight Arrow Connector 48"/>
          <p:cNvCxnSpPr>
            <a:stCxn id="32" idx="6"/>
            <a:endCxn id="44" idx="2"/>
          </p:cNvCxnSpPr>
          <p:nvPr/>
        </p:nvCxnSpPr>
        <p:spPr>
          <a:xfrm>
            <a:off x="6008056" y="3473484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7198122" y="3451712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8388188" y="3451712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9578254" y="3435219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10768320" y="3433671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987884" y="310769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1.00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7169328" y="3095092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-1.00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8352808" y="30950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0.37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9562165" y="308238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1.37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10768320" y="3064339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0.73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847165" y="5056094"/>
                <a:ext cx="12905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165" y="5056094"/>
                <a:ext cx="1290546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865952" y="5832430"/>
                <a:ext cx="12529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952" y="5832430"/>
                <a:ext cx="1252972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3400847" y="4977483"/>
                <a:ext cx="916918" cy="526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0847" y="4977483"/>
                <a:ext cx="916918" cy="526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400847" y="5753819"/>
                <a:ext cx="754566" cy="526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0847" y="5753819"/>
                <a:ext cx="754566" cy="526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/>
          <p:cNvCxnSpPr/>
          <p:nvPr/>
        </p:nvCxnSpPr>
        <p:spPr>
          <a:xfrm>
            <a:off x="2460812" y="5240760"/>
            <a:ext cx="6051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2460811" y="6017096"/>
            <a:ext cx="6051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6392558" y="4974599"/>
                <a:ext cx="1124731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558" y="4974599"/>
                <a:ext cx="1124731" cy="612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6411345" y="5750935"/>
                <a:ext cx="15615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1345" y="5750935"/>
                <a:ext cx="1561581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8946240" y="4895988"/>
                <a:ext cx="1330557" cy="526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6240" y="4895988"/>
                <a:ext cx="1330557" cy="526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8946240" y="5672324"/>
                <a:ext cx="748923" cy="526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6240" y="5672324"/>
                <a:ext cx="748923" cy="526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Arrow Connector 69"/>
          <p:cNvCxnSpPr/>
          <p:nvPr/>
        </p:nvCxnSpPr>
        <p:spPr>
          <a:xfrm>
            <a:off x="8006205" y="5159265"/>
            <a:ext cx="6051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8006204" y="5935601"/>
            <a:ext cx="6051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0732940" y="3511311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1.00</a:t>
            </a:r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9542550" y="3518101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-0.53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5497068" y="1724299"/>
                <a:ext cx="299338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0" i="1" dirty="0" smtClean="0">
                    <a:latin typeface="Cambria Math" panose="02040503050406030204" pitchFamily="18" charset="0"/>
                  </a:rPr>
                  <a:t>Local Gradient * </a:t>
                </a:r>
                <a:r>
                  <a:rPr lang="en-US" b="0" i="1" dirty="0" err="1" smtClean="0">
                    <a:latin typeface="Cambria Math" panose="02040503050406030204" pitchFamily="18" charset="0"/>
                  </a:rPr>
                  <a:t>gradientnya</a:t>
                </a: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x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0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1" dirty="0" smtClean="0">
                    <a:solidFill>
                      <a:srgbClr val="FF0000"/>
                    </a:solidFill>
                  </a:rPr>
                  <a:t> 0.4</a:t>
                </a:r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w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0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</m:e>
                    </m:d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-0.2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068" y="1724299"/>
                <a:ext cx="2993384" cy="923330"/>
              </a:xfrm>
              <a:prstGeom prst="rect">
                <a:avLst/>
              </a:prstGeom>
              <a:blipFill>
                <a:blip r:embed="rId11"/>
                <a:stretch>
                  <a:fillRect l="-1833" t="-4636" r="-1222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/>
          <p:cNvSpPr txBox="1"/>
          <p:nvPr/>
        </p:nvSpPr>
        <p:spPr>
          <a:xfrm>
            <a:off x="8320534" y="3549434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-0.53</a:t>
            </a:r>
            <a:endParaRPr 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7160979" y="3527663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-0.20</a:t>
            </a:r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5926261" y="3549434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0.20</a:t>
            </a:r>
            <a:endParaRPr 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1144538" y="4426594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0.20</a:t>
            </a:r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4548514" y="2683774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0.20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2974215" y="189346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0.20</a:t>
            </a:r>
            <a:endParaRPr lang="en-US" dirty="0"/>
          </a:p>
        </p:txBody>
      </p:sp>
      <p:sp>
        <p:nvSpPr>
          <p:cNvPr id="80" name="TextBox 79"/>
          <p:cNvSpPr txBox="1"/>
          <p:nvPr/>
        </p:nvSpPr>
        <p:spPr>
          <a:xfrm>
            <a:off x="2953275" y="3131321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0.20</a:t>
            </a:r>
            <a:endParaRPr lang="en-US" dirty="0"/>
          </a:p>
        </p:txBody>
      </p:sp>
      <p:sp>
        <p:nvSpPr>
          <p:cNvPr id="81" name="TextBox 80"/>
          <p:cNvSpPr txBox="1"/>
          <p:nvPr/>
        </p:nvSpPr>
        <p:spPr>
          <a:xfrm>
            <a:off x="1015777" y="1507181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-0.20</a:t>
            </a:r>
            <a:endParaRPr 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1080636" y="2232131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693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81" grpId="0"/>
      <p:bldP spid="8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97541" y="174812"/>
                <a:ext cx="8821271" cy="7903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 smtClean="0"/>
                  <a:t>Contoh Lain :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                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−(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541" y="174812"/>
                <a:ext cx="8821271" cy="790345"/>
              </a:xfrm>
              <a:prstGeom prst="rect">
                <a:avLst/>
              </a:prstGeom>
              <a:blipFill>
                <a:blip r:embed="rId2"/>
                <a:stretch>
                  <a:fillRect l="-1797" b="-12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>
          <a:xfrm>
            <a:off x="2272553" y="1664437"/>
            <a:ext cx="57822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*</a:t>
            </a:r>
            <a:endParaRPr lang="en-US" b="1" dirty="0"/>
          </a:p>
        </p:txBody>
      </p:sp>
      <p:sp>
        <p:nvSpPr>
          <p:cNvPr id="6" name="Oval 5"/>
          <p:cNvSpPr/>
          <p:nvPr/>
        </p:nvSpPr>
        <p:spPr>
          <a:xfrm>
            <a:off x="2265831" y="2934423"/>
            <a:ext cx="57822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*</a:t>
            </a:r>
            <a:endParaRPr lang="en-US" b="1" dirty="0"/>
          </a:p>
        </p:txBody>
      </p:sp>
      <p:sp>
        <p:nvSpPr>
          <p:cNvPr id="7" name="Oval 6"/>
          <p:cNvSpPr/>
          <p:nvPr/>
        </p:nvSpPr>
        <p:spPr>
          <a:xfrm>
            <a:off x="3859306" y="2375056"/>
            <a:ext cx="57822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+</a:t>
            </a:r>
            <a:endParaRPr lang="en-US" b="1" dirty="0"/>
          </a:p>
        </p:txBody>
      </p:sp>
      <p:cxnSp>
        <p:nvCxnSpPr>
          <p:cNvPr id="11" name="Elbow Connector 10"/>
          <p:cNvCxnSpPr/>
          <p:nvPr/>
        </p:nvCxnSpPr>
        <p:spPr>
          <a:xfrm>
            <a:off x="1075765" y="1560023"/>
            <a:ext cx="1196788" cy="3225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 flipV="1">
            <a:off x="1075765" y="2011063"/>
            <a:ext cx="1196788" cy="29367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17"/>
          <p:cNvCxnSpPr/>
          <p:nvPr/>
        </p:nvCxnSpPr>
        <p:spPr>
          <a:xfrm>
            <a:off x="2867004" y="1922204"/>
            <a:ext cx="992302" cy="581239"/>
          </a:xfrm>
          <a:prstGeom prst="bentConnector3">
            <a:avLst>
              <a:gd name="adj1" fmla="val 6626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Elbow Connector 18"/>
          <p:cNvCxnSpPr/>
          <p:nvPr/>
        </p:nvCxnSpPr>
        <p:spPr>
          <a:xfrm flipV="1">
            <a:off x="2850777" y="2773479"/>
            <a:ext cx="1008529" cy="417617"/>
          </a:xfrm>
          <a:prstGeom prst="bentConnector3">
            <a:avLst>
              <a:gd name="adj1" fmla="val 66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9902" y="1220077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r>
              <a:rPr lang="en-US" dirty="0" smtClean="0"/>
              <a:t>0   2.00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55262" y="1973233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x0   -1.00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50572" y="2513890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</a:t>
            </a:r>
            <a:r>
              <a:rPr lang="en-US" dirty="0"/>
              <a:t>1</a:t>
            </a:r>
            <a:r>
              <a:rPr lang="en-US" dirty="0" smtClean="0"/>
              <a:t>   -3.00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65932" y="3267046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x1   -2.00</a:t>
            </a:r>
            <a:endParaRPr lang="en-US" dirty="0"/>
          </a:p>
        </p:txBody>
      </p:sp>
      <p:cxnSp>
        <p:nvCxnSpPr>
          <p:cNvPr id="29" name="Elbow Connector 28"/>
          <p:cNvCxnSpPr/>
          <p:nvPr/>
        </p:nvCxnSpPr>
        <p:spPr>
          <a:xfrm>
            <a:off x="1069043" y="2828718"/>
            <a:ext cx="1196788" cy="3225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Elbow Connector 29"/>
          <p:cNvCxnSpPr/>
          <p:nvPr/>
        </p:nvCxnSpPr>
        <p:spPr>
          <a:xfrm flipV="1">
            <a:off x="1069043" y="3279758"/>
            <a:ext cx="1196788" cy="29367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429832" y="3191096"/>
            <a:ext cx="57822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+</a:t>
            </a:r>
            <a:endParaRPr lang="en-US" b="1" dirty="0"/>
          </a:p>
        </p:txBody>
      </p:sp>
      <p:cxnSp>
        <p:nvCxnSpPr>
          <p:cNvPr id="33" name="Elbow Connector 32"/>
          <p:cNvCxnSpPr/>
          <p:nvPr/>
        </p:nvCxnSpPr>
        <p:spPr>
          <a:xfrm>
            <a:off x="4437530" y="2711123"/>
            <a:ext cx="992302" cy="581239"/>
          </a:xfrm>
          <a:prstGeom prst="bentConnector3">
            <a:avLst>
              <a:gd name="adj1" fmla="val 6897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Elbow Connector 37"/>
          <p:cNvCxnSpPr/>
          <p:nvPr/>
        </p:nvCxnSpPr>
        <p:spPr>
          <a:xfrm flipV="1">
            <a:off x="1075765" y="3573431"/>
            <a:ext cx="4354067" cy="890993"/>
          </a:xfrm>
          <a:prstGeom prst="bentConnector3">
            <a:avLst>
              <a:gd name="adj1" fmla="val 5586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33180" y="4085311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w2   -3.00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2911287" y="1604065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  <a:r>
              <a:rPr lang="en-US" dirty="0" smtClean="0"/>
              <a:t>2.00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2946553" y="2872597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6.00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4554892" y="2404147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r>
              <a:rPr lang="en-US" dirty="0" smtClean="0"/>
              <a:t>.00</a:t>
            </a:r>
            <a:endParaRPr lang="en-US" dirty="0"/>
          </a:p>
        </p:txBody>
      </p:sp>
      <p:sp>
        <p:nvSpPr>
          <p:cNvPr id="44" name="Oval 43"/>
          <p:cNvSpPr/>
          <p:nvPr/>
        </p:nvSpPr>
        <p:spPr>
          <a:xfrm>
            <a:off x="6566108" y="3191096"/>
            <a:ext cx="63201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*-1</a:t>
            </a:r>
            <a:endParaRPr lang="en-US" b="1" dirty="0"/>
          </a:p>
        </p:txBody>
      </p:sp>
      <p:sp>
        <p:nvSpPr>
          <p:cNvPr id="45" name="Oval 44"/>
          <p:cNvSpPr/>
          <p:nvPr/>
        </p:nvSpPr>
        <p:spPr>
          <a:xfrm>
            <a:off x="7756174" y="3169324"/>
            <a:ext cx="63201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 smtClean="0"/>
              <a:t>exp</a:t>
            </a:r>
            <a:endParaRPr lang="en-US" b="1" dirty="0"/>
          </a:p>
        </p:txBody>
      </p:sp>
      <p:sp>
        <p:nvSpPr>
          <p:cNvPr id="46" name="Oval 45"/>
          <p:cNvSpPr/>
          <p:nvPr/>
        </p:nvSpPr>
        <p:spPr>
          <a:xfrm>
            <a:off x="8946240" y="3169324"/>
            <a:ext cx="63201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+1</a:t>
            </a:r>
            <a:endParaRPr lang="en-US" b="1" dirty="0"/>
          </a:p>
        </p:txBody>
      </p:sp>
      <p:sp>
        <p:nvSpPr>
          <p:cNvPr id="47" name="Oval 46"/>
          <p:cNvSpPr/>
          <p:nvPr/>
        </p:nvSpPr>
        <p:spPr>
          <a:xfrm>
            <a:off x="10136306" y="3151283"/>
            <a:ext cx="63201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1/x</a:t>
            </a:r>
            <a:endParaRPr lang="en-US" b="1" dirty="0"/>
          </a:p>
        </p:txBody>
      </p:sp>
      <p:cxnSp>
        <p:nvCxnSpPr>
          <p:cNvPr id="49" name="Straight Arrow Connector 48"/>
          <p:cNvCxnSpPr>
            <a:stCxn id="32" idx="6"/>
            <a:endCxn id="44" idx="2"/>
          </p:cNvCxnSpPr>
          <p:nvPr/>
        </p:nvCxnSpPr>
        <p:spPr>
          <a:xfrm>
            <a:off x="6008056" y="3473484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7198122" y="3451712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8388188" y="3451712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9578254" y="3435219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10768320" y="3433671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987884" y="310769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1.00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7169328" y="3095092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-1.00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8352808" y="30950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0.37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9562165" y="308238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1.37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10768320" y="3064339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0.73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847165" y="5056094"/>
                <a:ext cx="12905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165" y="5056094"/>
                <a:ext cx="1290546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865952" y="5832430"/>
                <a:ext cx="12529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952" y="5832430"/>
                <a:ext cx="1252972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3400847" y="4977483"/>
                <a:ext cx="916918" cy="526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0847" y="4977483"/>
                <a:ext cx="916918" cy="526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400847" y="5753819"/>
                <a:ext cx="754566" cy="526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0847" y="5753819"/>
                <a:ext cx="754566" cy="526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/>
          <p:cNvCxnSpPr/>
          <p:nvPr/>
        </p:nvCxnSpPr>
        <p:spPr>
          <a:xfrm>
            <a:off x="2460812" y="5240760"/>
            <a:ext cx="6051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2460811" y="6017096"/>
            <a:ext cx="6051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6392558" y="4974599"/>
                <a:ext cx="1124731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558" y="4974599"/>
                <a:ext cx="1124731" cy="612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6411345" y="5750935"/>
                <a:ext cx="15615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1345" y="5750935"/>
                <a:ext cx="1561581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8946240" y="4895988"/>
                <a:ext cx="1330557" cy="526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6240" y="4895988"/>
                <a:ext cx="1330557" cy="526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8946240" y="5672324"/>
                <a:ext cx="748923" cy="526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6240" y="5672324"/>
                <a:ext cx="748923" cy="526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Arrow Connector 69"/>
          <p:cNvCxnSpPr/>
          <p:nvPr/>
        </p:nvCxnSpPr>
        <p:spPr>
          <a:xfrm>
            <a:off x="8006205" y="5159265"/>
            <a:ext cx="6051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8006204" y="5935601"/>
            <a:ext cx="6051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0732940" y="3511311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1.00</a:t>
            </a:r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9542550" y="3518101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-0.53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5497068" y="1724299"/>
                <a:ext cx="299338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0" i="1" dirty="0" smtClean="0">
                    <a:latin typeface="Cambria Math" panose="02040503050406030204" pitchFamily="18" charset="0"/>
                  </a:rPr>
                  <a:t>Local Gradient * </a:t>
                </a:r>
                <a:r>
                  <a:rPr lang="en-US" b="0" i="1" dirty="0" err="1" smtClean="0">
                    <a:latin typeface="Cambria Math" panose="02040503050406030204" pitchFamily="18" charset="0"/>
                  </a:rPr>
                  <a:t>gradientnya</a:t>
                </a: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x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0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1" dirty="0" smtClean="0">
                    <a:solidFill>
                      <a:srgbClr val="FF0000"/>
                    </a:solidFill>
                  </a:rPr>
                  <a:t> 0.4</a:t>
                </a:r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w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0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</m:e>
                    </m:d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-0.2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068" y="1724299"/>
                <a:ext cx="2993384" cy="923330"/>
              </a:xfrm>
              <a:prstGeom prst="rect">
                <a:avLst/>
              </a:prstGeom>
              <a:blipFill>
                <a:blip r:embed="rId11"/>
                <a:stretch>
                  <a:fillRect l="-1833" t="-4636" r="-1222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/>
          <p:cNvSpPr txBox="1"/>
          <p:nvPr/>
        </p:nvSpPr>
        <p:spPr>
          <a:xfrm>
            <a:off x="8320534" y="3549434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-0.53</a:t>
            </a:r>
            <a:endParaRPr 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7160979" y="3527663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-0.20</a:t>
            </a:r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5926261" y="3549434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0.20</a:t>
            </a:r>
            <a:endParaRPr 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1144538" y="4426594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0.20</a:t>
            </a:r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4548514" y="2683774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0.20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2974215" y="189346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0.20</a:t>
            </a:r>
            <a:endParaRPr lang="en-US" dirty="0"/>
          </a:p>
        </p:txBody>
      </p:sp>
      <p:sp>
        <p:nvSpPr>
          <p:cNvPr id="80" name="TextBox 79"/>
          <p:cNvSpPr txBox="1"/>
          <p:nvPr/>
        </p:nvSpPr>
        <p:spPr>
          <a:xfrm>
            <a:off x="2953275" y="3131321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0.20</a:t>
            </a:r>
            <a:endParaRPr lang="en-US" dirty="0"/>
          </a:p>
        </p:txBody>
      </p:sp>
      <p:sp>
        <p:nvSpPr>
          <p:cNvPr id="81" name="TextBox 80"/>
          <p:cNvSpPr txBox="1"/>
          <p:nvPr/>
        </p:nvSpPr>
        <p:spPr>
          <a:xfrm>
            <a:off x="1015777" y="1507181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-0.20</a:t>
            </a:r>
            <a:endParaRPr 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1080636" y="2232131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0.40</a:t>
            </a:r>
            <a:endParaRPr 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1072827" y="2748299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-0.40</a:t>
            </a:r>
            <a:endParaRPr 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1030110" y="3500143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-0.60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73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81" grpId="0"/>
      <p:bldP spid="82" grpId="0"/>
      <p:bldP spid="83" grpId="0"/>
      <p:bldP spid="8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97541" y="174812"/>
                <a:ext cx="3792071" cy="6808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541" y="174812"/>
                <a:ext cx="3792071" cy="6808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>
          <a:xfrm>
            <a:off x="2245658" y="3372213"/>
            <a:ext cx="57822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*</a:t>
            </a:r>
            <a:endParaRPr lang="en-US" b="1" dirty="0"/>
          </a:p>
        </p:txBody>
      </p:sp>
      <p:sp>
        <p:nvSpPr>
          <p:cNvPr id="6" name="Oval 5"/>
          <p:cNvSpPr/>
          <p:nvPr/>
        </p:nvSpPr>
        <p:spPr>
          <a:xfrm>
            <a:off x="2238936" y="4642199"/>
            <a:ext cx="57822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*</a:t>
            </a:r>
            <a:endParaRPr lang="en-US" b="1" dirty="0"/>
          </a:p>
        </p:txBody>
      </p:sp>
      <p:sp>
        <p:nvSpPr>
          <p:cNvPr id="7" name="Oval 6"/>
          <p:cNvSpPr/>
          <p:nvPr/>
        </p:nvSpPr>
        <p:spPr>
          <a:xfrm>
            <a:off x="3832411" y="4082832"/>
            <a:ext cx="57822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+</a:t>
            </a:r>
            <a:endParaRPr lang="en-US" b="1" dirty="0"/>
          </a:p>
        </p:txBody>
      </p:sp>
      <p:cxnSp>
        <p:nvCxnSpPr>
          <p:cNvPr id="11" name="Elbow Connector 10"/>
          <p:cNvCxnSpPr/>
          <p:nvPr/>
        </p:nvCxnSpPr>
        <p:spPr>
          <a:xfrm>
            <a:off x="1048870" y="3267799"/>
            <a:ext cx="1196788" cy="3225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 flipV="1">
            <a:off x="1048870" y="3718839"/>
            <a:ext cx="1196788" cy="29367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17"/>
          <p:cNvCxnSpPr/>
          <p:nvPr/>
        </p:nvCxnSpPr>
        <p:spPr>
          <a:xfrm>
            <a:off x="2840109" y="3629980"/>
            <a:ext cx="992302" cy="581239"/>
          </a:xfrm>
          <a:prstGeom prst="bentConnector3">
            <a:avLst>
              <a:gd name="adj1" fmla="val 6626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Elbow Connector 18"/>
          <p:cNvCxnSpPr/>
          <p:nvPr/>
        </p:nvCxnSpPr>
        <p:spPr>
          <a:xfrm flipV="1">
            <a:off x="2823882" y="4481255"/>
            <a:ext cx="1008529" cy="417617"/>
          </a:xfrm>
          <a:prstGeom prst="bentConnector3">
            <a:avLst>
              <a:gd name="adj1" fmla="val 66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3007" y="2927853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r>
              <a:rPr lang="en-US" dirty="0" smtClean="0"/>
              <a:t>0   2.00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28367" y="3681009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x0   -1.00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23677" y="4221666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</a:t>
            </a:r>
            <a:r>
              <a:rPr lang="en-US" dirty="0"/>
              <a:t>1</a:t>
            </a:r>
            <a:r>
              <a:rPr lang="en-US" dirty="0" smtClean="0"/>
              <a:t>   -3.00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39037" y="4974822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x1   -2.00</a:t>
            </a:r>
            <a:endParaRPr lang="en-US" dirty="0"/>
          </a:p>
        </p:txBody>
      </p:sp>
      <p:cxnSp>
        <p:nvCxnSpPr>
          <p:cNvPr id="29" name="Elbow Connector 28"/>
          <p:cNvCxnSpPr/>
          <p:nvPr/>
        </p:nvCxnSpPr>
        <p:spPr>
          <a:xfrm>
            <a:off x="1042148" y="4536494"/>
            <a:ext cx="1196788" cy="3225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Elbow Connector 29"/>
          <p:cNvCxnSpPr/>
          <p:nvPr/>
        </p:nvCxnSpPr>
        <p:spPr>
          <a:xfrm flipV="1">
            <a:off x="1042148" y="4987534"/>
            <a:ext cx="1196788" cy="29367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402937" y="4898872"/>
            <a:ext cx="57822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+</a:t>
            </a:r>
            <a:endParaRPr lang="en-US" b="1" dirty="0"/>
          </a:p>
        </p:txBody>
      </p:sp>
      <p:cxnSp>
        <p:nvCxnSpPr>
          <p:cNvPr id="33" name="Elbow Connector 32"/>
          <p:cNvCxnSpPr/>
          <p:nvPr/>
        </p:nvCxnSpPr>
        <p:spPr>
          <a:xfrm>
            <a:off x="4410635" y="4418899"/>
            <a:ext cx="992302" cy="581239"/>
          </a:xfrm>
          <a:prstGeom prst="bentConnector3">
            <a:avLst>
              <a:gd name="adj1" fmla="val 6897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Elbow Connector 37"/>
          <p:cNvCxnSpPr/>
          <p:nvPr/>
        </p:nvCxnSpPr>
        <p:spPr>
          <a:xfrm flipV="1">
            <a:off x="1048870" y="5281207"/>
            <a:ext cx="4354067" cy="890993"/>
          </a:xfrm>
          <a:prstGeom prst="bentConnector3">
            <a:avLst>
              <a:gd name="adj1" fmla="val 5586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06285" y="5793087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w2   -3.00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2884392" y="3311841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  <a:r>
              <a:rPr lang="en-US" dirty="0" smtClean="0"/>
              <a:t>2.00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2919658" y="4580373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6.00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4527997" y="4111923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r>
              <a:rPr lang="en-US" dirty="0" smtClean="0"/>
              <a:t>.00</a:t>
            </a:r>
            <a:endParaRPr lang="en-US" dirty="0"/>
          </a:p>
        </p:txBody>
      </p:sp>
      <p:sp>
        <p:nvSpPr>
          <p:cNvPr id="44" name="Oval 43"/>
          <p:cNvSpPr/>
          <p:nvPr/>
        </p:nvSpPr>
        <p:spPr>
          <a:xfrm>
            <a:off x="6539213" y="4898872"/>
            <a:ext cx="63201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*-1</a:t>
            </a:r>
            <a:endParaRPr lang="en-US" b="1" dirty="0"/>
          </a:p>
        </p:txBody>
      </p:sp>
      <p:sp>
        <p:nvSpPr>
          <p:cNvPr id="45" name="Oval 44"/>
          <p:cNvSpPr/>
          <p:nvPr/>
        </p:nvSpPr>
        <p:spPr>
          <a:xfrm>
            <a:off x="7729279" y="4877100"/>
            <a:ext cx="63201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 smtClean="0"/>
              <a:t>exp</a:t>
            </a:r>
            <a:endParaRPr lang="en-US" b="1" dirty="0"/>
          </a:p>
        </p:txBody>
      </p:sp>
      <p:sp>
        <p:nvSpPr>
          <p:cNvPr id="46" name="Oval 45"/>
          <p:cNvSpPr/>
          <p:nvPr/>
        </p:nvSpPr>
        <p:spPr>
          <a:xfrm>
            <a:off x="8919345" y="4877100"/>
            <a:ext cx="63201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+1</a:t>
            </a:r>
            <a:endParaRPr lang="en-US" b="1" dirty="0"/>
          </a:p>
        </p:txBody>
      </p:sp>
      <p:sp>
        <p:nvSpPr>
          <p:cNvPr id="47" name="Oval 46"/>
          <p:cNvSpPr/>
          <p:nvPr/>
        </p:nvSpPr>
        <p:spPr>
          <a:xfrm>
            <a:off x="10109411" y="4859059"/>
            <a:ext cx="632014" cy="56477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smtClean="0"/>
              <a:t>1/x</a:t>
            </a:r>
            <a:endParaRPr lang="en-US" b="1" dirty="0"/>
          </a:p>
        </p:txBody>
      </p:sp>
      <p:cxnSp>
        <p:nvCxnSpPr>
          <p:cNvPr id="49" name="Straight Arrow Connector 48"/>
          <p:cNvCxnSpPr>
            <a:stCxn id="32" idx="6"/>
            <a:endCxn id="44" idx="2"/>
          </p:cNvCxnSpPr>
          <p:nvPr/>
        </p:nvCxnSpPr>
        <p:spPr>
          <a:xfrm>
            <a:off x="5981161" y="5181260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7171227" y="5159488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8361293" y="5159488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9551359" y="5142995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10741425" y="5141447"/>
            <a:ext cx="558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960989" y="481547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1.00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7142433" y="4802868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-1.00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8325913" y="4802868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0.37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9535270" y="479015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1.37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10741425" y="4772115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0.73</a:t>
            </a:r>
            <a:endParaRPr 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10706045" y="5219087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1.00</a:t>
            </a:r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9515655" y="5225877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-0.53</a:t>
            </a:r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8293639" y="5257210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-0.53</a:t>
            </a:r>
            <a:endParaRPr 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7134084" y="5235439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-0.20</a:t>
            </a:r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5899366" y="525721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0.20</a:t>
            </a:r>
            <a:endParaRPr 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1117643" y="613437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0.20</a:t>
            </a:r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4521619" y="439155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0.20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2947320" y="360123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0.20</a:t>
            </a:r>
            <a:endParaRPr lang="en-US" dirty="0"/>
          </a:p>
        </p:txBody>
      </p:sp>
      <p:sp>
        <p:nvSpPr>
          <p:cNvPr id="80" name="TextBox 79"/>
          <p:cNvSpPr txBox="1"/>
          <p:nvPr/>
        </p:nvSpPr>
        <p:spPr>
          <a:xfrm>
            <a:off x="2926380" y="4839097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0.20</a:t>
            </a:r>
            <a:endParaRPr lang="en-US" dirty="0"/>
          </a:p>
        </p:txBody>
      </p:sp>
      <p:sp>
        <p:nvSpPr>
          <p:cNvPr id="81" name="TextBox 80"/>
          <p:cNvSpPr txBox="1"/>
          <p:nvPr/>
        </p:nvSpPr>
        <p:spPr>
          <a:xfrm>
            <a:off x="988882" y="3214957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-0.20</a:t>
            </a:r>
            <a:endParaRPr 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1053741" y="3939907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0.40</a:t>
            </a:r>
            <a:endParaRPr 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1045932" y="4456075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-0.40</a:t>
            </a:r>
            <a:endParaRPr 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1003215" y="5207919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-0.60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766794" y="291433"/>
                <a:ext cx="1772088" cy="525016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 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794" y="291433"/>
                <a:ext cx="1772088" cy="5250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9293799" y="408464"/>
            <a:ext cx="177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Sigmoid function</a:t>
            </a:r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6492798" y="4124573"/>
            <a:ext cx="4248627" cy="1602130"/>
            <a:chOff x="6492798" y="4124573"/>
            <a:chExt cx="4248627" cy="1602130"/>
          </a:xfrm>
        </p:grpSpPr>
        <p:sp>
          <p:nvSpPr>
            <p:cNvPr id="8" name="Rectangle 7"/>
            <p:cNvSpPr/>
            <p:nvPr/>
          </p:nvSpPr>
          <p:spPr>
            <a:xfrm>
              <a:off x="6492798" y="4124573"/>
              <a:ext cx="4248627" cy="160213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945706" y="4124573"/>
              <a:ext cx="13892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</a:rPr>
                <a:t>Sigmoid gate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416868" y="6106813"/>
                <a:ext cx="25707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1 −0.73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∗0.73=0.2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868" y="6106813"/>
                <a:ext cx="257076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>
            <a:stCxn id="12" idx="1"/>
            <a:endCxn id="76" idx="2"/>
          </p:cNvCxnSpPr>
          <p:nvPr/>
        </p:nvCxnSpPr>
        <p:spPr>
          <a:xfrm flipH="1" flipV="1">
            <a:off x="6196082" y="5626542"/>
            <a:ext cx="220786" cy="6649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251340" y="1695264"/>
                <a:ext cx="6688433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(1+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 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=(1−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340" y="1695264"/>
                <a:ext cx="6688433" cy="6223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Elbow Connector 22"/>
          <p:cNvCxnSpPr>
            <a:stCxn id="17" idx="3"/>
            <a:endCxn id="12" idx="3"/>
          </p:cNvCxnSpPr>
          <p:nvPr/>
        </p:nvCxnSpPr>
        <p:spPr>
          <a:xfrm>
            <a:off x="7939773" y="2006439"/>
            <a:ext cx="1047863" cy="4285040"/>
          </a:xfrm>
          <a:prstGeom prst="bentConnector3">
            <a:avLst>
              <a:gd name="adj1" fmla="val 36615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6087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/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Sigmoid Function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Sigmoid Derivative Function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563" y="2272256"/>
            <a:ext cx="6315157" cy="13722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563" y="4292237"/>
            <a:ext cx="6315157" cy="1629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687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SELESAI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743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2729</TotalTime>
  <Words>991</Words>
  <Application>Microsoft Office PowerPoint</Application>
  <PresentationFormat>Widescreen</PresentationFormat>
  <Paragraphs>507</Paragraphs>
  <Slides>25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Century Schoolbook</vt:lpstr>
      <vt:lpstr>Office Theme</vt:lpstr>
      <vt:lpstr>Visio</vt:lpstr>
      <vt:lpstr>Equation</vt:lpstr>
      <vt:lpstr>Backpropagation</vt:lpstr>
      <vt:lpstr>Sekilas Perceptron</vt:lpstr>
      <vt:lpstr>Sekilas Perceptron </vt:lpstr>
      <vt:lpstr>Sekilas Perceptron</vt:lpstr>
      <vt:lpstr>Sekilas Perceptron</vt:lpstr>
      <vt:lpstr>Sekilas Perceptron</vt:lpstr>
      <vt:lpstr>Sekilas Perceptron</vt:lpstr>
      <vt:lpstr>Multilayer Perceptron (Backpropagation)</vt:lpstr>
      <vt:lpstr>Hard Limit yg digunakan pada perceptron</vt:lpstr>
      <vt:lpstr>Sigmoid pada backpropagation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Backpropagation</dc:title>
  <dc:creator>User</dc:creator>
  <cp:lastModifiedBy>User</cp:lastModifiedBy>
  <cp:revision>76</cp:revision>
  <dcterms:created xsi:type="dcterms:W3CDTF">2019-02-21T18:52:47Z</dcterms:created>
  <dcterms:modified xsi:type="dcterms:W3CDTF">2019-02-26T16:34:01Z</dcterms:modified>
</cp:coreProperties>
</file>