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wdp" ContentType="image/vnd.ms-photo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76" r:id="rId3"/>
    <p:sldId id="297" r:id="rId4"/>
    <p:sldId id="337" r:id="rId5"/>
    <p:sldId id="334" r:id="rId6"/>
    <p:sldId id="338" r:id="rId7"/>
    <p:sldId id="339" r:id="rId8"/>
    <p:sldId id="293" r:id="rId9"/>
    <p:sldId id="33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73408" autoAdjust="0"/>
  </p:normalViewPr>
  <p:slideViewPr>
    <p:cSldViewPr>
      <p:cViewPr varScale="1">
        <p:scale>
          <a:sx n="77" d="100"/>
          <a:sy n="77" d="100"/>
        </p:scale>
        <p:origin x="15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wmf"/><Relationship Id="rId3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7B1F5-31C8-4043-A3B4-3AEE96999B0C}" type="datetimeFigureOut">
              <a:rPr lang="en-US" smtClean="0"/>
              <a:t>2/17/19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EEB8D-83BC-45DC-B09B-7F2B327FA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4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9;p3">
            <a:extLst>
              <a:ext uri="{FF2B5EF4-FFF2-40B4-BE49-F238E27FC236}">
                <a16:creationId xmlns="" xmlns:a16="http://schemas.microsoft.com/office/drawing/2014/main" id="{28B3D8D8-8962-4F0E-BBDC-C1DABEE2A34D}"/>
              </a:ext>
            </a:extLst>
          </p:cNvPr>
          <p:cNvSpPr/>
          <p:nvPr/>
        </p:nvSpPr>
        <p:spPr>
          <a:xfrm>
            <a:off x="3047704" y="5323800"/>
            <a:ext cx="3047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;p3">
            <a:extLst>
              <a:ext uri="{FF2B5EF4-FFF2-40B4-BE49-F238E27FC236}">
                <a16:creationId xmlns="" xmlns:a16="http://schemas.microsoft.com/office/drawing/2014/main" id="{9968C167-7F49-46F8-BECF-6FE832EF92BF}"/>
              </a:ext>
            </a:extLst>
          </p:cNvPr>
          <p:cNvSpPr/>
          <p:nvPr/>
        </p:nvSpPr>
        <p:spPr>
          <a:xfrm>
            <a:off x="6096271" y="5323800"/>
            <a:ext cx="3047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;p3">
            <a:extLst>
              <a:ext uri="{FF2B5EF4-FFF2-40B4-BE49-F238E27FC236}">
                <a16:creationId xmlns="" xmlns:a16="http://schemas.microsoft.com/office/drawing/2014/main" id="{2737C49A-249C-4AB2-93A9-092BC1475C40}"/>
              </a:ext>
            </a:extLst>
          </p:cNvPr>
          <p:cNvSpPr/>
          <p:nvPr/>
        </p:nvSpPr>
        <p:spPr>
          <a:xfrm>
            <a:off x="1" y="5323800"/>
            <a:ext cx="3047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6;p3">
            <a:extLst>
              <a:ext uri="{FF2B5EF4-FFF2-40B4-BE49-F238E27FC236}">
                <a16:creationId xmlns="" xmlns:a16="http://schemas.microsoft.com/office/drawing/2014/main" id="{C52062D5-9129-4628-B456-A4DC7EE43331}"/>
              </a:ext>
            </a:extLst>
          </p:cNvPr>
          <p:cNvSpPr/>
          <p:nvPr/>
        </p:nvSpPr>
        <p:spPr>
          <a:xfrm>
            <a:off x="0" y="0"/>
            <a:ext cx="9144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274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Google Shape;19;p3">
            <a:extLst>
              <a:ext uri="{FF2B5EF4-FFF2-40B4-BE49-F238E27FC236}">
                <a16:creationId xmlns="" xmlns:a16="http://schemas.microsoft.com/office/drawing/2014/main" id="{DB5977C4-489B-46DF-9307-2D28E43B4019}"/>
              </a:ext>
            </a:extLst>
          </p:cNvPr>
          <p:cNvSpPr/>
          <p:nvPr/>
        </p:nvSpPr>
        <p:spPr>
          <a:xfrm>
            <a:off x="3047704" y="5323800"/>
            <a:ext cx="3047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;p3">
            <a:extLst>
              <a:ext uri="{FF2B5EF4-FFF2-40B4-BE49-F238E27FC236}">
                <a16:creationId xmlns="" xmlns:a16="http://schemas.microsoft.com/office/drawing/2014/main" id="{A78C2369-35B8-4F82-AF97-AFF1E791C0AA}"/>
              </a:ext>
            </a:extLst>
          </p:cNvPr>
          <p:cNvSpPr/>
          <p:nvPr/>
        </p:nvSpPr>
        <p:spPr>
          <a:xfrm>
            <a:off x="6096271" y="5323800"/>
            <a:ext cx="3047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1;p3">
            <a:extLst>
              <a:ext uri="{FF2B5EF4-FFF2-40B4-BE49-F238E27FC236}">
                <a16:creationId xmlns="" xmlns:a16="http://schemas.microsoft.com/office/drawing/2014/main" id="{1A062902-AF02-4443-B058-731750167060}"/>
              </a:ext>
            </a:extLst>
          </p:cNvPr>
          <p:cNvSpPr/>
          <p:nvPr/>
        </p:nvSpPr>
        <p:spPr>
          <a:xfrm>
            <a:off x="1" y="5323800"/>
            <a:ext cx="3047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6;p3">
            <a:extLst>
              <a:ext uri="{FF2B5EF4-FFF2-40B4-BE49-F238E27FC236}">
                <a16:creationId xmlns="" xmlns:a16="http://schemas.microsoft.com/office/drawing/2014/main" id="{8F6E87A8-2F72-46BF-8B7C-AB67895EE494}"/>
              </a:ext>
            </a:extLst>
          </p:cNvPr>
          <p:cNvSpPr/>
          <p:nvPr/>
        </p:nvSpPr>
        <p:spPr>
          <a:xfrm>
            <a:off x="0" y="0"/>
            <a:ext cx="9144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Hasil gambar untuk logo polinema">
            <a:extLst>
              <a:ext uri="{FF2B5EF4-FFF2-40B4-BE49-F238E27FC236}">
                <a16:creationId xmlns="" xmlns:a16="http://schemas.microsoft.com/office/drawing/2014/main" id="{262E92AF-A5E2-487B-A852-6BB442151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698" y="669300"/>
            <a:ext cx="1509712" cy="1523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38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;p5">
            <a:extLst>
              <a:ext uri="{FF2B5EF4-FFF2-40B4-BE49-F238E27FC236}">
                <a16:creationId xmlns="" xmlns:a16="http://schemas.microsoft.com/office/drawing/2014/main" id="{F97BB0C8-BB20-41E8-AF80-BFD153EBF769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5;p5">
            <a:extLst>
              <a:ext uri="{FF2B5EF4-FFF2-40B4-BE49-F238E27FC236}">
                <a16:creationId xmlns="" xmlns:a16="http://schemas.microsoft.com/office/drawing/2014/main" id="{93CD582A-AFEC-44F1-8243-086A624238F0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6;p5">
            <a:extLst>
              <a:ext uri="{FF2B5EF4-FFF2-40B4-BE49-F238E27FC236}">
                <a16:creationId xmlns="" xmlns:a16="http://schemas.microsoft.com/office/drawing/2014/main" id="{281E9930-B484-4123-8F5A-D707EEFCFBF1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7;p5">
            <a:extLst>
              <a:ext uri="{FF2B5EF4-FFF2-40B4-BE49-F238E27FC236}">
                <a16:creationId xmlns="" xmlns:a16="http://schemas.microsoft.com/office/drawing/2014/main" id="{D9817C1C-D3EF-435C-8D78-FD8F3E5F07E4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85C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8" y="1825625"/>
            <a:ext cx="7886701" cy="4351338"/>
          </a:xfrm>
        </p:spPr>
        <p:txBody>
          <a:bodyPr/>
          <a:lstStyle>
            <a:lvl1pPr marL="0" indent="0">
              <a:spcAft>
                <a:spcPts val="600"/>
              </a:spcAft>
              <a:buFont typeface="Calibri" panose="020F0502020204030204" pitchFamily="34" charset="0"/>
              <a:buChar char="﻿"/>
              <a:tabLst/>
              <a:defRPr>
                <a:solidFill>
                  <a:schemeClr val="tx2"/>
                </a:solidFill>
              </a:defRPr>
            </a:lvl1pPr>
            <a:lvl2pPr marL="457200" indent="-228600">
              <a:defRPr>
                <a:solidFill>
                  <a:schemeClr val="tx2"/>
                </a:solidFill>
              </a:defRPr>
            </a:lvl2pPr>
            <a:lvl3pPr marL="804863" indent="-228600">
              <a:defRPr>
                <a:solidFill>
                  <a:schemeClr val="tx2"/>
                </a:solidFill>
              </a:defRPr>
            </a:lvl3pPr>
            <a:lvl4pPr marL="1152525" indent="-228600">
              <a:defRPr>
                <a:solidFill>
                  <a:schemeClr val="tx2"/>
                </a:solidFill>
              </a:defRPr>
            </a:lvl4pPr>
            <a:lvl5pPr marL="1536700" indent="-228600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Google Shape;34;p5">
            <a:extLst>
              <a:ext uri="{FF2B5EF4-FFF2-40B4-BE49-F238E27FC236}">
                <a16:creationId xmlns="" xmlns:a16="http://schemas.microsoft.com/office/drawing/2014/main" id="{AF12AFCB-B200-4AC8-805B-8AAC05743BED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5;p5">
            <a:extLst>
              <a:ext uri="{FF2B5EF4-FFF2-40B4-BE49-F238E27FC236}">
                <a16:creationId xmlns="" xmlns:a16="http://schemas.microsoft.com/office/drawing/2014/main" id="{5A745B38-ED2E-413C-916F-1B49A14A62FE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6;p5">
            <a:extLst>
              <a:ext uri="{FF2B5EF4-FFF2-40B4-BE49-F238E27FC236}">
                <a16:creationId xmlns="" xmlns:a16="http://schemas.microsoft.com/office/drawing/2014/main" id="{1562B0BF-9FBD-4550-A96A-6597CB142464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7;p5">
            <a:extLst>
              <a:ext uri="{FF2B5EF4-FFF2-40B4-BE49-F238E27FC236}">
                <a16:creationId xmlns="" xmlns:a16="http://schemas.microsoft.com/office/drawing/2014/main" id="{7D192D0C-279E-4F9C-B944-A40A117485EE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Hasil gambar untuk logo polinema">
            <a:extLst>
              <a:ext uri="{FF2B5EF4-FFF2-40B4-BE49-F238E27FC236}">
                <a16:creationId xmlns="" xmlns:a16="http://schemas.microsoft.com/office/drawing/2014/main" id="{9D4687A6-3EE9-4E8E-9ECD-9816BD8D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470" y="136524"/>
            <a:ext cx="895758" cy="90423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70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;p5">
            <a:extLst>
              <a:ext uri="{FF2B5EF4-FFF2-40B4-BE49-F238E27FC236}">
                <a16:creationId xmlns="" xmlns:a16="http://schemas.microsoft.com/office/drawing/2014/main" id="{390C09BD-4849-439A-B5A4-67C82E67821D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5;p5">
            <a:extLst>
              <a:ext uri="{FF2B5EF4-FFF2-40B4-BE49-F238E27FC236}">
                <a16:creationId xmlns="" xmlns:a16="http://schemas.microsoft.com/office/drawing/2014/main" id="{784FAE16-2C0C-4DC6-902E-0A5F43A8F463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6;p5">
            <a:extLst>
              <a:ext uri="{FF2B5EF4-FFF2-40B4-BE49-F238E27FC236}">
                <a16:creationId xmlns="" xmlns:a16="http://schemas.microsoft.com/office/drawing/2014/main" id="{74CE5038-51EA-4C1A-8C97-06914409C3E9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7;p5">
            <a:extLst>
              <a:ext uri="{FF2B5EF4-FFF2-40B4-BE49-F238E27FC236}">
                <a16:creationId xmlns="" xmlns:a16="http://schemas.microsoft.com/office/drawing/2014/main" id="{2D2ABCF6-7D71-4967-9A0D-7B87559F8806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Google Shape;34;p5">
            <a:extLst>
              <a:ext uri="{FF2B5EF4-FFF2-40B4-BE49-F238E27FC236}">
                <a16:creationId xmlns="" xmlns:a16="http://schemas.microsoft.com/office/drawing/2014/main" id="{55631716-84AC-42B8-9EA7-C57F46CF43C8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5;p5">
            <a:extLst>
              <a:ext uri="{FF2B5EF4-FFF2-40B4-BE49-F238E27FC236}">
                <a16:creationId xmlns="" xmlns:a16="http://schemas.microsoft.com/office/drawing/2014/main" id="{F92AD813-289B-481D-BD9C-9A3C2FA9029C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6;p5">
            <a:extLst>
              <a:ext uri="{FF2B5EF4-FFF2-40B4-BE49-F238E27FC236}">
                <a16:creationId xmlns="" xmlns:a16="http://schemas.microsoft.com/office/drawing/2014/main" id="{1E86EC90-CCF9-4E7E-9D5C-1B66B0D761F8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7;p5">
            <a:extLst>
              <a:ext uri="{FF2B5EF4-FFF2-40B4-BE49-F238E27FC236}">
                <a16:creationId xmlns="" xmlns:a16="http://schemas.microsoft.com/office/drawing/2014/main" id="{A1314DD5-683D-48AA-A562-F2C921956466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607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4;p5">
            <a:extLst>
              <a:ext uri="{FF2B5EF4-FFF2-40B4-BE49-F238E27FC236}">
                <a16:creationId xmlns="" xmlns:a16="http://schemas.microsoft.com/office/drawing/2014/main" id="{1E6C14FF-1C9B-49E0-9921-2EE7D81BD5C4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5;p5">
            <a:extLst>
              <a:ext uri="{FF2B5EF4-FFF2-40B4-BE49-F238E27FC236}">
                <a16:creationId xmlns="" xmlns:a16="http://schemas.microsoft.com/office/drawing/2014/main" id="{D8697FB3-0FF0-46E9-B766-71A29B4C8785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6;p5">
            <a:extLst>
              <a:ext uri="{FF2B5EF4-FFF2-40B4-BE49-F238E27FC236}">
                <a16:creationId xmlns="" xmlns:a16="http://schemas.microsoft.com/office/drawing/2014/main" id="{DBE0F3EB-9815-4B50-8B9D-00C4F84DF077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7;p5">
            <a:extLst>
              <a:ext uri="{FF2B5EF4-FFF2-40B4-BE49-F238E27FC236}">
                <a16:creationId xmlns="" xmlns:a16="http://schemas.microsoft.com/office/drawing/2014/main" id="{92A66D26-EBB3-4BDB-8BC4-B71DAB3A0A41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Google Shape;34;p5">
            <a:extLst>
              <a:ext uri="{FF2B5EF4-FFF2-40B4-BE49-F238E27FC236}">
                <a16:creationId xmlns="" xmlns:a16="http://schemas.microsoft.com/office/drawing/2014/main" id="{3955B8F2-825A-4FE5-9FF9-2AD515A88EBC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5;p5">
            <a:extLst>
              <a:ext uri="{FF2B5EF4-FFF2-40B4-BE49-F238E27FC236}">
                <a16:creationId xmlns="" xmlns:a16="http://schemas.microsoft.com/office/drawing/2014/main" id="{CAD5F15C-7B3E-4765-B6B1-37E62AF5C299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6;p5">
            <a:extLst>
              <a:ext uri="{FF2B5EF4-FFF2-40B4-BE49-F238E27FC236}">
                <a16:creationId xmlns="" xmlns:a16="http://schemas.microsoft.com/office/drawing/2014/main" id="{F0462C0B-D19D-4EAB-B590-F22F0632105A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7;p5">
            <a:extLst>
              <a:ext uri="{FF2B5EF4-FFF2-40B4-BE49-F238E27FC236}">
                <a16:creationId xmlns="" xmlns:a16="http://schemas.microsoft.com/office/drawing/2014/main" id="{CB884C85-3474-4F48-9334-5A3A0B92BCA5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7532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;p5">
            <a:extLst>
              <a:ext uri="{FF2B5EF4-FFF2-40B4-BE49-F238E27FC236}">
                <a16:creationId xmlns="" xmlns:a16="http://schemas.microsoft.com/office/drawing/2014/main" id="{EBD34C2B-4C7F-4484-9570-2600C7C5AA3A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5;p5">
            <a:extLst>
              <a:ext uri="{FF2B5EF4-FFF2-40B4-BE49-F238E27FC236}">
                <a16:creationId xmlns="" xmlns:a16="http://schemas.microsoft.com/office/drawing/2014/main" id="{0FB66BD2-AC36-47F4-A66A-D3CB34425B02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6;p5">
            <a:extLst>
              <a:ext uri="{FF2B5EF4-FFF2-40B4-BE49-F238E27FC236}">
                <a16:creationId xmlns="" xmlns:a16="http://schemas.microsoft.com/office/drawing/2014/main" id="{2F56F8C3-188E-4348-BE0B-D26879321DF6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7;p5">
            <a:extLst>
              <a:ext uri="{FF2B5EF4-FFF2-40B4-BE49-F238E27FC236}">
                <a16:creationId xmlns="" xmlns:a16="http://schemas.microsoft.com/office/drawing/2014/main" id="{15A12D85-9DB1-472D-AD58-57355D065D7F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Google Shape;34;p5">
            <a:extLst>
              <a:ext uri="{FF2B5EF4-FFF2-40B4-BE49-F238E27FC236}">
                <a16:creationId xmlns="" xmlns:a16="http://schemas.microsoft.com/office/drawing/2014/main" id="{B27ACEF9-0E89-4430-B0AE-5EA06BF4C835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5;p5">
            <a:extLst>
              <a:ext uri="{FF2B5EF4-FFF2-40B4-BE49-F238E27FC236}">
                <a16:creationId xmlns="" xmlns:a16="http://schemas.microsoft.com/office/drawing/2014/main" id="{29EF9000-3FEA-4E79-A74E-275C23EA8DAC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6;p5">
            <a:extLst>
              <a:ext uri="{FF2B5EF4-FFF2-40B4-BE49-F238E27FC236}">
                <a16:creationId xmlns="" xmlns:a16="http://schemas.microsoft.com/office/drawing/2014/main" id="{C5538AD5-805A-416B-8785-4910E0D39099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7;p5">
            <a:extLst>
              <a:ext uri="{FF2B5EF4-FFF2-40B4-BE49-F238E27FC236}">
                <a16:creationId xmlns="" xmlns:a16="http://schemas.microsoft.com/office/drawing/2014/main" id="{21BF3E31-5C99-471F-93AA-8E86A3453CD0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42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;p5">
            <a:extLst>
              <a:ext uri="{FF2B5EF4-FFF2-40B4-BE49-F238E27FC236}">
                <a16:creationId xmlns="" xmlns:a16="http://schemas.microsoft.com/office/drawing/2014/main" id="{B914810A-44A6-4161-A70C-FF676D0A6B9F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5;p5">
            <a:extLst>
              <a:ext uri="{FF2B5EF4-FFF2-40B4-BE49-F238E27FC236}">
                <a16:creationId xmlns="" xmlns:a16="http://schemas.microsoft.com/office/drawing/2014/main" id="{9DDF0D8B-62DA-472A-85D8-5879E3443EF9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6;p5">
            <a:extLst>
              <a:ext uri="{FF2B5EF4-FFF2-40B4-BE49-F238E27FC236}">
                <a16:creationId xmlns="" xmlns:a16="http://schemas.microsoft.com/office/drawing/2014/main" id="{890397F0-AD1E-423B-8197-5FB8DBAFE5AD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7;p5">
            <a:extLst>
              <a:ext uri="{FF2B5EF4-FFF2-40B4-BE49-F238E27FC236}">
                <a16:creationId xmlns="" xmlns:a16="http://schemas.microsoft.com/office/drawing/2014/main" id="{AAA9BD62-A2A2-402F-857E-E9F16F3AD6E8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34;p5">
            <a:extLst>
              <a:ext uri="{FF2B5EF4-FFF2-40B4-BE49-F238E27FC236}">
                <a16:creationId xmlns="" xmlns:a16="http://schemas.microsoft.com/office/drawing/2014/main" id="{5079E353-3D36-491E-94BB-53657B714F63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5;p5">
            <a:extLst>
              <a:ext uri="{FF2B5EF4-FFF2-40B4-BE49-F238E27FC236}">
                <a16:creationId xmlns="" xmlns:a16="http://schemas.microsoft.com/office/drawing/2014/main" id="{520B6713-3C0C-4FEA-9C75-49576C3F22A1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6;p5">
            <a:extLst>
              <a:ext uri="{FF2B5EF4-FFF2-40B4-BE49-F238E27FC236}">
                <a16:creationId xmlns="" xmlns:a16="http://schemas.microsoft.com/office/drawing/2014/main" id="{EF8A03DE-2505-466E-994B-B30AC06041EB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7;p5">
            <a:extLst>
              <a:ext uri="{FF2B5EF4-FFF2-40B4-BE49-F238E27FC236}">
                <a16:creationId xmlns="" xmlns:a16="http://schemas.microsoft.com/office/drawing/2014/main" id="{9DC5AE5A-5294-4DFB-9EA9-BA49DE5DF23E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52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185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4;p5">
            <a:extLst>
              <a:ext uri="{FF2B5EF4-FFF2-40B4-BE49-F238E27FC236}">
                <a16:creationId xmlns="" xmlns:a16="http://schemas.microsoft.com/office/drawing/2014/main" id="{D501FA23-BE15-4BBD-8DF9-0098F3713F37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5;p5">
            <a:extLst>
              <a:ext uri="{FF2B5EF4-FFF2-40B4-BE49-F238E27FC236}">
                <a16:creationId xmlns="" xmlns:a16="http://schemas.microsoft.com/office/drawing/2014/main" id="{885F892F-193B-47DA-8B22-284F31E3F77E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6;p5">
            <a:extLst>
              <a:ext uri="{FF2B5EF4-FFF2-40B4-BE49-F238E27FC236}">
                <a16:creationId xmlns="" xmlns:a16="http://schemas.microsoft.com/office/drawing/2014/main" id="{1EF811DA-D642-49FD-AF5E-71D3F79BFF3F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7;p5">
            <a:extLst>
              <a:ext uri="{FF2B5EF4-FFF2-40B4-BE49-F238E27FC236}">
                <a16:creationId xmlns="" xmlns:a16="http://schemas.microsoft.com/office/drawing/2014/main" id="{48C273E6-712E-4912-8A85-54408C719667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oogle Shape;34;p5">
            <a:extLst>
              <a:ext uri="{FF2B5EF4-FFF2-40B4-BE49-F238E27FC236}">
                <a16:creationId xmlns="" xmlns:a16="http://schemas.microsoft.com/office/drawing/2014/main" id="{FAABD269-D691-4B88-B6A4-DEECF71CFC30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5;p5">
            <a:extLst>
              <a:ext uri="{FF2B5EF4-FFF2-40B4-BE49-F238E27FC236}">
                <a16:creationId xmlns="" xmlns:a16="http://schemas.microsoft.com/office/drawing/2014/main" id="{BCB7BBE7-D7E3-4A01-9A01-C063EA332E40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6;p5">
            <a:extLst>
              <a:ext uri="{FF2B5EF4-FFF2-40B4-BE49-F238E27FC236}">
                <a16:creationId xmlns="" xmlns:a16="http://schemas.microsoft.com/office/drawing/2014/main" id="{E8FDE87B-31AB-408C-96C5-6DD4B07E7E15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7;p5">
            <a:extLst>
              <a:ext uri="{FF2B5EF4-FFF2-40B4-BE49-F238E27FC236}">
                <a16:creationId xmlns="" xmlns:a16="http://schemas.microsoft.com/office/drawing/2014/main" id="{90B5432A-9C48-4BD0-8708-A55E14E3FB36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68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4;p5">
            <a:extLst>
              <a:ext uri="{FF2B5EF4-FFF2-40B4-BE49-F238E27FC236}">
                <a16:creationId xmlns="" xmlns:a16="http://schemas.microsoft.com/office/drawing/2014/main" id="{B1CB1FFC-CB6F-41C4-B15F-40A30E20B85B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5;p5">
            <a:extLst>
              <a:ext uri="{FF2B5EF4-FFF2-40B4-BE49-F238E27FC236}">
                <a16:creationId xmlns="" xmlns:a16="http://schemas.microsoft.com/office/drawing/2014/main" id="{5C0A328B-1FDA-4F11-9472-E4CF54D83615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6;p5">
            <a:extLst>
              <a:ext uri="{FF2B5EF4-FFF2-40B4-BE49-F238E27FC236}">
                <a16:creationId xmlns="" xmlns:a16="http://schemas.microsoft.com/office/drawing/2014/main" id="{BB6F74B5-8A9F-462C-A89F-82C45A0B283F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7;p5">
            <a:extLst>
              <a:ext uri="{FF2B5EF4-FFF2-40B4-BE49-F238E27FC236}">
                <a16:creationId xmlns="" xmlns:a16="http://schemas.microsoft.com/office/drawing/2014/main" id="{C2EA4B33-7A18-4768-81AA-97689A9F0539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Google Shape;34;p5">
            <a:extLst>
              <a:ext uri="{FF2B5EF4-FFF2-40B4-BE49-F238E27FC236}">
                <a16:creationId xmlns="" xmlns:a16="http://schemas.microsoft.com/office/drawing/2014/main" id="{9836007B-2B35-428E-B4EE-9BC495075FA9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5;p5">
            <a:extLst>
              <a:ext uri="{FF2B5EF4-FFF2-40B4-BE49-F238E27FC236}">
                <a16:creationId xmlns="" xmlns:a16="http://schemas.microsoft.com/office/drawing/2014/main" id="{F1726200-D1F6-4498-BB7F-780F30F23D32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6;p5">
            <a:extLst>
              <a:ext uri="{FF2B5EF4-FFF2-40B4-BE49-F238E27FC236}">
                <a16:creationId xmlns="" xmlns:a16="http://schemas.microsoft.com/office/drawing/2014/main" id="{93705065-4B6D-446E-B0AB-4DB03FBD45DF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7;p5">
            <a:extLst>
              <a:ext uri="{FF2B5EF4-FFF2-40B4-BE49-F238E27FC236}">
                <a16:creationId xmlns="" xmlns:a16="http://schemas.microsoft.com/office/drawing/2014/main" id="{6DD04E83-EDA9-4F40-9F8E-32145F83B50A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996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4;p5">
            <a:extLst>
              <a:ext uri="{FF2B5EF4-FFF2-40B4-BE49-F238E27FC236}">
                <a16:creationId xmlns="" xmlns:a16="http://schemas.microsoft.com/office/drawing/2014/main" id="{FB08B493-B13F-4AFF-AE9A-069437E6720C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5;p5">
            <a:extLst>
              <a:ext uri="{FF2B5EF4-FFF2-40B4-BE49-F238E27FC236}">
                <a16:creationId xmlns="" xmlns:a16="http://schemas.microsoft.com/office/drawing/2014/main" id="{324A8548-F0E2-4DD7-9171-C68615F9887A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6;p5">
            <a:extLst>
              <a:ext uri="{FF2B5EF4-FFF2-40B4-BE49-F238E27FC236}">
                <a16:creationId xmlns="" xmlns:a16="http://schemas.microsoft.com/office/drawing/2014/main" id="{8FECC96C-D8E2-4C99-B773-43D5EA3ED9D6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7;p5">
            <a:extLst>
              <a:ext uri="{FF2B5EF4-FFF2-40B4-BE49-F238E27FC236}">
                <a16:creationId xmlns="" xmlns:a16="http://schemas.microsoft.com/office/drawing/2014/main" id="{3AAA96B1-A479-4675-A466-9DBBE3E166F7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Google Shape;34;p5">
            <a:extLst>
              <a:ext uri="{FF2B5EF4-FFF2-40B4-BE49-F238E27FC236}">
                <a16:creationId xmlns="" xmlns:a16="http://schemas.microsoft.com/office/drawing/2014/main" id="{33F6EFFE-17D5-472B-9197-CAE1D537A683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5;p5">
            <a:extLst>
              <a:ext uri="{FF2B5EF4-FFF2-40B4-BE49-F238E27FC236}">
                <a16:creationId xmlns="" xmlns:a16="http://schemas.microsoft.com/office/drawing/2014/main" id="{843F8E14-8D66-4076-80C0-F7C611DEEB1C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6;p5">
            <a:extLst>
              <a:ext uri="{FF2B5EF4-FFF2-40B4-BE49-F238E27FC236}">
                <a16:creationId xmlns="" xmlns:a16="http://schemas.microsoft.com/office/drawing/2014/main" id="{7CC4450B-87B1-45DD-AD39-D71F61833BA1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7;p5">
            <a:extLst>
              <a:ext uri="{FF2B5EF4-FFF2-40B4-BE49-F238E27FC236}">
                <a16:creationId xmlns="" xmlns:a16="http://schemas.microsoft.com/office/drawing/2014/main" id="{F641B878-36A6-44B2-8DBC-16F6104E0F36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11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;p5">
            <a:extLst>
              <a:ext uri="{FF2B5EF4-FFF2-40B4-BE49-F238E27FC236}">
                <a16:creationId xmlns="" xmlns:a16="http://schemas.microsoft.com/office/drawing/2014/main" id="{4F1BB1C7-3C0B-41B6-949F-316BAE75AE15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5;p5">
            <a:extLst>
              <a:ext uri="{FF2B5EF4-FFF2-40B4-BE49-F238E27FC236}">
                <a16:creationId xmlns="" xmlns:a16="http://schemas.microsoft.com/office/drawing/2014/main" id="{17CFECF2-B247-474C-9AC2-A420288C3765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6;p5">
            <a:extLst>
              <a:ext uri="{FF2B5EF4-FFF2-40B4-BE49-F238E27FC236}">
                <a16:creationId xmlns="" xmlns:a16="http://schemas.microsoft.com/office/drawing/2014/main" id="{69524FB6-1F57-4155-8439-FF7047EB1972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7;p5">
            <a:extLst>
              <a:ext uri="{FF2B5EF4-FFF2-40B4-BE49-F238E27FC236}">
                <a16:creationId xmlns="" xmlns:a16="http://schemas.microsoft.com/office/drawing/2014/main" id="{1D50FF2E-BCF2-41AD-88D0-8918C7D47709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Google Shape;34;p5">
            <a:extLst>
              <a:ext uri="{FF2B5EF4-FFF2-40B4-BE49-F238E27FC236}">
                <a16:creationId xmlns="" xmlns:a16="http://schemas.microsoft.com/office/drawing/2014/main" id="{2575A843-A8D4-4A07-9E58-A0CD64E1C148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5;p5">
            <a:extLst>
              <a:ext uri="{FF2B5EF4-FFF2-40B4-BE49-F238E27FC236}">
                <a16:creationId xmlns="" xmlns:a16="http://schemas.microsoft.com/office/drawing/2014/main" id="{29848B54-1901-46C4-BB04-F8A8A99CFE11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6;p5">
            <a:extLst>
              <a:ext uri="{FF2B5EF4-FFF2-40B4-BE49-F238E27FC236}">
                <a16:creationId xmlns="" xmlns:a16="http://schemas.microsoft.com/office/drawing/2014/main" id="{797B62F2-7593-4B4B-8F14-FEF431FC0931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7;p5">
            <a:extLst>
              <a:ext uri="{FF2B5EF4-FFF2-40B4-BE49-F238E27FC236}">
                <a16:creationId xmlns="" xmlns:a16="http://schemas.microsoft.com/office/drawing/2014/main" id="{E2B4CD00-E3F6-432B-A75D-0398065C2AC9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92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;p5">
            <a:extLst>
              <a:ext uri="{FF2B5EF4-FFF2-40B4-BE49-F238E27FC236}">
                <a16:creationId xmlns="" xmlns:a16="http://schemas.microsoft.com/office/drawing/2014/main" id="{8875A6C0-88EB-4126-9CDE-A0FB75187E33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5;p5">
            <a:extLst>
              <a:ext uri="{FF2B5EF4-FFF2-40B4-BE49-F238E27FC236}">
                <a16:creationId xmlns="" xmlns:a16="http://schemas.microsoft.com/office/drawing/2014/main" id="{32A30352-F0E3-48A2-B403-E01C50CCEDB2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6;p5">
            <a:extLst>
              <a:ext uri="{FF2B5EF4-FFF2-40B4-BE49-F238E27FC236}">
                <a16:creationId xmlns="" xmlns:a16="http://schemas.microsoft.com/office/drawing/2014/main" id="{5ADBDE24-3118-4802-9B84-54513DF81330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7;p5">
            <a:extLst>
              <a:ext uri="{FF2B5EF4-FFF2-40B4-BE49-F238E27FC236}">
                <a16:creationId xmlns="" xmlns:a16="http://schemas.microsoft.com/office/drawing/2014/main" id="{E28C4D60-4211-48F0-9360-1890BFA4EE0E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Google Shape;34;p5">
            <a:extLst>
              <a:ext uri="{FF2B5EF4-FFF2-40B4-BE49-F238E27FC236}">
                <a16:creationId xmlns="" xmlns:a16="http://schemas.microsoft.com/office/drawing/2014/main" id="{12FF13C3-EB71-4395-8B97-1E86353A2536}"/>
              </a:ext>
            </a:extLst>
          </p:cNvPr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5;p5">
            <a:extLst>
              <a:ext uri="{FF2B5EF4-FFF2-40B4-BE49-F238E27FC236}">
                <a16:creationId xmlns="" xmlns:a16="http://schemas.microsoft.com/office/drawing/2014/main" id="{6CB94CEA-4964-44D1-ADC6-9709F15D675F}"/>
              </a:ext>
            </a:extLst>
          </p:cNvPr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6;p5">
            <a:extLst>
              <a:ext uri="{FF2B5EF4-FFF2-40B4-BE49-F238E27FC236}">
                <a16:creationId xmlns="" xmlns:a16="http://schemas.microsoft.com/office/drawing/2014/main" id="{74E45D46-080F-4EC7-BF73-C96F1A324E25}"/>
              </a:ext>
            </a:extLst>
          </p:cNvPr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7;p5">
            <a:extLst>
              <a:ext uri="{FF2B5EF4-FFF2-40B4-BE49-F238E27FC236}">
                <a16:creationId xmlns="" xmlns:a16="http://schemas.microsoft.com/office/drawing/2014/main" id="{3E1F7E71-49C8-4477-B9A5-6FD5A4BA0331}"/>
              </a:ext>
            </a:extLst>
          </p:cNvPr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25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7E744-A518-4960-9CB3-DD6B01620DDE}" type="datetimeFigureOut">
              <a:rPr lang="en-US" smtClean="0"/>
              <a:pPr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04DEA-F83A-4FDF-A96B-54E1CEEB72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0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4.wmf"/><Relationship Id="rId8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0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017066"/>
          </a:xfrm>
        </p:spPr>
        <p:txBody>
          <a:bodyPr>
            <a:noAutofit/>
          </a:bodyPr>
          <a:lstStyle/>
          <a:p>
            <a:r>
              <a:rPr lang="en-US" sz="4000" dirty="0"/>
              <a:t>Perceptron </a:t>
            </a:r>
            <a:r>
              <a:rPr lang="en-US" sz="4000" dirty="0" smtClean="0"/>
              <a:t>Program Development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Minggu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3</a:t>
            </a:r>
          </a:p>
          <a:p>
            <a:r>
              <a:rPr lang="en-US" sz="2000" dirty="0" smtClean="0"/>
              <a:t>Team Teaching </a:t>
            </a:r>
            <a:r>
              <a:rPr lang="en-US" sz="2000" dirty="0" err="1" smtClean="0"/>
              <a:t>Komputasi</a:t>
            </a:r>
            <a:r>
              <a:rPr lang="en-US" sz="2000" dirty="0" smtClean="0"/>
              <a:t> </a:t>
            </a:r>
            <a:r>
              <a:rPr lang="en-US" sz="2000" dirty="0" err="1" smtClean="0"/>
              <a:t>Kognitive</a:t>
            </a:r>
            <a:endParaRPr lang="en-US" sz="2000" dirty="0" smtClean="0"/>
          </a:p>
          <a:p>
            <a:r>
              <a:rPr lang="en-US" sz="2000" dirty="0" smtClean="0"/>
              <a:t>Rosa </a:t>
            </a:r>
            <a:r>
              <a:rPr lang="en-US" sz="2000" dirty="0" err="1"/>
              <a:t>Andrie</a:t>
            </a:r>
            <a:r>
              <a:rPr lang="en-US" sz="2000" dirty="0"/>
              <a:t> A., </a:t>
            </a:r>
            <a:r>
              <a:rPr lang="en-US" sz="2000" dirty="0" err="1"/>
              <a:t>Arie</a:t>
            </a:r>
            <a:r>
              <a:rPr lang="en-US" sz="2000" dirty="0"/>
              <a:t> </a:t>
            </a:r>
            <a:r>
              <a:rPr lang="en-US" sz="2000" dirty="0" err="1"/>
              <a:t>Rachmad</a:t>
            </a:r>
            <a:r>
              <a:rPr lang="en-US" sz="2000" dirty="0"/>
              <a:t> S, </a:t>
            </a:r>
            <a:r>
              <a:rPr lang="en-US" sz="2000" dirty="0" err="1"/>
              <a:t>Vipkas</a:t>
            </a:r>
            <a:r>
              <a:rPr lang="en-US" sz="2000" dirty="0"/>
              <a:t> </a:t>
            </a:r>
            <a:r>
              <a:rPr lang="en-US" sz="2000" dirty="0" smtClean="0"/>
              <a:t>AH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Review perceptron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Perhitungan</a:t>
            </a:r>
            <a:r>
              <a:rPr lang="en-US" dirty="0" smtClean="0"/>
              <a:t> Manual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Code perceptron </a:t>
            </a:r>
            <a:r>
              <a:rPr lang="en-US" dirty="0" err="1" smtClean="0"/>
              <a:t>pada</a:t>
            </a:r>
            <a:r>
              <a:rPr lang="en-US" dirty="0" smtClean="0"/>
              <a:t> data Iris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Perbandingan</a:t>
            </a:r>
            <a:r>
              <a:rPr lang="en-US" dirty="0" smtClean="0"/>
              <a:t> Code perceptron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scikit</a:t>
            </a:r>
            <a:r>
              <a:rPr lang="en-US" dirty="0"/>
              <a:t>-</a:t>
            </a:r>
            <a:r>
              <a:rPr lang="en-US" dirty="0" smtClean="0"/>
              <a:t>learn</a:t>
            </a:r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10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Perceptron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charset="0"/>
              <a:buChar char="•"/>
            </a:pPr>
            <a:r>
              <a:rPr lang="en-US" dirty="0" err="1" smtClean="0"/>
              <a:t>Jaringan</a:t>
            </a:r>
            <a:r>
              <a:rPr lang="en-US" dirty="0" smtClean="0"/>
              <a:t> </a:t>
            </a:r>
            <a:r>
              <a:rPr lang="en-US" dirty="0" err="1" smtClean="0"/>
              <a:t>saraf</a:t>
            </a:r>
            <a:r>
              <a:rPr lang="en-US" dirty="0" smtClean="0"/>
              <a:t> </a:t>
            </a:r>
            <a:r>
              <a:rPr lang="en-US" dirty="0" err="1" smtClean="0"/>
              <a:t>tiruan</a:t>
            </a:r>
            <a:r>
              <a:rPr lang="en-US" dirty="0" smtClean="0"/>
              <a:t> yang paling </a:t>
            </a:r>
            <a:r>
              <a:rPr lang="en-US" dirty="0" err="1" smtClean="0"/>
              <a:t>sederhana</a:t>
            </a:r>
            <a:endParaRPr lang="en-US" dirty="0" smtClean="0"/>
          </a:p>
          <a:p>
            <a:pPr marL="457200" indent="-457200" algn="just">
              <a:buFont typeface="Arial" charset="0"/>
              <a:buChar char="•"/>
            </a:pPr>
            <a:r>
              <a:rPr lang="en-US" dirty="0" smtClean="0"/>
              <a:t>Linear classifier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memprediksi</a:t>
            </a:r>
            <a:r>
              <a:rPr lang="en-US" dirty="0" smtClean="0"/>
              <a:t> data </a:t>
            </a:r>
            <a:r>
              <a:rPr lang="en-US" dirty="0" err="1" smtClean="0"/>
              <a:t>biner</a:t>
            </a:r>
            <a:endParaRPr lang="en-US" dirty="0" smtClean="0"/>
          </a:p>
          <a:p>
            <a:pPr marL="457200" indent="-457200" algn="just">
              <a:buFont typeface="Arial" charset="0"/>
              <a:buChar char="•"/>
            </a:pPr>
            <a:r>
              <a:rPr lang="en-US" dirty="0" err="1" smtClean="0"/>
              <a:t>Arsitektur</a:t>
            </a:r>
            <a:endParaRPr lang="en-US" dirty="0" smtClean="0"/>
          </a:p>
          <a:p>
            <a:pPr algn="just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54" b="100000" l="10701" r="80351">
                        <a14:foregroundMark x1="26360" y1="37473" x2="26360" y2="37473"/>
                        <a14:backgroundMark x1="50726" y1="14597" x2="50726" y2="1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625" r="23614"/>
          <a:stretch/>
        </p:blipFill>
        <p:spPr>
          <a:xfrm>
            <a:off x="3059832" y="3356992"/>
            <a:ext cx="4824536" cy="253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2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/>
              <a:t>Algoritma</a:t>
            </a:r>
            <a:r>
              <a:rPr lang="en-US" dirty="0" smtClean="0"/>
              <a:t> Perceptron</a:t>
            </a:r>
          </a:p>
        </p:txBody>
      </p:sp>
      <p:sp>
        <p:nvSpPr>
          <p:cNvPr id="33798" name="Rectangle 2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sz="1350"/>
          </a:p>
        </p:txBody>
      </p:sp>
      <p:pic>
        <p:nvPicPr>
          <p:cNvPr id="33799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857250"/>
            <a:ext cx="64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sz="1350"/>
          </a:p>
        </p:txBody>
      </p:sp>
      <p:pic>
        <p:nvPicPr>
          <p:cNvPr id="3380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857250"/>
            <a:ext cx="64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2" name="Rectangle 6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sz="1350"/>
          </a:p>
        </p:txBody>
      </p:sp>
      <p:pic>
        <p:nvPicPr>
          <p:cNvPr id="33803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857250"/>
            <a:ext cx="64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4" name="Rectangle 8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sz="1350"/>
          </a:p>
        </p:txBody>
      </p:sp>
      <p:pic>
        <p:nvPicPr>
          <p:cNvPr id="33805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857250"/>
            <a:ext cx="64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6" name="Rectangle 10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sz="1350"/>
          </a:p>
        </p:txBody>
      </p:sp>
      <p:pic>
        <p:nvPicPr>
          <p:cNvPr id="33807" name="Picture 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857250"/>
            <a:ext cx="64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/>
              <p:cNvSpPr txBox="1">
                <a:spLocks/>
              </p:cNvSpPr>
              <p:nvPr/>
            </p:nvSpPr>
            <p:spPr>
              <a:xfrm>
                <a:off x="875158" y="1349374"/>
                <a:ext cx="7886701" cy="51759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600"/>
                  </a:spcAft>
                  <a:buFont typeface="Calibri" panose="020F0502020204030204" pitchFamily="34" charset="0"/>
                  <a:buChar char="﻿"/>
                  <a:tabLst/>
                  <a:defRPr sz="2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04863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152525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5367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1.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Inisialisasi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laju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pembelajaran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(α),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nilai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ambang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(</a:t>
                </a:r>
                <a:r>
                  <a:rPr lang="en-US" sz="2000" dirty="0">
                    <a:latin typeface="Times New Roman" charset="0"/>
                    <a:ea typeface="Times New Roman" charset="0"/>
                    <a:cs typeface="Times New Roman" charset="0"/>
                  </a:rPr>
                  <a:t>𝛉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) /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fungsi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aktivasi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,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bobot</a:t>
                </a:r>
                <a:r>
                  <a:rPr lang="id-ID" dirty="0">
                    <a:latin typeface="Times New Roman" charset="0"/>
                    <a:ea typeface="Times New Roman" charset="0"/>
                    <a:cs typeface="Times New Roman" charset="0"/>
                  </a:rPr>
                  <a:t> (</a:t>
                </a:r>
                <a:r>
                  <a:rPr lang="id-ID" dirty="0" err="1">
                    <a:latin typeface="Times New Roman" charset="0"/>
                    <a:ea typeface="Times New Roman" charset="0"/>
                    <a:cs typeface="Times New Roman" charset="0"/>
                  </a:rPr>
                  <a:t>w</a:t>
                </a:r>
                <a:r>
                  <a:rPr lang="id-ID" dirty="0">
                    <a:latin typeface="Times New Roman" charset="0"/>
                    <a:ea typeface="Times New Roman" charset="0"/>
                    <a:cs typeface="Times New Roman" charset="0"/>
                  </a:rPr>
                  <a:t>)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, 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bias,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menentukan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banyak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perulangan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(t)</a:t>
                </a:r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2.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Menghitung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3.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Menghitung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fungsi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aktivasi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buNone/>
                </a:pPr>
                <a:r>
                  <a:rPr lang="en-US" sz="2800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Contohnya</a:t>
                </a:r>
                <a:r>
                  <a:rPr lang="en-US" sz="28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sz="2800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fungsi</a:t>
                </a:r>
                <a:r>
                  <a:rPr lang="en-US" sz="28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sz="2800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aktifasi</a:t>
                </a:r>
                <a:r>
                  <a:rPr lang="en-US" sz="28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hard limit</a:t>
                </a:r>
                <a:endParaRPr lang="en-US" sz="2800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4.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Jika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f(y)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disebut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(y’)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≠ 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target,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lakukan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update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bobot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dan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bias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36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e</a:t>
                </a:r>
                <a14:m>
                  <m:oMath xmlns:m="http://schemas.openxmlformats.org/officeDocument/2006/math"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 =</m:t>
                    </m:r>
                    <m:r>
                      <a:rPr lang="en-US" sz="3600" b="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𝑡𝑎𝑟𝑔𝑒𝑡</m:t>
                    </m:r>
                    <m:r>
                      <a:rPr lang="en-US" sz="3600" b="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 −</m:t>
                    </m:r>
                    <m:r>
                      <a:rPr lang="en-US" sz="3600" b="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𝑦</m:t>
                    </m:r>
                    <m:r>
                      <a:rPr lang="en-US" sz="3600" b="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′</m:t>
                    </m:r>
                  </m:oMath>
                </a14:m>
                <a:endParaRPr lang="en-US" sz="3600" i="1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𝑊</m:t>
                    </m:r>
                    <m:r>
                      <a:rPr lang="en-US" sz="3600" i="1" baseline="-25000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𝑖</m:t>
                    </m:r>
                    <m:r>
                      <a:rPr lang="en-US" sz="360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 </m:t>
                    </m:r>
                    <m:r>
                      <a:rPr lang="en-US" sz="3600" i="1" dirty="0" err="1">
                        <a:latin typeface="Cambria Math" charset="0"/>
                        <a:ea typeface="Times New Roman" charset="0"/>
                        <a:cs typeface="Times New Roman" charset="0"/>
                      </a:rPr>
                      <m:t>𝑏𝑎𝑟𝑢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 = </m:t>
                    </m:r>
                    <m:r>
                      <a:rPr lang="en-US" sz="3600" i="1" dirty="0" err="1">
                        <a:latin typeface="Cambria Math" charset="0"/>
                        <a:ea typeface="Times New Roman" charset="0"/>
                        <a:cs typeface="Times New Roman" charset="0"/>
                      </a:rPr>
                      <m:t>𝑊</m:t>
                    </m:r>
                    <m:r>
                      <a:rPr lang="en-US" sz="3600" b="0" i="1" baseline="-25000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𝑖</m:t>
                    </m:r>
                    <m:r>
                      <a:rPr lang="en-US" sz="3600" b="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 </m:t>
                    </m:r>
                    <m:r>
                      <a:rPr lang="en-US" sz="3600" i="1" dirty="0" err="1">
                        <a:latin typeface="Cambria Math" charset="0"/>
                        <a:ea typeface="Times New Roman" charset="0"/>
                        <a:cs typeface="Times New Roman" charset="0"/>
                      </a:rPr>
                      <m:t>𝑙𝑎𝑚𝑎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 + 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𝛼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.</m:t>
                    </m:r>
                    <m:r>
                      <a:rPr lang="en-US" sz="3600" i="1" dirty="0" err="1">
                        <a:latin typeface="Cambria Math" charset="0"/>
                        <a:ea typeface="Times New Roman" charset="0"/>
                        <a:cs typeface="Times New Roman" charset="0"/>
                      </a:rPr>
                      <m:t>𝑒</m:t>
                    </m:r>
                    <m:r>
                      <a:rPr lang="en-US" sz="3600" i="1" dirty="0" err="1">
                        <a:latin typeface="Cambria Math" charset="0"/>
                        <a:ea typeface="Times New Roman" charset="0"/>
                        <a:cs typeface="Times New Roman" charset="0"/>
                      </a:rPr>
                      <m:t>.</m:t>
                    </m:r>
                    <m:r>
                      <a:rPr lang="en-US" sz="3600" i="1" dirty="0" err="1">
                        <a:latin typeface="Cambria Math" charset="0"/>
                        <a:ea typeface="Times New Roman" charset="0"/>
                        <a:cs typeface="Times New Roman" charset="0"/>
                      </a:rPr>
                      <m:t>𝑋𝑖</m:t>
                    </m:r>
                  </m:oMath>
                </a14:m>
                <a:endParaRPr lang="en-US" sz="3600" i="1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𝑏</m:t>
                    </m:r>
                    <m:r>
                      <a:rPr lang="en-US" sz="3600" i="1" dirty="0" smtClean="0">
                        <a:latin typeface="Cambria Math" charset="0"/>
                        <a:ea typeface="Times New Roman" charset="0"/>
                        <a:cs typeface="Times New Roman" charset="0"/>
                      </a:rPr>
                      <m:t> </m:t>
                    </m:r>
                    <m:r>
                      <a:rPr lang="en-US" sz="3600" i="1" dirty="0" err="1">
                        <a:latin typeface="Cambria Math" charset="0"/>
                        <a:ea typeface="Times New Roman" charset="0"/>
                        <a:cs typeface="Times New Roman" charset="0"/>
                      </a:rPr>
                      <m:t>𝑏𝑎𝑟𝑢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 = 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𝑏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 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𝑙𝑎𝑚𝑎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 + 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𝛼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.</m:t>
                    </m:r>
                    <m:r>
                      <a:rPr lang="en-US" sz="3600" i="1" dirty="0">
                        <a:latin typeface="Cambria Math" charset="0"/>
                        <a:ea typeface="Times New Roman" charset="0"/>
                        <a:cs typeface="Times New Roman" charset="0"/>
                      </a:rPr>
                      <m:t>𝑒</m:t>
                    </m:r>
                  </m:oMath>
                </a14:m>
                <a:endParaRPr lang="en-US" sz="3600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5.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Ulang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dari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langkah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2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selama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perulangan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kurang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dari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(t)</a:t>
                </a:r>
              </a:p>
            </p:txBody>
          </p:sp>
        </mc:Choice>
        <mc:Fallback xmlns="">
          <p:sp>
            <p:nvSpPr>
              <p:cNvPr id="2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58" y="1349374"/>
                <a:ext cx="7886701" cy="5175970"/>
              </a:xfrm>
              <a:prstGeom prst="rect">
                <a:avLst/>
              </a:prstGeom>
              <a:blipFill rotWithShape="0">
                <a:blip r:embed="rId5"/>
                <a:stretch>
                  <a:fillRect l="-1160" t="-589" b="-1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4756744" y="2924944"/>
            <a:ext cx="3559672" cy="898686"/>
            <a:chOff x="2773" y="1570"/>
            <a:chExt cx="2375" cy="716"/>
          </a:xfrm>
        </p:grpSpPr>
        <p:sp>
          <p:nvSpPr>
            <p:cNvPr id="23" name="AutoShape 11"/>
            <p:cNvSpPr>
              <a:spLocks/>
            </p:cNvSpPr>
            <p:nvPr/>
          </p:nvSpPr>
          <p:spPr bwMode="auto">
            <a:xfrm>
              <a:off x="3606" y="1570"/>
              <a:ext cx="216" cy="681"/>
            </a:xfrm>
            <a:prstGeom prst="leftBrace">
              <a:avLst>
                <a:gd name="adj1" fmla="val 26273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sz="1350">
                <a:latin typeface="Century Schoolbook" panose="02040604050505020304" pitchFamily="18" charset="0"/>
              </a:endParaRPr>
            </a:p>
          </p:txBody>
        </p:sp>
        <p:graphicFrame>
          <p:nvGraphicFramePr>
            <p:cNvPr id="2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513929"/>
                </p:ext>
              </p:extLst>
            </p:nvPr>
          </p:nvGraphicFramePr>
          <p:xfrm>
            <a:off x="2773" y="1742"/>
            <a:ext cx="838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6" name="Equation" r:id="rId6" imgW="469800" imgH="203040" progId="Equation.3">
                    <p:embed/>
                  </p:oleObj>
                </mc:Choice>
                <mc:Fallback>
                  <p:oleObj name="Equation" r:id="rId6" imgW="4698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3" y="1742"/>
                          <a:ext cx="838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0223205"/>
                </p:ext>
              </p:extLst>
            </p:nvPr>
          </p:nvGraphicFramePr>
          <p:xfrm>
            <a:off x="4059" y="1570"/>
            <a:ext cx="1089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7" name="Equation" r:id="rId8" imgW="1002865" imgH="660113" progId="Equation.3">
                    <p:embed/>
                  </p:oleObj>
                </mc:Choice>
                <mc:Fallback>
                  <p:oleObj name="Equation" r:id="rId8" imgW="1002865" imgH="6601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1570"/>
                          <a:ext cx="1089" cy="7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5211"/>
              </p:ext>
            </p:extLst>
          </p:nvPr>
        </p:nvGraphicFramePr>
        <p:xfrm>
          <a:off x="2339752" y="1958856"/>
          <a:ext cx="1673677" cy="694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" name="Equation" r:id="rId10" imgW="889000" imgH="368300" progId="Equation.3">
                  <p:embed/>
                </p:oleObj>
              </mc:Choice>
              <mc:Fallback>
                <p:oleObj name="Equation" r:id="rId10" imgW="8890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958856"/>
                        <a:ext cx="1673677" cy="69491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390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2564904"/>
            <a:ext cx="7886700" cy="1325563"/>
          </a:xfrm>
        </p:spPr>
        <p:txBody>
          <a:bodyPr/>
          <a:lstStyle/>
          <a:p>
            <a:pPr algn="ctr"/>
            <a:r>
              <a:rPr lang="en-US" dirty="0" err="1" smtClean="0"/>
              <a:t>Perhitungan</a:t>
            </a:r>
            <a:r>
              <a:rPr lang="en-US" dirty="0" smtClean="0"/>
              <a:t> Manual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10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2564904"/>
            <a:ext cx="7886700" cy="1325563"/>
          </a:xfrm>
        </p:spPr>
        <p:txBody>
          <a:bodyPr/>
          <a:lstStyle/>
          <a:p>
            <a:pPr algn="ctr"/>
            <a:r>
              <a:rPr lang="en-US" dirty="0" smtClean="0"/>
              <a:t>Code Perceptron </a:t>
            </a:r>
            <a:r>
              <a:rPr lang="en-US" dirty="0" err="1" smtClean="0"/>
              <a:t>Pada</a:t>
            </a:r>
            <a:r>
              <a:rPr lang="en-US" dirty="0" smtClean="0"/>
              <a:t> Data Iris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0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2564904"/>
            <a:ext cx="7886700" cy="1325563"/>
          </a:xfrm>
        </p:spPr>
        <p:txBody>
          <a:bodyPr/>
          <a:lstStyle/>
          <a:p>
            <a:pPr algn="ctr"/>
            <a:r>
              <a:rPr lang="en-US" dirty="0" err="1" smtClean="0"/>
              <a:t>Perbandingan</a:t>
            </a:r>
            <a:r>
              <a:rPr lang="en-US" dirty="0" smtClean="0"/>
              <a:t> Code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scikit</a:t>
            </a:r>
            <a:r>
              <a:rPr lang="en-US" dirty="0" smtClean="0"/>
              <a:t>-learn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54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376E7C-16B1-4778-B0F8-514FF4B7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do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A10FCB-BDF2-42C9-ACF0-8CD021F87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91578"/>
          </a:xfrm>
        </p:spPr>
        <p:txBody>
          <a:bodyPr>
            <a:normAutofit/>
          </a:bodyPr>
          <a:lstStyle/>
          <a:p>
            <a:pPr lvl="2"/>
            <a:r>
              <a:rPr lang="en-US" sz="2800" dirty="0" err="1" smtClean="0"/>
              <a:t>Mempelajari</a:t>
            </a:r>
            <a:r>
              <a:rPr lang="en-US" sz="2800" dirty="0" smtClean="0"/>
              <a:t> Multilayer Perceptron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904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2564904"/>
            <a:ext cx="7886700" cy="1325563"/>
          </a:xfrm>
        </p:spPr>
        <p:txBody>
          <a:bodyPr/>
          <a:lstStyle/>
          <a:p>
            <a:pPr algn="ctr"/>
            <a:r>
              <a:rPr lang="en-US" dirty="0" err="1" smtClean="0"/>
              <a:t>Terima</a:t>
            </a:r>
            <a:r>
              <a:rPr lang="en-US" dirty="0" smtClean="0"/>
              <a:t> </a:t>
            </a:r>
            <a:r>
              <a:rPr lang="en-US" dirty="0" err="1" smtClean="0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6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 ICECREAM Ridwan - Melc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7836</TotalTime>
  <Words>172</Words>
  <Application>Microsoft Macintosh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Calibri Light</vt:lpstr>
      <vt:lpstr>Cambria Math</vt:lpstr>
      <vt:lpstr>Century Schoolbook</vt:lpstr>
      <vt:lpstr>Times New Roman</vt:lpstr>
      <vt:lpstr>Arial</vt:lpstr>
      <vt:lpstr>Slide ICECREAM Ridwan - Melcin</vt:lpstr>
      <vt:lpstr>Equation</vt:lpstr>
      <vt:lpstr>Perceptron Program Development </vt:lpstr>
      <vt:lpstr>Outline</vt:lpstr>
      <vt:lpstr>Review Perceptron</vt:lpstr>
      <vt:lpstr>Algoritma Perceptron</vt:lpstr>
      <vt:lpstr>Perhitungan Manual</vt:lpstr>
      <vt:lpstr>Code Perceptron Pada Data Iris</vt:lpstr>
      <vt:lpstr>Perbandingan Code dengan scikit-learn </vt:lpstr>
      <vt:lpstr>To do list</vt:lpstr>
      <vt:lpstr>Terima Kasih</vt:lpstr>
    </vt:vector>
  </TitlesOfParts>
  <Company>imam's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– Pert 1</dc:title>
  <dc:creator>lenovo</dc:creator>
  <cp:lastModifiedBy>Arie Rachmad Syulistyo</cp:lastModifiedBy>
  <cp:revision>646</cp:revision>
  <dcterms:created xsi:type="dcterms:W3CDTF">2010-03-15T04:49:00Z</dcterms:created>
  <dcterms:modified xsi:type="dcterms:W3CDTF">2019-02-17T02:05:16Z</dcterms:modified>
</cp:coreProperties>
</file>