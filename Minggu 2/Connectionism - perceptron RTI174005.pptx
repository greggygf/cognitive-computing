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6"/>
  </p:notesMasterIdLst>
  <p:sldIdLst>
    <p:sldId id="256" r:id="rId2"/>
    <p:sldId id="257" r:id="rId3"/>
    <p:sldId id="258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315" r:id="rId14"/>
    <p:sldId id="316" r:id="rId15"/>
    <p:sldId id="294" r:id="rId16"/>
    <p:sldId id="295" r:id="rId17"/>
    <p:sldId id="296" r:id="rId18"/>
    <p:sldId id="297" r:id="rId19"/>
    <p:sldId id="298" r:id="rId20"/>
    <p:sldId id="317" r:id="rId21"/>
    <p:sldId id="318" r:id="rId22"/>
    <p:sldId id="319" r:id="rId23"/>
    <p:sldId id="32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1" r:id="rId32"/>
    <p:sldId id="313" r:id="rId33"/>
    <p:sldId id="314" r:id="rId34"/>
    <p:sldId id="28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1E454CC-D2F3-44C8-A84B-DE9A2D664CD4}">
          <p14:sldIdLst>
            <p14:sldId id="256"/>
            <p14:sldId id="257"/>
            <p14:sldId id="258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15"/>
            <p14:sldId id="316"/>
            <p14:sldId id="294"/>
            <p14:sldId id="295"/>
            <p14:sldId id="296"/>
            <p14:sldId id="297"/>
            <p14:sldId id="298"/>
            <p14:sldId id="317"/>
            <p14:sldId id="318"/>
            <p14:sldId id="319"/>
            <p14:sldId id="321"/>
            <p14:sldId id="302"/>
            <p14:sldId id="303"/>
            <p14:sldId id="304"/>
            <p14:sldId id="305"/>
            <p14:sldId id="306"/>
            <p14:sldId id="307"/>
            <p14:sldId id="308"/>
            <p14:sldId id="301"/>
            <p14:sldId id="313"/>
            <p14:sldId id="314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79" autoAdjust="0"/>
    <p:restoredTop sz="95701"/>
  </p:normalViewPr>
  <p:slideViewPr>
    <p:cSldViewPr snapToGrid="0">
      <p:cViewPr>
        <p:scale>
          <a:sx n="73" d="100"/>
          <a:sy n="73" d="100"/>
        </p:scale>
        <p:origin x="-28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4469-CD3D-4711-BE97-FC1FFF656024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F3D2B-1B2D-4787-B9D5-CD85269F8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29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0475" cy="3479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0899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710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0475" cy="3479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1923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05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0475" cy="3479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2947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166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0475" cy="3479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3971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9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0475" cy="3479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4995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531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2063" cy="34813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6019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269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67300" cy="34766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7043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847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67300" cy="34766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8067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98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2063" cy="34813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4451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457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2063" cy="34813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5475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10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1"/>
          <p:cNvSpPr txBox="1">
            <a:spLocks noChangeArrowheads="1"/>
          </p:cNvSpPr>
          <p:nvPr/>
        </p:nvSpPr>
        <p:spPr bwMode="auto">
          <a:xfrm>
            <a:off x="1349375" y="965200"/>
            <a:ext cx="5072063" cy="34813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6499" name="Rectangle 2"/>
          <p:cNvSpPr>
            <a:spLocks noChangeArrowheads="1"/>
          </p:cNvSpPr>
          <p:nvPr>
            <p:ph type="body"/>
          </p:nvPr>
        </p:nvSpPr>
        <p:spPr>
          <a:xfrm>
            <a:off x="1201738" y="4784725"/>
            <a:ext cx="5367337" cy="3859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438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6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0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7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3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1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0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11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65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4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1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719DD-0D22-4875-9F48-470906E664DD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FA2F2-F4C3-4B6E-A90D-C9E593AD7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2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7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9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53" y="248194"/>
            <a:ext cx="11717383" cy="3261769"/>
          </a:xfrm>
        </p:spPr>
        <p:txBody>
          <a:bodyPr>
            <a:normAutofit/>
          </a:bodyPr>
          <a:lstStyle/>
          <a:p>
            <a:r>
              <a:rPr lang="en-US" dirty="0" smtClean="0"/>
              <a:t>Cognitive Computation RTI174005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/>
              <a:t>Connectionism – </a:t>
            </a:r>
            <a:r>
              <a:rPr lang="en-US" sz="4000" b="1" dirty="0" smtClean="0"/>
              <a:t>Perceptron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44" y="4673192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Semester </a:t>
            </a:r>
            <a:r>
              <a:rPr lang="en-US" dirty="0" err="1" smtClean="0"/>
              <a:t>Genap</a:t>
            </a:r>
            <a:r>
              <a:rPr lang="en-US" dirty="0" smtClean="0"/>
              <a:t> 2018/2019,</a:t>
            </a:r>
          </a:p>
          <a:p>
            <a:r>
              <a:rPr lang="en-US" dirty="0" err="1" smtClean="0"/>
              <a:t>Minggu</a:t>
            </a:r>
            <a:r>
              <a:rPr lang="en-US" dirty="0" smtClean="0"/>
              <a:t> </a:t>
            </a:r>
            <a:r>
              <a:rPr lang="id-ID" dirty="0" smtClean="0"/>
              <a:t>2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Rosa </a:t>
            </a:r>
            <a:r>
              <a:rPr lang="en-US" dirty="0" err="1" smtClean="0"/>
              <a:t>Andrie</a:t>
            </a:r>
            <a:r>
              <a:rPr lang="en-US" dirty="0" smtClean="0"/>
              <a:t> A., </a:t>
            </a:r>
            <a:r>
              <a:rPr lang="en-US" dirty="0" err="1" smtClean="0"/>
              <a:t>Arie</a:t>
            </a:r>
            <a:r>
              <a:rPr lang="en-US" dirty="0" smtClean="0"/>
              <a:t> </a:t>
            </a:r>
            <a:r>
              <a:rPr lang="en-US" dirty="0" err="1" smtClean="0"/>
              <a:t>Rachmad</a:t>
            </a:r>
            <a:r>
              <a:rPr lang="en-US" dirty="0" smtClean="0"/>
              <a:t> S, Vipkas </a:t>
            </a:r>
            <a:r>
              <a:rPr lang="en-US" dirty="0" smtClean="0"/>
              <a:t>A</a:t>
            </a:r>
            <a:r>
              <a:rPr lang="id-ID" dirty="0" smtClean="0"/>
              <a:t>l Hadid 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4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Kontrak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Pengenalan</a:t>
            </a:r>
            <a:r>
              <a:rPr lang="en-US" dirty="0" smtClean="0"/>
              <a:t> Cognitive Computing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smtClean="0"/>
              <a:t>Connectionism – Perceptron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Connectionism – Perceptron Program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Connectionism – Backpropagation Program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Q1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Basic Bayesian Inference – Probabilistic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Simple Bayesian Learning Program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29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Kontrak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14314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Supervised, Unsupervised, </a:t>
            </a:r>
            <a:r>
              <a:rPr lang="en-US" dirty="0" err="1" smtClean="0"/>
              <a:t>dan</a:t>
            </a:r>
            <a:r>
              <a:rPr lang="en-US" dirty="0" smtClean="0"/>
              <a:t> Semi-Supervised Learning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Supervised KNN Program Development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Unsupervised </a:t>
            </a:r>
            <a:r>
              <a:rPr lang="en-US" dirty="0" err="1" smtClean="0"/>
              <a:t>Kmeans</a:t>
            </a:r>
            <a:r>
              <a:rPr lang="en-US" dirty="0" smtClean="0"/>
              <a:t> Program Development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Q2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Semantic Network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Semantic Network – Hierarchical Network Program Development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Semantic Network – Small Word Graph Program Development, </a:t>
            </a:r>
            <a:r>
              <a:rPr lang="en-US" dirty="0" err="1" smtClean="0"/>
              <a:t>Tugas</a:t>
            </a:r>
            <a:endParaRPr lang="en-US" dirty="0" smtClean="0"/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Review </a:t>
            </a:r>
            <a:r>
              <a:rPr lang="en-US" dirty="0" err="1" smtClean="0"/>
              <a:t>Materi</a:t>
            </a:r>
            <a:endParaRPr lang="en-US" dirty="0" smtClean="0"/>
          </a:p>
          <a:p>
            <a:pPr marL="514350" indent="-514350">
              <a:buFont typeface="+mj-lt"/>
              <a:buAutoNum type="arabicPeriod" startAt="9"/>
            </a:pPr>
            <a:r>
              <a:rPr lang="en-US" dirty="0" smtClean="0"/>
              <a:t>UAS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2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19EEC-6E9C-41BE-A4DF-22FC47C47453}" type="slidenum">
              <a:rPr lang="en-US"/>
              <a:pPr/>
              <a:t>4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103" y="630238"/>
            <a:ext cx="8864873" cy="741362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Connectionism</a:t>
            </a:r>
            <a:br>
              <a:rPr lang="id-ID" dirty="0" smtClean="0"/>
            </a:br>
            <a:r>
              <a:rPr lang="id-ID" b="1" i="1" dirty="0" smtClean="0"/>
              <a:t>Jaringan Saraf Tiruan</a:t>
            </a:r>
            <a:endParaRPr lang="en-US" b="1" i="1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103" y="2259874"/>
            <a:ext cx="9191897" cy="4598126"/>
          </a:xfrm>
        </p:spPr>
        <p:txBody>
          <a:bodyPr/>
          <a:lstStyle/>
          <a:p>
            <a:r>
              <a:rPr lang="id-ID" dirty="0" smtClean="0"/>
              <a:t>Istilah Lain</a:t>
            </a:r>
            <a:endParaRPr lang="en-US" dirty="0"/>
          </a:p>
          <a:p>
            <a:pPr lvl="2"/>
            <a:r>
              <a:rPr lang="en-US" sz="2800" dirty="0" smtClean="0"/>
              <a:t>Artificial </a:t>
            </a:r>
            <a:r>
              <a:rPr lang="en-US" sz="2800" dirty="0"/>
              <a:t>Neural Networks</a:t>
            </a:r>
          </a:p>
          <a:p>
            <a:pPr lvl="2"/>
            <a:r>
              <a:rPr lang="en-US" sz="2800" dirty="0"/>
              <a:t>parallel distributed processing</a:t>
            </a:r>
          </a:p>
          <a:p>
            <a:pPr lvl="2"/>
            <a:r>
              <a:rPr lang="en-US" sz="2800" dirty="0"/>
              <a:t>neural computation</a:t>
            </a:r>
          </a:p>
          <a:p>
            <a:pPr lvl="2"/>
            <a:r>
              <a:rPr lang="en-US" sz="2800" dirty="0"/>
              <a:t>adaptive networks..</a:t>
            </a:r>
          </a:p>
          <a:p>
            <a:pPr lvl="1"/>
            <a:endParaRPr lang="en-US" b="1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064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3347" cy="1046677"/>
          </a:xfrm>
        </p:spPr>
        <p:txBody>
          <a:bodyPr/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Jaringan Syaraf Biologis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2529" y="1938788"/>
            <a:ext cx="8588461" cy="4253909"/>
          </a:xfrm>
        </p:spPr>
        <p:txBody>
          <a:bodyPr/>
          <a:lstStyle/>
          <a:p>
            <a:pPr marL="719062" indent="-719062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mtClean="0"/>
              <a:t>Otak manusia berisi jutaan sel syaraf (neuron) yang bertugas memproses informasi </a:t>
            </a:r>
          </a:p>
          <a:p>
            <a:pPr marL="719062" indent="-719062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mtClean="0"/>
              <a:t>Neuron saling berinteraksi satu sama lain mendukung kemampuan kerja otak manusia</a:t>
            </a:r>
          </a:p>
        </p:txBody>
      </p:sp>
    </p:spTree>
    <p:extLst>
      <p:ext uri="{BB962C8B-B14F-4D97-AF65-F5344CB8AC3E}">
        <p14:creationId xmlns:p14="http://schemas.microsoft.com/office/powerpoint/2010/main" val="3237812687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3347" cy="1046677"/>
          </a:xfrm>
        </p:spPr>
        <p:txBody>
          <a:bodyPr/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Sel Syaraf (Neuron) 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2529" y="1938789"/>
            <a:ext cx="8588461" cy="4344632"/>
          </a:xfrm>
        </p:spPr>
        <p:txBody>
          <a:bodyPr/>
          <a:lstStyle/>
          <a:p>
            <a:pPr eaLnBrk="1">
              <a:buFont typeface="Times New Roman" pitchFamily="18" charset="0"/>
              <a:buNone/>
            </a:pPr>
            <a:endParaRPr lang="en-US" smtClean="0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46" y="1559096"/>
            <a:ext cx="8534699" cy="510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6621183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3347" cy="1046677"/>
          </a:xfrm>
        </p:spPr>
        <p:txBody>
          <a:bodyPr/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Sel Syaraf (Neuron)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36357" y="1481813"/>
            <a:ext cx="8951353" cy="4768007"/>
          </a:xfrm>
        </p:spPr>
        <p:txBody>
          <a:bodyPr/>
          <a:lstStyle/>
          <a:p>
            <a:pPr marL="719062" indent="-719062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mtClean="0"/>
              <a:t>Komponen utama neuron dapat dikelompokkan menjadi 3 bagian : 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mtClean="0"/>
              <a:t>Dendrit = bertugas menerima informasi = jalur input bagi soma 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mtClean="0"/>
              <a:t>Badan sel (soma) = tempat pengolahan informasi, di badan sel terdapat inti sel yang bertugas mengolah informasi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mtClean="0"/>
              <a:t>Akson = bertugas mengirimkan impuls-impuls sinyal ke sel syaraf lain = jalur output bagi soma 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mtClean="0"/>
              <a:t>Antar dendrit dipertemukan dengan sinapsis</a:t>
            </a:r>
          </a:p>
        </p:txBody>
      </p:sp>
    </p:spTree>
    <p:extLst>
      <p:ext uri="{BB962C8B-B14F-4D97-AF65-F5344CB8AC3E}">
        <p14:creationId xmlns:p14="http://schemas.microsoft.com/office/powerpoint/2010/main" val="1636809097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149526"/>
            <a:ext cx="8783347" cy="1046676"/>
          </a:xfrm>
        </p:spPr>
        <p:txBody>
          <a:bodyPr/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Jaringan Syaraf Tiruan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94429" y="910593"/>
            <a:ext cx="9435210" cy="5487072"/>
          </a:xfrm>
        </p:spPr>
        <p:txBody>
          <a:bodyPr/>
          <a:lstStyle/>
          <a:p>
            <a:pPr marL="719062" indent="-719062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z="2752"/>
              <a:t>Meniru cara kerja jaringan syaraf biologis</a:t>
            </a:r>
          </a:p>
          <a:p>
            <a:pPr marL="719062" indent="-719062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z="2752"/>
              <a:t>Generalisasi model matematis dari pemahaman manusia: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z="2752"/>
              <a:t>Pemrosesan informasi terjadi pada neuron 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z="2752"/>
              <a:t>Sinyal mengalir diantara sel saraf/neuron melalui suatu sambungan penghubung 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z="2752"/>
              <a:t>Setiap sambungan penghubung memiliki bobot yang bersesuaian. 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z="2752"/>
              <a:t>Bobot ini akan digunakan untuk menggandakan / mengalikan sinyal yang dikirim melaluinya. </a:t>
            </a:r>
          </a:p>
          <a:p>
            <a:pPr marL="1565808" lvl="1" indent="-598098">
              <a:tabLst>
                <a:tab pos="719062" algn="l"/>
                <a:tab pos="838346" algn="l"/>
                <a:tab pos="1322201" algn="l"/>
                <a:tab pos="1806056" algn="l"/>
                <a:tab pos="2289910" algn="l"/>
                <a:tab pos="2773765" algn="l"/>
                <a:tab pos="3257620" algn="l"/>
                <a:tab pos="3741475" algn="l"/>
                <a:tab pos="4225329" algn="l"/>
                <a:tab pos="4709184" algn="l"/>
                <a:tab pos="5193039" algn="l"/>
                <a:tab pos="5676894" algn="l"/>
                <a:tab pos="6160748" algn="l"/>
                <a:tab pos="6644603" algn="l"/>
                <a:tab pos="7128458" algn="l"/>
                <a:tab pos="7612313" algn="l"/>
                <a:tab pos="8096168" algn="l"/>
                <a:tab pos="8580022" algn="l"/>
                <a:tab pos="9063877" algn="l"/>
                <a:tab pos="9547732" algn="l"/>
                <a:tab pos="10031587" algn="l"/>
              </a:tabLst>
            </a:pPr>
            <a:r>
              <a:rPr lang="en-US" sz="2752"/>
              <a:t>Setiap sel syaraf akan menerapkan fungsi aktivasi terhadap sinyal hasil penjumlahan berbobot yang masuk kepadanya untuk menentukan sinyal keluarannya. </a:t>
            </a:r>
          </a:p>
        </p:txBody>
      </p:sp>
    </p:spTree>
    <p:extLst>
      <p:ext uri="{BB962C8B-B14F-4D97-AF65-F5344CB8AC3E}">
        <p14:creationId xmlns:p14="http://schemas.microsoft.com/office/powerpoint/2010/main" val="2545839874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3347" cy="1046677"/>
          </a:xfrm>
        </p:spPr>
        <p:txBody>
          <a:bodyPr/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Analogi JST dengan JSB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381004"/>
              </p:ext>
            </p:extLst>
          </p:nvPr>
        </p:nvGraphicFramePr>
        <p:xfrm>
          <a:off x="1317623" y="2220487"/>
          <a:ext cx="8740776" cy="310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388"/>
                <a:gridCol w="4370388"/>
              </a:tblGrid>
              <a:tr h="621750">
                <a:tc>
                  <a:txBody>
                    <a:bodyPr/>
                    <a:lstStyle/>
                    <a:p>
                      <a:r>
                        <a:rPr lang="id-ID" dirty="0" smtClean="0"/>
                        <a:t>JS</a:t>
                      </a:r>
                      <a:r>
                        <a:rPr lang="id-ID" baseline="0" dirty="0" smtClean="0"/>
                        <a:t> Tiruan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JS Biologis</a:t>
                      </a:r>
                      <a:endParaRPr lang="en-US" dirty="0"/>
                    </a:p>
                  </a:txBody>
                  <a:tcPr/>
                </a:tc>
              </a:tr>
              <a:tr h="621750">
                <a:tc>
                  <a:txBody>
                    <a:bodyPr/>
                    <a:lstStyle/>
                    <a:p>
                      <a:r>
                        <a:rPr lang="id-ID" dirty="0" smtClean="0"/>
                        <a:t>Node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Bdan Sel (soma)</a:t>
                      </a:r>
                      <a:endParaRPr lang="en-US" dirty="0"/>
                    </a:p>
                  </a:txBody>
                  <a:tcPr/>
                </a:tc>
              </a:tr>
              <a:tr h="621750">
                <a:tc>
                  <a:txBody>
                    <a:bodyPr/>
                    <a:lstStyle/>
                    <a:p>
                      <a:r>
                        <a:rPr lang="id-ID" dirty="0" smtClean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Dendrit</a:t>
                      </a:r>
                      <a:endParaRPr lang="en-US" dirty="0"/>
                    </a:p>
                  </a:txBody>
                  <a:tcPr/>
                </a:tc>
              </a:tr>
              <a:tr h="621750">
                <a:tc>
                  <a:txBody>
                    <a:bodyPr/>
                    <a:lstStyle/>
                    <a:p>
                      <a:r>
                        <a:rPr lang="id-ID" dirty="0" smtClean="0"/>
                        <a:t>Output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Akson</a:t>
                      </a:r>
                      <a:endParaRPr lang="en-US" dirty="0"/>
                    </a:p>
                  </a:txBody>
                  <a:tcPr/>
                </a:tc>
              </a:tr>
              <a:tr h="621750">
                <a:tc>
                  <a:txBody>
                    <a:bodyPr/>
                    <a:lstStyle/>
                    <a:p>
                      <a:r>
                        <a:rPr lang="id-ID" dirty="0" smtClean="0"/>
                        <a:t>Bobot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Sinapsis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596933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5028" cy="1050037"/>
          </a:xfrm>
        </p:spPr>
        <p:txBody>
          <a:bodyPr vert="horz" lIns="91440" tIns="37337" rIns="91440" bIns="45720" rtlCol="0" anchor="ctr">
            <a:normAutofit/>
          </a:bodyPr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Model Struktur Neuron JST</a:t>
            </a:r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865" y="1501973"/>
            <a:ext cx="7499782" cy="474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226967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Model Sel Syaraf (Neuron)</a:t>
            </a:r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091" y="1654859"/>
            <a:ext cx="8306211" cy="4524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2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dirty="0" smtClean="0"/>
              <a:t>Model </a:t>
            </a:r>
            <a:r>
              <a:rPr lang="en-US" dirty="0" err="1" smtClean="0"/>
              <a:t>Sel</a:t>
            </a:r>
            <a:r>
              <a:rPr lang="en-US" dirty="0" smtClean="0"/>
              <a:t> </a:t>
            </a:r>
            <a:r>
              <a:rPr lang="en-US" dirty="0" err="1" smtClean="0"/>
              <a:t>Syaraf</a:t>
            </a:r>
            <a:r>
              <a:rPr lang="en-US" dirty="0" smtClean="0"/>
              <a:t> (Neuron)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409112" y="2362164"/>
          <a:ext cx="3600365" cy="3593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825500" imgH="927100" progId="Equation.3">
                  <p:embed/>
                </p:oleObj>
              </mc:Choice>
              <mc:Fallback>
                <p:oleObj name="Equation" r:id="rId3" imgW="825500" imgH="9271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112" y="2362164"/>
                        <a:ext cx="3600365" cy="3593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1740449" y="1950550"/>
            <a:ext cx="9258803" cy="4526078"/>
          </a:xfrm>
        </p:spPr>
        <p:txBody>
          <a:bodyPr/>
          <a:lstStyle/>
          <a:p>
            <a:pPr eaLnBrk="1">
              <a:buFont typeface="Times New Roman" pitchFamily="18" charset="0"/>
              <a:buNone/>
            </a:pPr>
            <a:r>
              <a:rPr lang="en-US" smtClean="0"/>
              <a:t>Secara matematis:</a:t>
            </a:r>
          </a:p>
          <a:p>
            <a:pPr eaLnBrk="1">
              <a:buFont typeface="Times New Roman" pitchFamily="18" charset="0"/>
              <a:buNone/>
            </a:pPr>
            <a:endParaRPr lang="en-US" smtClean="0"/>
          </a:p>
          <a:p>
            <a:pPr eaLnBrk="1">
              <a:buFont typeface="Times New Roman" pitchFamily="18" charset="0"/>
              <a:buNone/>
            </a:pPr>
            <a:endParaRPr lang="en-US" smtClean="0"/>
          </a:p>
          <a:p>
            <a:pPr eaLnBrk="1">
              <a:buFont typeface="Times New Roman" pitchFamily="18" charset="0"/>
              <a:buNone/>
            </a:pPr>
            <a:endParaRPr lang="en-US" smtClean="0"/>
          </a:p>
          <a:p>
            <a:pPr eaLnBrk="1">
              <a:buFontTx/>
              <a:buNone/>
            </a:pPr>
            <a:r>
              <a:rPr lang="en-US" smtClean="0"/>
              <a:t>	dan</a:t>
            </a:r>
          </a:p>
        </p:txBody>
      </p:sp>
    </p:spTree>
    <p:extLst>
      <p:ext uri="{BB962C8B-B14F-4D97-AF65-F5344CB8AC3E}">
        <p14:creationId xmlns:p14="http://schemas.microsoft.com/office/powerpoint/2010/main" val="4021505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79987" cy="1044997"/>
          </a:xfrm>
        </p:spPr>
        <p:txBody>
          <a:bodyPr/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SUMMATION FUNCTION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2530" y="1938789"/>
            <a:ext cx="8585100" cy="4250549"/>
          </a:xfrm>
        </p:spPr>
        <p:txBody>
          <a:bodyPr/>
          <a:lstStyle/>
          <a:p>
            <a:pPr marL="722422" indent="-720743">
              <a:tabLst>
                <a:tab pos="722422" algn="l"/>
                <a:tab pos="841706" algn="l"/>
                <a:tab pos="1325561" algn="l"/>
                <a:tab pos="1809416" algn="l"/>
                <a:tab pos="2293270" algn="l"/>
                <a:tab pos="2777125" algn="l"/>
                <a:tab pos="3260980" algn="l"/>
                <a:tab pos="3744835" algn="l"/>
                <a:tab pos="4228690" algn="l"/>
                <a:tab pos="4712544" algn="l"/>
                <a:tab pos="5196399" algn="l"/>
                <a:tab pos="5680254" algn="l"/>
                <a:tab pos="6164109" algn="l"/>
                <a:tab pos="6647963" algn="l"/>
                <a:tab pos="7131818" algn="l"/>
                <a:tab pos="7615673" algn="l"/>
                <a:tab pos="8099528" algn="l"/>
                <a:tab pos="8583382" algn="l"/>
                <a:tab pos="9067237" algn="l"/>
                <a:tab pos="9551092" algn="l"/>
                <a:tab pos="10034947" algn="l"/>
              </a:tabLst>
            </a:pPr>
            <a:r>
              <a:rPr lang="en-US" smtClean="0"/>
              <a:t>Fungsi yang digunakan untuk mencari rata-rata bobot dari semua elemen input. </a:t>
            </a:r>
          </a:p>
          <a:p>
            <a:pPr marL="722422" indent="-720743">
              <a:tabLst>
                <a:tab pos="722422" algn="l"/>
                <a:tab pos="841706" algn="l"/>
                <a:tab pos="1325561" algn="l"/>
                <a:tab pos="1809416" algn="l"/>
                <a:tab pos="2293270" algn="l"/>
                <a:tab pos="2777125" algn="l"/>
                <a:tab pos="3260980" algn="l"/>
                <a:tab pos="3744835" algn="l"/>
                <a:tab pos="4228690" algn="l"/>
                <a:tab pos="4712544" algn="l"/>
                <a:tab pos="5196399" algn="l"/>
                <a:tab pos="5680254" algn="l"/>
                <a:tab pos="6164109" algn="l"/>
                <a:tab pos="6647963" algn="l"/>
                <a:tab pos="7131818" algn="l"/>
                <a:tab pos="7615673" algn="l"/>
                <a:tab pos="8099528" algn="l"/>
                <a:tab pos="8583382" algn="l"/>
                <a:tab pos="9067237" algn="l"/>
                <a:tab pos="9551092" algn="l"/>
                <a:tab pos="10034947" algn="l"/>
              </a:tabLst>
            </a:pPr>
            <a:r>
              <a:rPr lang="en-US" smtClean="0"/>
              <a:t>Bentuk sederhananya adalah dengan mengalikan setiap nilai input (Xj) dengan bobotnya (Wij) dan menjumlahkannya </a:t>
            </a:r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162" y="4638643"/>
            <a:ext cx="3642367" cy="153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5713179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79987" cy="1044997"/>
          </a:xfrm>
        </p:spPr>
        <p:txBody>
          <a:bodyPr/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SUMMATION FUNCTION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2530" y="1938789"/>
            <a:ext cx="8585100" cy="4250549"/>
          </a:xfrm>
        </p:spPr>
        <p:txBody>
          <a:bodyPr/>
          <a:lstStyle/>
          <a:p>
            <a:pPr marL="722422" indent="-720743">
              <a:tabLst>
                <a:tab pos="722422" algn="l"/>
                <a:tab pos="841706" algn="l"/>
                <a:tab pos="1325561" algn="l"/>
                <a:tab pos="1809416" algn="l"/>
                <a:tab pos="2293270" algn="l"/>
                <a:tab pos="2777125" algn="l"/>
                <a:tab pos="3260980" algn="l"/>
                <a:tab pos="3744835" algn="l"/>
                <a:tab pos="4228690" algn="l"/>
                <a:tab pos="4712544" algn="l"/>
                <a:tab pos="5196399" algn="l"/>
                <a:tab pos="5680254" algn="l"/>
                <a:tab pos="6164109" algn="l"/>
                <a:tab pos="6647963" algn="l"/>
                <a:tab pos="7131818" algn="l"/>
                <a:tab pos="7615673" algn="l"/>
                <a:tab pos="8099528" algn="l"/>
                <a:tab pos="8583382" algn="l"/>
                <a:tab pos="9067237" algn="l"/>
                <a:tab pos="9551092" algn="l"/>
                <a:tab pos="10034947" algn="l"/>
              </a:tabLst>
            </a:pPr>
            <a:r>
              <a:rPr lang="en-US" smtClean="0"/>
              <a:t>Diibaratkan dengan sebuah neuron yang memonitor sinyal yang datang dari neuron-neuron lain. </a:t>
            </a:r>
          </a:p>
          <a:p>
            <a:pPr marL="722422" indent="-720743">
              <a:tabLst>
                <a:tab pos="722422" algn="l"/>
                <a:tab pos="841706" algn="l"/>
                <a:tab pos="1325561" algn="l"/>
                <a:tab pos="1809416" algn="l"/>
                <a:tab pos="2293270" algn="l"/>
                <a:tab pos="2777125" algn="l"/>
                <a:tab pos="3260980" algn="l"/>
                <a:tab pos="3744835" algn="l"/>
                <a:tab pos="4228690" algn="l"/>
                <a:tab pos="4712544" algn="l"/>
                <a:tab pos="5196399" algn="l"/>
                <a:tab pos="5680254" algn="l"/>
                <a:tab pos="6164109" algn="l"/>
                <a:tab pos="6647963" algn="l"/>
                <a:tab pos="7131818" algn="l"/>
                <a:tab pos="7615673" algn="l"/>
                <a:tab pos="8099528" algn="l"/>
                <a:tab pos="8583382" algn="l"/>
                <a:tab pos="9067237" algn="l"/>
                <a:tab pos="9551092" algn="l"/>
                <a:tab pos="10034947" algn="l"/>
              </a:tabLst>
            </a:pPr>
            <a:r>
              <a:rPr lang="en-US" smtClean="0"/>
              <a:t>Neuron ini menghitung penjumlahan berbobotnya dan kemudian menentukan sinyal untuk dikirim ke neuron-neuron lain. </a:t>
            </a:r>
          </a:p>
        </p:txBody>
      </p:sp>
    </p:spTree>
    <p:extLst>
      <p:ext uri="{BB962C8B-B14F-4D97-AF65-F5344CB8AC3E}">
        <p14:creationId xmlns:p14="http://schemas.microsoft.com/office/powerpoint/2010/main" val="3355225354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d-ID" dirty="0" smtClean="0"/>
              <a:t>Fungsi aktivasi</a:t>
            </a:r>
            <a:endParaRPr lang="id-ID" dirty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1981201" y="1600201"/>
            <a:ext cx="8258175" cy="4873625"/>
          </a:xfrm>
        </p:spPr>
        <p:txBody>
          <a:bodyPr/>
          <a:lstStyle/>
          <a:p>
            <a:pPr eaLnBrk="1" hangingPunct="1"/>
            <a:r>
              <a:rPr lang="id-ID" smtClean="0"/>
              <a:t>Masukan pada jaringan akan diproses oleh suatu fungsi yang akan menjumlahkan nilai-nilai semua bobot dan bias. </a:t>
            </a:r>
          </a:p>
          <a:p>
            <a:pPr eaLnBrk="1" hangingPunct="1"/>
            <a:r>
              <a:rPr lang="id-ID" smtClean="0"/>
              <a:t>Hasil dari penjumlahan akan dibandingkan dengan suatu nilai ambang (</a:t>
            </a:r>
            <a:r>
              <a:rPr lang="id-ID" i="1" smtClean="0"/>
              <a:t>threshold</a:t>
            </a:r>
            <a:r>
              <a:rPr lang="id-ID" smtClean="0"/>
              <a:t>) melalui fungsi aktivasi setiap neuron. </a:t>
            </a:r>
          </a:p>
        </p:txBody>
      </p:sp>
    </p:spTree>
    <p:extLst>
      <p:ext uri="{BB962C8B-B14F-4D97-AF65-F5344CB8AC3E}">
        <p14:creationId xmlns:p14="http://schemas.microsoft.com/office/powerpoint/2010/main" val="1221456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d-ID" dirty="0" smtClean="0"/>
              <a:t>Hard Limit </a:t>
            </a:r>
            <a:endParaRPr lang="id-ID" dirty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ph sz="quarter" idx="1"/>
          </p:nvPr>
        </p:nvGraphicFramePr>
        <p:xfrm>
          <a:off x="2238376" y="1714501"/>
          <a:ext cx="4786313" cy="388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Visio" r:id="rId3" imgW="2370125" imgH="1926336" progId="Visio.Drawing.11">
                  <p:embed/>
                </p:oleObj>
              </mc:Choice>
              <mc:Fallback>
                <p:oleObj name="Visio" r:id="rId3" imgW="2370125" imgH="192633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6" y="1714501"/>
                        <a:ext cx="4786313" cy="388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8" name="Group 11"/>
          <p:cNvGrpSpPr>
            <a:grpSpLocks/>
          </p:cNvGrpSpPr>
          <p:nvPr/>
        </p:nvGrpSpPr>
        <p:grpSpPr bwMode="auto">
          <a:xfrm>
            <a:off x="6810375" y="1714500"/>
            <a:ext cx="2952750" cy="863600"/>
            <a:chOff x="2608" y="1480"/>
            <a:chExt cx="1860" cy="544"/>
          </a:xfrm>
        </p:grpSpPr>
        <p:graphicFrame>
          <p:nvGraphicFramePr>
            <p:cNvPr id="3075" name="Object 5"/>
            <p:cNvGraphicFramePr>
              <a:graphicFrameLocks noChangeAspect="1"/>
            </p:cNvGraphicFramePr>
            <p:nvPr/>
          </p:nvGraphicFramePr>
          <p:xfrm>
            <a:off x="2608" y="1661"/>
            <a:ext cx="40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Equation" r:id="rId5" imgW="253780" imgH="164957" progId="Equation.3">
                    <p:embed/>
                  </p:oleObj>
                </mc:Choice>
                <mc:Fallback>
                  <p:oleObj name="Equation" r:id="rId5" imgW="253780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61"/>
                          <a:ext cx="408" cy="2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6"/>
            <p:cNvGraphicFramePr>
              <a:graphicFrameLocks noChangeAspect="1"/>
            </p:cNvGraphicFramePr>
            <p:nvPr/>
          </p:nvGraphicFramePr>
          <p:xfrm>
            <a:off x="3470" y="1525"/>
            <a:ext cx="998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Equation" r:id="rId7" imgW="914400" imgH="431800" progId="Equation.3">
                    <p:embed/>
                  </p:oleObj>
                </mc:Choice>
                <mc:Fallback>
                  <p:oleObj name="Equation" r:id="rId7" imgW="9144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1525"/>
                          <a:ext cx="998" cy="4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9" name="AutoShape 7"/>
            <p:cNvSpPr>
              <a:spLocks/>
            </p:cNvSpPr>
            <p:nvPr/>
          </p:nvSpPr>
          <p:spPr bwMode="auto">
            <a:xfrm>
              <a:off x="3152" y="1480"/>
              <a:ext cx="216" cy="544"/>
            </a:xfrm>
            <a:prstGeom prst="leftBrace">
              <a:avLst>
                <a:gd name="adj1" fmla="val 20988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>
                <a:latin typeface="Century Schoolbook" panose="020406040505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069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Symetric</a:t>
            </a:r>
            <a:r>
              <a:rPr lang="en-US" dirty="0" smtClean="0"/>
              <a:t> </a:t>
            </a:r>
            <a:r>
              <a:rPr lang="en-US" dirty="0"/>
              <a:t>Hard </a:t>
            </a:r>
            <a:r>
              <a:rPr lang="en-US" dirty="0" smtClean="0"/>
              <a:t>Limit</a:t>
            </a:r>
            <a:endParaRPr lang="en-US" dirty="0"/>
          </a:p>
        </p:txBody>
      </p:sp>
      <p:grpSp>
        <p:nvGrpSpPr>
          <p:cNvPr id="4102" name="Group 16"/>
          <p:cNvGrpSpPr>
            <a:grpSpLocks/>
          </p:cNvGrpSpPr>
          <p:nvPr/>
        </p:nvGrpSpPr>
        <p:grpSpPr bwMode="auto">
          <a:xfrm>
            <a:off x="6383338" y="2492375"/>
            <a:ext cx="3313112" cy="1136650"/>
            <a:chOff x="3061" y="1570"/>
            <a:chExt cx="2087" cy="716"/>
          </a:xfrm>
        </p:grpSpPr>
        <p:graphicFrame>
          <p:nvGraphicFramePr>
            <p:cNvPr id="4099" name="Object 3"/>
            <p:cNvGraphicFramePr>
              <a:graphicFrameLocks noChangeAspect="1"/>
            </p:cNvGraphicFramePr>
            <p:nvPr/>
          </p:nvGraphicFramePr>
          <p:xfrm>
            <a:off x="3061" y="1830"/>
            <a:ext cx="453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" name="Equation" r:id="rId3" imgW="253780" imgH="164957" progId="Equation.3">
                    <p:embed/>
                  </p:oleObj>
                </mc:Choice>
                <mc:Fallback>
                  <p:oleObj name="Equation" r:id="rId3" imgW="253780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1830"/>
                          <a:ext cx="453" cy="2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" name="Object 4"/>
            <p:cNvGraphicFramePr>
              <a:graphicFrameLocks noChangeAspect="1"/>
            </p:cNvGraphicFramePr>
            <p:nvPr/>
          </p:nvGraphicFramePr>
          <p:xfrm>
            <a:off x="4059" y="1570"/>
            <a:ext cx="1089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" name="Equation" r:id="rId5" imgW="1002865" imgH="660113" progId="Equation.3">
                    <p:embed/>
                  </p:oleObj>
                </mc:Choice>
                <mc:Fallback>
                  <p:oleObj name="Equation" r:id="rId5" imgW="1002865" imgH="6601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1570"/>
                          <a:ext cx="1089" cy="7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" name="AutoShape 11"/>
            <p:cNvSpPr>
              <a:spLocks/>
            </p:cNvSpPr>
            <p:nvPr/>
          </p:nvSpPr>
          <p:spPr bwMode="auto">
            <a:xfrm>
              <a:off x="3606" y="1570"/>
              <a:ext cx="216" cy="681"/>
            </a:xfrm>
            <a:prstGeom prst="leftBrace">
              <a:avLst>
                <a:gd name="adj1" fmla="val 26273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>
                <a:latin typeface="Century Schoolbook" panose="02040604050505020304" pitchFamily="18" charset="0"/>
              </a:endParaRPr>
            </a:p>
          </p:txBody>
        </p:sp>
      </p:grpSp>
      <p:graphicFrame>
        <p:nvGraphicFramePr>
          <p:cNvPr id="4098" name="Object 2"/>
          <p:cNvGraphicFramePr>
            <a:graphicFrameLocks noChangeAspect="1"/>
          </p:cNvGraphicFramePr>
          <p:nvPr>
            <p:ph idx="1"/>
          </p:nvPr>
        </p:nvGraphicFramePr>
        <p:xfrm>
          <a:off x="2495550" y="1844676"/>
          <a:ext cx="3271838" cy="305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Visio" r:id="rId7" imgW="2836469" imgH="2646274" progId="Visio.Drawing.11">
                  <p:embed/>
                </p:oleObj>
              </mc:Choice>
              <mc:Fallback>
                <p:oleObj name="Visio" r:id="rId7" imgW="2836469" imgH="26462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844676"/>
                        <a:ext cx="3271838" cy="305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9401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Fungsi</a:t>
            </a:r>
            <a:r>
              <a:rPr lang="en-US" dirty="0" smtClean="0"/>
              <a:t> Linier</a:t>
            </a:r>
            <a:r>
              <a:rPr lang="id-ID" dirty="0" smtClean="0"/>
              <a:t> (Identitas)</a:t>
            </a:r>
            <a:endParaRPr lang="en-US" dirty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ph idx="1"/>
          </p:nvPr>
        </p:nvGraphicFramePr>
        <p:xfrm>
          <a:off x="2190751" y="1612900"/>
          <a:ext cx="3598863" cy="388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Visio" r:id="rId3" imgW="2836469" imgH="2916326" progId="Visio.Drawing.11">
                  <p:embed/>
                </p:oleObj>
              </mc:Choice>
              <mc:Fallback>
                <p:oleObj name="Visio" r:id="rId3" imgW="2836469" imgH="291632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1" y="1612900"/>
                        <a:ext cx="3598863" cy="388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7680326" y="2624138"/>
            <a:ext cx="1992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/>
              <a:t>y = x</a:t>
            </a:r>
          </a:p>
        </p:txBody>
      </p:sp>
      <p:sp>
        <p:nvSpPr>
          <p:cNvPr id="5125" name="Rectangle 6"/>
          <p:cNvSpPr>
            <a:spLocks noChangeArrowheads="1"/>
          </p:cNvSpPr>
          <p:nvPr/>
        </p:nvSpPr>
        <p:spPr bwMode="auto">
          <a:xfrm>
            <a:off x="7459663" y="28590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44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d-ID" dirty="0" smtClean="0"/>
              <a:t>Symetric Saturating Linear</a:t>
            </a:r>
            <a:endParaRPr lang="id-ID" dirty="0"/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29" t="43433" r="42027" b="20242"/>
          <a:stretch>
            <a:fillRect/>
          </a:stretch>
        </p:blipFill>
        <p:spPr>
          <a:xfrm>
            <a:off x="2381250" y="1857375"/>
            <a:ext cx="6357938" cy="4679950"/>
          </a:xfrm>
          <a:noFill/>
        </p:spPr>
      </p:pic>
    </p:spTree>
    <p:extLst>
      <p:ext uri="{BB962C8B-B14F-4D97-AF65-F5344CB8AC3E}">
        <p14:creationId xmlns:p14="http://schemas.microsoft.com/office/powerpoint/2010/main" val="3168835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5028" cy="1050037"/>
          </a:xfrm>
        </p:spPr>
        <p:txBody>
          <a:bodyPr vert="horz" lIns="91440" tIns="37337" rIns="91440" bIns="45720" rtlCol="0" anchor="ctr">
            <a:normAutofit/>
          </a:bodyPr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Proses Pembelajaran Jaringan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2530" y="1938789"/>
            <a:ext cx="8590141" cy="4346313"/>
          </a:xfrm>
        </p:spPr>
        <p:txBody>
          <a:bodyPr/>
          <a:lstStyle/>
          <a:p>
            <a:pPr marL="525857" indent="-451934">
              <a:buClr>
                <a:srgbClr val="99284C"/>
              </a:buClr>
              <a:buSzPct val="75000"/>
              <a:buFont typeface="Wingdings" panose="05000000000000000000" pitchFamily="2" charset="2"/>
              <a:buChar char=""/>
              <a:tabLst>
                <a:tab pos="525857" algn="l"/>
                <a:tab pos="645140" algn="l"/>
                <a:tab pos="1128994" algn="l"/>
                <a:tab pos="1612849" algn="l"/>
                <a:tab pos="2096704" algn="l"/>
                <a:tab pos="2580559" algn="l"/>
                <a:tab pos="3064413" algn="l"/>
                <a:tab pos="3548268" algn="l"/>
                <a:tab pos="4032123" algn="l"/>
                <a:tab pos="4515978" algn="l"/>
                <a:tab pos="4999833" algn="l"/>
                <a:tab pos="5483687" algn="l"/>
                <a:tab pos="5967542" algn="l"/>
                <a:tab pos="6451397" algn="l"/>
                <a:tab pos="6935252" algn="l"/>
                <a:tab pos="7419106" algn="l"/>
                <a:tab pos="7902961" algn="l"/>
                <a:tab pos="8386816" algn="l"/>
                <a:tab pos="8870671" algn="l"/>
                <a:tab pos="9354525" algn="l"/>
                <a:tab pos="9838380" algn="l"/>
              </a:tabLst>
            </a:pPr>
            <a:r>
              <a:rPr lang="en-US" smtClean="0"/>
              <a:t>Cara belajar JST : </a:t>
            </a:r>
          </a:p>
          <a:p>
            <a:pPr marL="525857" indent="-451934">
              <a:buClr>
                <a:srgbClr val="99284C"/>
              </a:buClr>
              <a:buSzPct val="75000"/>
              <a:buFont typeface="Wingdings" panose="05000000000000000000" pitchFamily="2" charset="2"/>
              <a:buChar char=""/>
              <a:tabLst>
                <a:tab pos="525857" algn="l"/>
                <a:tab pos="645140" algn="l"/>
                <a:tab pos="1128994" algn="l"/>
                <a:tab pos="1612849" algn="l"/>
                <a:tab pos="2096704" algn="l"/>
                <a:tab pos="2580559" algn="l"/>
                <a:tab pos="3064413" algn="l"/>
                <a:tab pos="3548268" algn="l"/>
                <a:tab pos="4032123" algn="l"/>
                <a:tab pos="4515978" algn="l"/>
                <a:tab pos="4999833" algn="l"/>
                <a:tab pos="5483687" algn="l"/>
                <a:tab pos="5967542" algn="l"/>
                <a:tab pos="6451397" algn="l"/>
                <a:tab pos="6935252" algn="l"/>
                <a:tab pos="7419106" algn="l"/>
                <a:tab pos="7902961" algn="l"/>
                <a:tab pos="8386816" algn="l"/>
                <a:tab pos="8870671" algn="l"/>
                <a:tab pos="9354525" algn="l"/>
                <a:tab pos="9838380" algn="l"/>
              </a:tabLst>
            </a:pPr>
            <a:r>
              <a:rPr lang="en-US" smtClean="0"/>
              <a:t>Ke dalam JST diinputkan informasi yang sebelumnya telah diketahui hasil keluarannya.  </a:t>
            </a:r>
          </a:p>
          <a:p>
            <a:pPr marL="525857" indent="-451934">
              <a:buClr>
                <a:srgbClr val="99284C"/>
              </a:buClr>
              <a:buSzPct val="75000"/>
              <a:buFont typeface="Wingdings" panose="05000000000000000000" pitchFamily="2" charset="2"/>
              <a:buChar char=""/>
              <a:tabLst>
                <a:tab pos="525857" algn="l"/>
                <a:tab pos="645140" algn="l"/>
                <a:tab pos="1128994" algn="l"/>
                <a:tab pos="1612849" algn="l"/>
                <a:tab pos="2096704" algn="l"/>
                <a:tab pos="2580559" algn="l"/>
                <a:tab pos="3064413" algn="l"/>
                <a:tab pos="3548268" algn="l"/>
                <a:tab pos="4032123" algn="l"/>
                <a:tab pos="4515978" algn="l"/>
                <a:tab pos="4999833" algn="l"/>
                <a:tab pos="5483687" algn="l"/>
                <a:tab pos="5967542" algn="l"/>
                <a:tab pos="6451397" algn="l"/>
                <a:tab pos="6935252" algn="l"/>
                <a:tab pos="7419106" algn="l"/>
                <a:tab pos="7902961" algn="l"/>
                <a:tab pos="8386816" algn="l"/>
                <a:tab pos="8870671" algn="l"/>
                <a:tab pos="9354525" algn="l"/>
                <a:tab pos="9838380" algn="l"/>
              </a:tabLst>
            </a:pPr>
            <a:r>
              <a:rPr lang="en-US" smtClean="0"/>
              <a:t>Penginputan informasi ini dilakukan lewat node-node atau unit-unit input. Bobot-bobot antarkoneksi dalam suatu arsitektur diberi nilai awal dan kemudian JST dijalankan. </a:t>
            </a:r>
          </a:p>
        </p:txBody>
      </p:sp>
    </p:spTree>
    <p:extLst>
      <p:ext uri="{BB962C8B-B14F-4D97-AF65-F5344CB8AC3E}">
        <p14:creationId xmlns:p14="http://schemas.microsoft.com/office/powerpoint/2010/main" val="2935443973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5028" cy="1050037"/>
          </a:xfrm>
        </p:spPr>
        <p:txBody>
          <a:bodyPr vert="horz" lIns="91440" tIns="37337" rIns="91440" bIns="45720" rtlCol="0" anchor="ctr">
            <a:normAutofit/>
          </a:bodyPr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Proses Pembelajaran Jaringan</a:t>
            </a: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7571" y="1554056"/>
            <a:ext cx="8590140" cy="5305626"/>
          </a:xfrm>
        </p:spPr>
        <p:txBody>
          <a:bodyPr/>
          <a:lstStyle/>
          <a:p>
            <a:pPr marL="525857" indent="-451934">
              <a:buClr>
                <a:srgbClr val="99284C"/>
              </a:buClr>
              <a:buSzPct val="75000"/>
              <a:buFont typeface="Wingdings" panose="05000000000000000000" pitchFamily="2" charset="2"/>
              <a:buChar char=""/>
              <a:tabLst>
                <a:tab pos="525857" algn="l"/>
                <a:tab pos="645140" algn="l"/>
                <a:tab pos="1128994" algn="l"/>
                <a:tab pos="1612849" algn="l"/>
                <a:tab pos="2096704" algn="l"/>
                <a:tab pos="2580559" algn="l"/>
                <a:tab pos="3064413" algn="l"/>
                <a:tab pos="3548268" algn="l"/>
                <a:tab pos="4032123" algn="l"/>
                <a:tab pos="4515978" algn="l"/>
                <a:tab pos="4999833" algn="l"/>
                <a:tab pos="5483687" algn="l"/>
                <a:tab pos="5967542" algn="l"/>
                <a:tab pos="6451397" algn="l"/>
                <a:tab pos="6935252" algn="l"/>
                <a:tab pos="7419106" algn="l"/>
                <a:tab pos="7902961" algn="l"/>
                <a:tab pos="8386816" algn="l"/>
                <a:tab pos="8870671" algn="l"/>
                <a:tab pos="9354525" algn="l"/>
                <a:tab pos="9838380" algn="l"/>
              </a:tabLst>
            </a:pPr>
            <a:r>
              <a:rPr lang="en-US" smtClean="0"/>
              <a:t>Bobot-bobot ini bagi jaringan digunakan untuk belajar dan mengingat suatu informasi. Pengaturan bobot dilakukan secara terus-menerus dan dengan menggunakan  kriteria tertentu sampai diperoleh keluaran yang diharapkan.  </a:t>
            </a:r>
          </a:p>
          <a:p>
            <a:pPr marL="525857" indent="-451934">
              <a:buClr>
                <a:srgbClr val="99284C"/>
              </a:buClr>
              <a:buSzPct val="75000"/>
              <a:buFont typeface="Wingdings" panose="05000000000000000000" pitchFamily="2" charset="2"/>
              <a:buChar char=""/>
              <a:tabLst>
                <a:tab pos="525857" algn="l"/>
                <a:tab pos="645140" algn="l"/>
                <a:tab pos="1128994" algn="l"/>
                <a:tab pos="1612849" algn="l"/>
                <a:tab pos="2096704" algn="l"/>
                <a:tab pos="2580559" algn="l"/>
                <a:tab pos="3064413" algn="l"/>
                <a:tab pos="3548268" algn="l"/>
                <a:tab pos="4032123" algn="l"/>
                <a:tab pos="4515978" algn="l"/>
                <a:tab pos="4999833" algn="l"/>
                <a:tab pos="5483687" algn="l"/>
                <a:tab pos="5967542" algn="l"/>
                <a:tab pos="6451397" algn="l"/>
                <a:tab pos="6935252" algn="l"/>
                <a:tab pos="7419106" algn="l"/>
                <a:tab pos="7902961" algn="l"/>
                <a:tab pos="8386816" algn="l"/>
                <a:tab pos="8870671" algn="l"/>
                <a:tab pos="9354525" algn="l"/>
                <a:tab pos="9838380" algn="l"/>
              </a:tabLst>
            </a:pPr>
            <a:r>
              <a:rPr lang="en-US" smtClean="0"/>
              <a:t>Hal yang ingin dicapai dengan melatih/mengajari JST adalah untuk mencapai keseimbangan antara kemampuan memorisasi dan generalisasi.  </a:t>
            </a:r>
          </a:p>
        </p:txBody>
      </p:sp>
    </p:spTree>
    <p:extLst>
      <p:ext uri="{BB962C8B-B14F-4D97-AF65-F5344CB8AC3E}">
        <p14:creationId xmlns:p14="http://schemas.microsoft.com/office/powerpoint/2010/main" val="1255197459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ChangeArrowheads="1"/>
          </p:cNvSpPr>
          <p:nvPr>
            <p:ph type="title"/>
          </p:nvPr>
        </p:nvSpPr>
        <p:spPr>
          <a:xfrm>
            <a:off x="1708527" y="682105"/>
            <a:ext cx="8785028" cy="1050037"/>
          </a:xfrm>
        </p:spPr>
        <p:txBody>
          <a:bodyPr vert="horz" lIns="91440" tIns="37337" rIns="91440" bIns="45720" rtlCol="0" anchor="ctr">
            <a:normAutofit/>
          </a:bodyPr>
          <a:lstStyle/>
          <a:p>
            <a:pPr>
              <a:tabLst>
                <a:tab pos="0" algn="l"/>
                <a:tab pos="483855" algn="l"/>
                <a:tab pos="967710" algn="l"/>
                <a:tab pos="1451564" algn="l"/>
                <a:tab pos="1935419" algn="l"/>
                <a:tab pos="2419274" algn="l"/>
                <a:tab pos="2903129" algn="l"/>
                <a:tab pos="3386983" algn="l"/>
                <a:tab pos="3870838" algn="l"/>
                <a:tab pos="4354693" algn="l"/>
                <a:tab pos="4838548" algn="l"/>
                <a:tab pos="5322402" algn="l"/>
                <a:tab pos="5806257" algn="l"/>
                <a:tab pos="6290112" algn="l"/>
                <a:tab pos="6773967" algn="l"/>
                <a:tab pos="7257821" algn="l"/>
                <a:tab pos="7741676" algn="l"/>
                <a:tab pos="8225531" algn="l"/>
                <a:tab pos="8709386" algn="l"/>
                <a:tab pos="9193240" algn="l"/>
                <a:tab pos="9677095" algn="l"/>
              </a:tabLst>
            </a:pPr>
            <a:r>
              <a:rPr lang="en-US" smtClean="0"/>
              <a:t>Proses Pembelajaran Jaringan</a:t>
            </a: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2530" y="1557416"/>
            <a:ext cx="8590141" cy="4826808"/>
          </a:xfrm>
        </p:spPr>
        <p:txBody>
          <a:bodyPr/>
          <a:lstStyle/>
          <a:p>
            <a:pPr marL="525857" indent="-451934">
              <a:buClr>
                <a:srgbClr val="99284C"/>
              </a:buClr>
              <a:buSzPct val="75000"/>
              <a:buFont typeface="Wingdings" panose="05000000000000000000" pitchFamily="2" charset="2"/>
              <a:buChar char=""/>
              <a:tabLst>
                <a:tab pos="525857" algn="l"/>
                <a:tab pos="645140" algn="l"/>
                <a:tab pos="1128994" algn="l"/>
                <a:tab pos="1612849" algn="l"/>
                <a:tab pos="2096704" algn="l"/>
                <a:tab pos="2580559" algn="l"/>
                <a:tab pos="3064413" algn="l"/>
                <a:tab pos="3548268" algn="l"/>
                <a:tab pos="4032123" algn="l"/>
                <a:tab pos="4515978" algn="l"/>
                <a:tab pos="4999833" algn="l"/>
                <a:tab pos="5483687" algn="l"/>
                <a:tab pos="5967542" algn="l"/>
                <a:tab pos="6451397" algn="l"/>
                <a:tab pos="6935252" algn="l"/>
                <a:tab pos="7419106" algn="l"/>
                <a:tab pos="7902961" algn="l"/>
                <a:tab pos="8386816" algn="l"/>
                <a:tab pos="8870671" algn="l"/>
                <a:tab pos="9354525" algn="l"/>
                <a:tab pos="9838380" algn="l"/>
              </a:tabLst>
            </a:pPr>
            <a:r>
              <a:rPr lang="en-US" smtClean="0"/>
              <a:t>Kemampuan memorisasi = kemampuan JST untuk memanggil kembali secara sempurna sebuah pola yang telah dipelajari.  </a:t>
            </a:r>
          </a:p>
          <a:p>
            <a:pPr marL="525857" indent="-451934">
              <a:buClr>
                <a:srgbClr val="99284C"/>
              </a:buClr>
              <a:buSzPct val="75000"/>
              <a:buFont typeface="Wingdings" panose="05000000000000000000" pitchFamily="2" charset="2"/>
              <a:buChar char=""/>
              <a:tabLst>
                <a:tab pos="525857" algn="l"/>
                <a:tab pos="645140" algn="l"/>
                <a:tab pos="1128994" algn="l"/>
                <a:tab pos="1612849" algn="l"/>
                <a:tab pos="2096704" algn="l"/>
                <a:tab pos="2580559" algn="l"/>
                <a:tab pos="3064413" algn="l"/>
                <a:tab pos="3548268" algn="l"/>
                <a:tab pos="4032123" algn="l"/>
                <a:tab pos="4515978" algn="l"/>
                <a:tab pos="4999833" algn="l"/>
                <a:tab pos="5483687" algn="l"/>
                <a:tab pos="5967542" algn="l"/>
                <a:tab pos="6451397" algn="l"/>
                <a:tab pos="6935252" algn="l"/>
                <a:tab pos="7419106" algn="l"/>
                <a:tab pos="7902961" algn="l"/>
                <a:tab pos="8386816" algn="l"/>
                <a:tab pos="8870671" algn="l"/>
                <a:tab pos="9354525" algn="l"/>
                <a:tab pos="9838380" algn="l"/>
              </a:tabLst>
            </a:pPr>
            <a:r>
              <a:rPr lang="en-US" smtClean="0"/>
              <a:t>Kemampuan generalisasi = adalah kemampuan JST untuk menghasilkan respon yang bisa diterima terhadap pola-pola input yang serupa (namun tidak identik) dengan pola-pola yang sebelumnya telah dipelajari.  </a:t>
            </a:r>
          </a:p>
        </p:txBody>
      </p:sp>
    </p:spTree>
    <p:extLst>
      <p:ext uri="{BB962C8B-B14F-4D97-AF65-F5344CB8AC3E}">
        <p14:creationId xmlns:p14="http://schemas.microsoft.com/office/powerpoint/2010/main" val="1038365235"/>
      </p:ext>
    </p:extLst>
  </p:cSld>
  <p:clrMapOvr>
    <a:masterClrMapping/>
  </p:clrMapOvr>
  <p:transition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3291" y="642257"/>
            <a:ext cx="10324011" cy="1893888"/>
          </a:xfrm>
        </p:spPr>
        <p:txBody>
          <a:bodyPr/>
          <a:lstStyle/>
          <a:p>
            <a:pPr>
              <a:defRPr/>
            </a:pPr>
            <a:r>
              <a:rPr lang="id-ID" dirty="0" smtClean="0"/>
              <a:t>Model </a:t>
            </a:r>
            <a:r>
              <a:rPr lang="id-ID" dirty="0" smtClean="0"/>
              <a:t>Jaringan Syaraf Tiruan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43706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Perceptron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Bentuk</a:t>
            </a:r>
            <a:r>
              <a:rPr lang="en-US" dirty="0" smtClean="0"/>
              <a:t> paling </a:t>
            </a:r>
            <a:r>
              <a:rPr lang="en-US" dirty="0" err="1" smtClean="0"/>
              <a:t>sederhana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JST.</a:t>
            </a:r>
          </a:p>
          <a:p>
            <a:r>
              <a:rPr lang="id-ID" dirty="0" smtClean="0"/>
              <a:t>Digunakan </a:t>
            </a:r>
            <a:r>
              <a:rPr lang="id-ID" dirty="0"/>
              <a:t>untuk mengklasifikasikan suatu tipe pola tertentu</a:t>
            </a:r>
          </a:p>
          <a:p>
            <a:r>
              <a:rPr lang="id-ID" dirty="0"/>
              <a:t>Mengatur parameter2 melalui proses pembelajaran.</a:t>
            </a:r>
          </a:p>
          <a:p>
            <a:r>
              <a:rPr lang="id-ID" dirty="0"/>
              <a:t>Pembelajaran utk mendapatkan bobot akhir dilakukan secara berulang sampai sdh tdk ada </a:t>
            </a:r>
            <a:r>
              <a:rPr lang="id-ID" i="1" dirty="0"/>
              <a:t>error</a:t>
            </a:r>
            <a:r>
              <a:rPr lang="id-ID" dirty="0"/>
              <a:t> (output = target)</a:t>
            </a:r>
          </a:p>
          <a:p>
            <a:pPr eaLnBrk="1">
              <a:buFont typeface="Times New Roman" pitchFamily="18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85819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Perceptron</a:t>
            </a:r>
          </a:p>
        </p:txBody>
      </p:sp>
      <p:grpSp>
        <p:nvGrpSpPr>
          <p:cNvPr id="62467" name="Group 2"/>
          <p:cNvGrpSpPr>
            <a:grpSpLocks/>
          </p:cNvGrpSpPr>
          <p:nvPr/>
        </p:nvGrpSpPr>
        <p:grpSpPr bwMode="auto">
          <a:xfrm>
            <a:off x="2298228" y="2397445"/>
            <a:ext cx="7258920" cy="3417059"/>
            <a:chOff x="381000" y="1676400"/>
            <a:chExt cx="7924801" cy="4319852"/>
          </a:xfrm>
        </p:grpSpPr>
        <p:sp>
          <p:nvSpPr>
            <p:cNvPr id="62468" name="Text Box 34"/>
            <p:cNvSpPr txBox="1">
              <a:spLocks noChangeArrowheads="1"/>
            </p:cNvSpPr>
            <p:nvPr/>
          </p:nvSpPr>
          <p:spPr bwMode="auto">
            <a:xfrm>
              <a:off x="381000" y="3505200"/>
              <a:ext cx="1752601" cy="4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>
                  <a:cs typeface="Arial" panose="020B0604020202020204" pitchFamily="34" charset="0"/>
                </a:rPr>
                <a:t>Inputs</a:t>
              </a:r>
              <a:endParaRPr lang="en-US" sz="1905" baseline="-25000">
                <a:cs typeface="Arial" panose="020B0604020202020204" pitchFamily="34" charset="0"/>
              </a:endParaRPr>
            </a:p>
          </p:txBody>
        </p:sp>
        <p:sp>
          <p:nvSpPr>
            <p:cNvPr id="62469" name="Text Box 35"/>
            <p:cNvSpPr txBox="1">
              <a:spLocks noChangeArrowheads="1"/>
            </p:cNvSpPr>
            <p:nvPr/>
          </p:nvSpPr>
          <p:spPr bwMode="auto">
            <a:xfrm>
              <a:off x="5105400" y="4953000"/>
              <a:ext cx="1508634" cy="1043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 dirty="0">
                  <a:cs typeface="Arial" panose="020B0604020202020204" pitchFamily="34" charset="0"/>
                </a:rPr>
                <a:t>Threshold </a:t>
              </a:r>
              <a:r>
                <a:rPr lang="ru-RU" sz="1905" i="1" dirty="0">
                  <a:cs typeface="Arial" panose="020B0604020202020204" pitchFamily="34" charset="0"/>
                </a:rPr>
                <a:t>Ө</a:t>
              </a:r>
              <a:endParaRPr lang="en-US" sz="1905" i="1" dirty="0">
                <a:cs typeface="Arial" panose="020B0604020202020204" pitchFamily="34" charset="0"/>
              </a:endParaRPr>
            </a:p>
            <a:p>
              <a:pPr algn="ctr" hangingPunct="1">
                <a:spcBef>
                  <a:spcPct val="50000"/>
                </a:spcBef>
              </a:pPr>
              <a:r>
                <a:rPr lang="en-US" sz="1905" i="1" dirty="0">
                  <a:cs typeface="Arial" panose="020B0604020202020204" pitchFamily="34" charset="0"/>
                </a:rPr>
                <a:t>(bias)</a:t>
              </a:r>
              <a:endParaRPr lang="ru-RU" sz="1905" i="1" baseline="-25000" dirty="0">
                <a:cs typeface="Arial" panose="020B0604020202020204" pitchFamily="34" charset="0"/>
              </a:endParaRPr>
            </a:p>
          </p:txBody>
        </p:sp>
        <p:sp>
          <p:nvSpPr>
            <p:cNvPr id="62470" name="Rectangle 36"/>
            <p:cNvSpPr>
              <a:spLocks noChangeArrowheads="1"/>
            </p:cNvSpPr>
            <p:nvPr/>
          </p:nvSpPr>
          <p:spPr bwMode="auto">
            <a:xfrm>
              <a:off x="2286000" y="1905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71" name="Rectangle 37"/>
            <p:cNvSpPr>
              <a:spLocks noChangeArrowheads="1"/>
            </p:cNvSpPr>
            <p:nvPr/>
          </p:nvSpPr>
          <p:spPr bwMode="auto">
            <a:xfrm>
              <a:off x="2286000" y="3200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72" name="Rectangle 38"/>
            <p:cNvSpPr>
              <a:spLocks noChangeArrowheads="1"/>
            </p:cNvSpPr>
            <p:nvPr/>
          </p:nvSpPr>
          <p:spPr bwMode="auto">
            <a:xfrm>
              <a:off x="2286000" y="5257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73" name="Oval 40"/>
            <p:cNvSpPr>
              <a:spLocks noChangeArrowheads="1"/>
            </p:cNvSpPr>
            <p:nvPr/>
          </p:nvSpPr>
          <p:spPr bwMode="auto">
            <a:xfrm>
              <a:off x="5410200" y="2971800"/>
              <a:ext cx="685800" cy="685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74" name="Line 41"/>
            <p:cNvSpPr>
              <a:spLocks noChangeShapeType="1"/>
            </p:cNvSpPr>
            <p:nvPr/>
          </p:nvSpPr>
          <p:spPr bwMode="auto">
            <a:xfrm>
              <a:off x="2590800" y="3352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2475" name="Line 42"/>
            <p:cNvSpPr>
              <a:spLocks noChangeShapeType="1"/>
            </p:cNvSpPr>
            <p:nvPr/>
          </p:nvSpPr>
          <p:spPr bwMode="auto">
            <a:xfrm>
              <a:off x="2590800" y="2057400"/>
              <a:ext cx="28956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2476" name="Line 43"/>
            <p:cNvSpPr>
              <a:spLocks noChangeShapeType="1"/>
            </p:cNvSpPr>
            <p:nvPr/>
          </p:nvSpPr>
          <p:spPr bwMode="auto">
            <a:xfrm flipV="1">
              <a:off x="2590800" y="3505200"/>
              <a:ext cx="289560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2477" name="Line 44"/>
            <p:cNvSpPr>
              <a:spLocks noChangeShapeType="1"/>
            </p:cNvSpPr>
            <p:nvPr/>
          </p:nvSpPr>
          <p:spPr bwMode="auto">
            <a:xfrm flipV="1">
              <a:off x="5715000" y="3657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2478" name="Oval 45"/>
            <p:cNvSpPr>
              <a:spLocks noChangeArrowheads="1"/>
            </p:cNvSpPr>
            <p:nvPr/>
          </p:nvSpPr>
          <p:spPr bwMode="auto">
            <a:xfrm>
              <a:off x="5676900" y="4749800"/>
              <a:ext cx="76200" cy="76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79" name="Line 46"/>
            <p:cNvSpPr>
              <a:spLocks noChangeShapeType="1"/>
            </p:cNvSpPr>
            <p:nvPr/>
          </p:nvSpPr>
          <p:spPr bwMode="auto">
            <a:xfrm>
              <a:off x="6096000" y="3352800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2480" name="Text Box 47"/>
            <p:cNvSpPr txBox="1">
              <a:spLocks noChangeArrowheads="1"/>
            </p:cNvSpPr>
            <p:nvPr/>
          </p:nvSpPr>
          <p:spPr bwMode="auto">
            <a:xfrm>
              <a:off x="7162800" y="2971800"/>
              <a:ext cx="1143001" cy="857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dirty="0">
                  <a:cs typeface="Arial" panose="020B0604020202020204" pitchFamily="34" charset="0"/>
                </a:rPr>
                <a:t>Output </a:t>
              </a:r>
              <a:r>
                <a:rPr lang="en-US" sz="1905" i="1" dirty="0">
                  <a:cs typeface="Arial" panose="020B0604020202020204" pitchFamily="34" charset="0"/>
                </a:rPr>
                <a:t>y</a:t>
              </a:r>
              <a:endParaRPr lang="en-US" sz="1905" i="1" baseline="-25000" dirty="0">
                <a:cs typeface="Arial" panose="020B0604020202020204" pitchFamily="34" charset="0"/>
              </a:endParaRPr>
            </a:p>
          </p:txBody>
        </p:sp>
        <p:sp>
          <p:nvSpPr>
            <p:cNvPr id="62481" name="AutoShape 48"/>
            <p:cNvSpPr>
              <a:spLocks/>
            </p:cNvSpPr>
            <p:nvPr/>
          </p:nvSpPr>
          <p:spPr bwMode="auto">
            <a:xfrm>
              <a:off x="1676400" y="1676400"/>
              <a:ext cx="304800" cy="4038600"/>
            </a:xfrm>
            <a:prstGeom prst="leftBrace">
              <a:avLst>
                <a:gd name="adj1" fmla="val 1104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82" name="Rectangle 49"/>
            <p:cNvSpPr>
              <a:spLocks noChangeArrowheads="1"/>
            </p:cNvSpPr>
            <p:nvPr/>
          </p:nvSpPr>
          <p:spPr bwMode="auto">
            <a:xfrm>
              <a:off x="2438400" y="3886200"/>
              <a:ext cx="76200" cy="76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83" name="Rectangle 50"/>
            <p:cNvSpPr>
              <a:spLocks noChangeArrowheads="1"/>
            </p:cNvSpPr>
            <p:nvPr/>
          </p:nvSpPr>
          <p:spPr bwMode="auto">
            <a:xfrm>
              <a:off x="2438400" y="4343400"/>
              <a:ext cx="76200" cy="76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84" name="Rectangle 51"/>
            <p:cNvSpPr>
              <a:spLocks noChangeArrowheads="1"/>
            </p:cNvSpPr>
            <p:nvPr/>
          </p:nvSpPr>
          <p:spPr bwMode="auto">
            <a:xfrm>
              <a:off x="2438400" y="4800600"/>
              <a:ext cx="76200" cy="76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2485" name="Text Box 52"/>
            <p:cNvSpPr txBox="1">
              <a:spLocks noChangeArrowheads="1"/>
            </p:cNvSpPr>
            <p:nvPr/>
          </p:nvSpPr>
          <p:spPr bwMode="auto">
            <a:xfrm>
              <a:off x="1752600" y="5181599"/>
              <a:ext cx="685800" cy="4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x</a:t>
              </a:r>
              <a:r>
                <a:rPr lang="en-US" sz="1905" i="1" baseline="-25000">
                  <a:cs typeface="Arial" panose="020B0604020202020204" pitchFamily="34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4466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Perceptron</a:t>
            </a:r>
          </a:p>
        </p:txBody>
      </p:sp>
      <p:grpSp>
        <p:nvGrpSpPr>
          <p:cNvPr id="63491" name="Group 2"/>
          <p:cNvGrpSpPr>
            <a:grpSpLocks/>
          </p:cNvGrpSpPr>
          <p:nvPr/>
        </p:nvGrpSpPr>
        <p:grpSpPr bwMode="auto">
          <a:xfrm>
            <a:off x="1209550" y="2222719"/>
            <a:ext cx="9258803" cy="4038606"/>
            <a:chOff x="152400" y="1676400"/>
            <a:chExt cx="8229600" cy="4038600"/>
          </a:xfrm>
        </p:grpSpPr>
        <p:sp>
          <p:nvSpPr>
            <p:cNvPr id="63492" name="Text Box 4"/>
            <p:cNvSpPr txBox="1">
              <a:spLocks noChangeArrowheads="1"/>
            </p:cNvSpPr>
            <p:nvPr/>
          </p:nvSpPr>
          <p:spPr bwMode="auto">
            <a:xfrm>
              <a:off x="3810000" y="4800600"/>
              <a:ext cx="1219200" cy="82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Threshold </a:t>
              </a:r>
              <a:r>
                <a:rPr lang="ru-RU" sz="1905" i="1">
                  <a:cs typeface="Arial" panose="020B0604020202020204" pitchFamily="34" charset="0"/>
                </a:rPr>
                <a:t>Ө</a:t>
              </a:r>
              <a:endParaRPr lang="en-US" sz="1905" i="1">
                <a:cs typeface="Arial" panose="020B0604020202020204" pitchFamily="34" charset="0"/>
              </a:endParaRPr>
            </a:p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(bias)</a:t>
              </a:r>
              <a:endParaRPr lang="ru-RU" sz="1905" i="1" baseline="-25000">
                <a:cs typeface="Arial" panose="020B0604020202020204" pitchFamily="34" charset="0"/>
              </a:endParaRPr>
            </a:p>
          </p:txBody>
        </p:sp>
        <p:sp>
          <p:nvSpPr>
            <p:cNvPr id="63493" name="Rectangle 5"/>
            <p:cNvSpPr>
              <a:spLocks noChangeArrowheads="1"/>
            </p:cNvSpPr>
            <p:nvPr/>
          </p:nvSpPr>
          <p:spPr bwMode="auto">
            <a:xfrm>
              <a:off x="1752600" y="19050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494" name="Rectangle 6"/>
            <p:cNvSpPr>
              <a:spLocks noChangeArrowheads="1"/>
            </p:cNvSpPr>
            <p:nvPr/>
          </p:nvSpPr>
          <p:spPr bwMode="auto">
            <a:xfrm>
              <a:off x="1752600" y="3200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495" name="Rectangle 7"/>
            <p:cNvSpPr>
              <a:spLocks noChangeArrowheads="1"/>
            </p:cNvSpPr>
            <p:nvPr/>
          </p:nvSpPr>
          <p:spPr bwMode="auto">
            <a:xfrm>
              <a:off x="1752600" y="5257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496" name="Oval 8"/>
            <p:cNvSpPr>
              <a:spLocks noChangeArrowheads="1"/>
            </p:cNvSpPr>
            <p:nvPr/>
          </p:nvSpPr>
          <p:spPr bwMode="auto">
            <a:xfrm>
              <a:off x="4267200" y="3200400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497" name="Line 9"/>
            <p:cNvSpPr>
              <a:spLocks noChangeShapeType="1"/>
            </p:cNvSpPr>
            <p:nvPr/>
          </p:nvSpPr>
          <p:spPr bwMode="auto">
            <a:xfrm>
              <a:off x="2057400" y="3352800"/>
              <a:ext cx="2209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498" name="Line 10"/>
            <p:cNvSpPr>
              <a:spLocks noChangeShapeType="1"/>
            </p:cNvSpPr>
            <p:nvPr/>
          </p:nvSpPr>
          <p:spPr bwMode="auto">
            <a:xfrm>
              <a:off x="2057400" y="2057400"/>
              <a:ext cx="22860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499" name="Line 11"/>
            <p:cNvSpPr>
              <a:spLocks noChangeShapeType="1"/>
            </p:cNvSpPr>
            <p:nvPr/>
          </p:nvSpPr>
          <p:spPr bwMode="auto">
            <a:xfrm flipV="1">
              <a:off x="2057400" y="3505200"/>
              <a:ext cx="228600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500" name="Line 12"/>
            <p:cNvSpPr>
              <a:spLocks noChangeShapeType="1"/>
            </p:cNvSpPr>
            <p:nvPr/>
          </p:nvSpPr>
          <p:spPr bwMode="auto">
            <a:xfrm flipV="1">
              <a:off x="4419600" y="35052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501" name="Oval 13"/>
            <p:cNvSpPr>
              <a:spLocks noChangeArrowheads="1"/>
            </p:cNvSpPr>
            <p:nvPr/>
          </p:nvSpPr>
          <p:spPr bwMode="auto">
            <a:xfrm>
              <a:off x="4381500" y="4597400"/>
              <a:ext cx="76200" cy="76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502" name="Line 14"/>
            <p:cNvSpPr>
              <a:spLocks noChangeShapeType="1"/>
            </p:cNvSpPr>
            <p:nvPr/>
          </p:nvSpPr>
          <p:spPr bwMode="auto">
            <a:xfrm>
              <a:off x="4572000" y="33528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503" name="Text Box 15"/>
            <p:cNvSpPr txBox="1">
              <a:spLocks noChangeArrowheads="1"/>
            </p:cNvSpPr>
            <p:nvPr/>
          </p:nvSpPr>
          <p:spPr bwMode="auto">
            <a:xfrm>
              <a:off x="7467600" y="3016250"/>
              <a:ext cx="914400" cy="678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>
                  <a:cs typeface="Arial" panose="020B0604020202020204" pitchFamily="34" charset="0"/>
                </a:rPr>
                <a:t>Output </a:t>
              </a:r>
              <a:r>
                <a:rPr lang="en-US" sz="1905" i="1">
                  <a:cs typeface="Arial" panose="020B0604020202020204" pitchFamily="34" charset="0"/>
                </a:rPr>
                <a:t>y</a:t>
              </a:r>
              <a:endParaRPr lang="en-US" sz="1905" i="1" baseline="-25000">
                <a:cs typeface="Arial" panose="020B0604020202020204" pitchFamily="34" charset="0"/>
              </a:endParaRPr>
            </a:p>
          </p:txBody>
        </p:sp>
        <p:sp>
          <p:nvSpPr>
            <p:cNvPr id="63504" name="AutoShape 16"/>
            <p:cNvSpPr>
              <a:spLocks/>
            </p:cNvSpPr>
            <p:nvPr/>
          </p:nvSpPr>
          <p:spPr bwMode="auto">
            <a:xfrm>
              <a:off x="1143000" y="1676400"/>
              <a:ext cx="304800" cy="4038600"/>
            </a:xfrm>
            <a:prstGeom prst="leftBrace">
              <a:avLst>
                <a:gd name="adj1" fmla="val 1104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505" name="Rectangle 17"/>
            <p:cNvSpPr>
              <a:spLocks noChangeArrowheads="1"/>
            </p:cNvSpPr>
            <p:nvPr/>
          </p:nvSpPr>
          <p:spPr bwMode="auto">
            <a:xfrm>
              <a:off x="1905000" y="3886200"/>
              <a:ext cx="76200" cy="76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506" name="Rectangle 18"/>
            <p:cNvSpPr>
              <a:spLocks noChangeArrowheads="1"/>
            </p:cNvSpPr>
            <p:nvPr/>
          </p:nvSpPr>
          <p:spPr bwMode="auto">
            <a:xfrm>
              <a:off x="1905000" y="4343400"/>
              <a:ext cx="76200" cy="76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507" name="Rectangle 19"/>
            <p:cNvSpPr>
              <a:spLocks noChangeArrowheads="1"/>
            </p:cNvSpPr>
            <p:nvPr/>
          </p:nvSpPr>
          <p:spPr bwMode="auto">
            <a:xfrm>
              <a:off x="1905000" y="4800600"/>
              <a:ext cx="76200" cy="76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508" name="Text Box 20"/>
            <p:cNvSpPr txBox="1">
              <a:spLocks noChangeArrowheads="1"/>
            </p:cNvSpPr>
            <p:nvPr/>
          </p:nvSpPr>
          <p:spPr bwMode="auto">
            <a:xfrm>
              <a:off x="1219200" y="5181600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x</a:t>
              </a:r>
              <a:r>
                <a:rPr lang="en-US" sz="1905" i="1" baseline="-25000"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63509" name="Text Box 21"/>
            <p:cNvSpPr txBox="1">
              <a:spLocks noChangeArrowheads="1"/>
            </p:cNvSpPr>
            <p:nvPr/>
          </p:nvSpPr>
          <p:spPr bwMode="auto">
            <a:xfrm>
              <a:off x="152400" y="3505200"/>
              <a:ext cx="9906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>
                  <a:cs typeface="Arial" panose="020B0604020202020204" pitchFamily="34" charset="0"/>
                </a:rPr>
                <a:t>Inputs</a:t>
              </a:r>
              <a:endParaRPr lang="en-US" sz="1905" baseline="-25000">
                <a:cs typeface="Arial" panose="020B0604020202020204" pitchFamily="34" charset="0"/>
              </a:endParaRPr>
            </a:p>
          </p:txBody>
        </p:sp>
        <p:sp>
          <p:nvSpPr>
            <p:cNvPr id="63510" name="Text Box 22"/>
            <p:cNvSpPr txBox="1">
              <a:spLocks noChangeArrowheads="1"/>
            </p:cNvSpPr>
            <p:nvPr/>
          </p:nvSpPr>
          <p:spPr bwMode="auto">
            <a:xfrm>
              <a:off x="1219200" y="1828800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x</a:t>
              </a:r>
              <a:r>
                <a:rPr lang="en-US" sz="1905" i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3511" name="Text Box 23"/>
            <p:cNvSpPr txBox="1">
              <a:spLocks noChangeArrowheads="1"/>
            </p:cNvSpPr>
            <p:nvPr/>
          </p:nvSpPr>
          <p:spPr bwMode="auto">
            <a:xfrm>
              <a:off x="1219200" y="3138488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x</a:t>
              </a:r>
              <a:r>
                <a:rPr lang="en-US" sz="1905" i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3512" name="Oval 24"/>
            <p:cNvSpPr>
              <a:spLocks noChangeArrowheads="1"/>
            </p:cNvSpPr>
            <p:nvPr/>
          </p:nvSpPr>
          <p:spPr bwMode="auto">
            <a:xfrm>
              <a:off x="5638800" y="3200400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513" name="Line 25"/>
            <p:cNvSpPr>
              <a:spLocks noChangeShapeType="1"/>
            </p:cNvSpPr>
            <p:nvPr/>
          </p:nvSpPr>
          <p:spPr bwMode="auto">
            <a:xfrm>
              <a:off x="5943600" y="33528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514" name="Oval 26"/>
            <p:cNvSpPr>
              <a:spLocks noChangeArrowheads="1"/>
            </p:cNvSpPr>
            <p:nvPr/>
          </p:nvSpPr>
          <p:spPr bwMode="auto">
            <a:xfrm>
              <a:off x="7010400" y="3200400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 sz="1905"/>
            </a:p>
          </p:txBody>
        </p:sp>
        <p:sp>
          <p:nvSpPr>
            <p:cNvPr id="63515" name="Text Box 27"/>
            <p:cNvSpPr txBox="1">
              <a:spLocks noChangeArrowheads="1"/>
            </p:cNvSpPr>
            <p:nvPr/>
          </p:nvSpPr>
          <p:spPr bwMode="auto">
            <a:xfrm>
              <a:off x="4267200" y="3886200"/>
              <a:ext cx="9906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>
                  <a:cs typeface="Arial" panose="020B0604020202020204" pitchFamily="34" charset="0"/>
                </a:rPr>
                <a:t>- 1</a:t>
              </a:r>
              <a:endParaRPr lang="en-US" sz="1905" baseline="-25000">
                <a:cs typeface="Arial" panose="020B0604020202020204" pitchFamily="34" charset="0"/>
              </a:endParaRPr>
            </a:p>
          </p:txBody>
        </p:sp>
        <p:sp>
          <p:nvSpPr>
            <p:cNvPr id="63516" name="Line 28"/>
            <p:cNvSpPr>
              <a:spLocks noChangeShapeType="1"/>
            </p:cNvSpPr>
            <p:nvPr/>
          </p:nvSpPr>
          <p:spPr bwMode="auto">
            <a:xfrm>
              <a:off x="2057400" y="2057400"/>
              <a:ext cx="1066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517" name="Line 29"/>
            <p:cNvSpPr>
              <a:spLocks noChangeShapeType="1"/>
            </p:cNvSpPr>
            <p:nvPr/>
          </p:nvSpPr>
          <p:spPr bwMode="auto">
            <a:xfrm>
              <a:off x="2057400" y="33528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518" name="Line 30"/>
            <p:cNvSpPr>
              <a:spLocks noChangeShapeType="1"/>
            </p:cNvSpPr>
            <p:nvPr/>
          </p:nvSpPr>
          <p:spPr bwMode="auto">
            <a:xfrm flipV="1">
              <a:off x="2057400" y="4495800"/>
              <a:ext cx="10668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905"/>
            </a:p>
          </p:txBody>
        </p:sp>
        <p:sp>
          <p:nvSpPr>
            <p:cNvPr id="63519" name="Text Box 31"/>
            <p:cNvSpPr txBox="1">
              <a:spLocks noChangeArrowheads="1"/>
            </p:cNvSpPr>
            <p:nvPr/>
          </p:nvSpPr>
          <p:spPr bwMode="auto">
            <a:xfrm>
              <a:off x="2743200" y="2071688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w</a:t>
              </a:r>
              <a:r>
                <a:rPr lang="en-US" sz="1905" i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3520" name="Text Box 32"/>
            <p:cNvSpPr txBox="1">
              <a:spLocks noChangeArrowheads="1"/>
            </p:cNvSpPr>
            <p:nvPr/>
          </p:nvSpPr>
          <p:spPr bwMode="auto">
            <a:xfrm>
              <a:off x="2743200" y="2909888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w</a:t>
              </a:r>
              <a:r>
                <a:rPr lang="en-US" sz="1905" i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3521" name="Text Box 33"/>
            <p:cNvSpPr txBox="1">
              <a:spLocks noChangeArrowheads="1"/>
            </p:cNvSpPr>
            <p:nvPr/>
          </p:nvSpPr>
          <p:spPr bwMode="auto">
            <a:xfrm>
              <a:off x="2743200" y="4052888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w</a:t>
              </a:r>
              <a:r>
                <a:rPr lang="en-US" sz="1905" i="1" baseline="-25000"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63522" name="Text Box 34"/>
            <p:cNvSpPr txBox="1">
              <a:spLocks noChangeArrowheads="1"/>
            </p:cNvSpPr>
            <p:nvPr/>
          </p:nvSpPr>
          <p:spPr bwMode="auto">
            <a:xfrm>
              <a:off x="4724400" y="2819400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 i="1">
                  <a:cs typeface="Arial" panose="020B0604020202020204" pitchFamily="34" charset="0"/>
                </a:rPr>
                <a:t>v</a:t>
              </a:r>
              <a:r>
                <a:rPr lang="en-US" sz="1905" i="1" baseline="-250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63523" name="Text Box 35"/>
            <p:cNvSpPr txBox="1">
              <a:spLocks noChangeArrowheads="1"/>
            </p:cNvSpPr>
            <p:nvPr/>
          </p:nvSpPr>
          <p:spPr bwMode="auto">
            <a:xfrm>
              <a:off x="6019800" y="2833688"/>
              <a:ext cx="685800" cy="3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l-GR" sz="1905" i="1">
                  <a:cs typeface="Arial" panose="020B0604020202020204" pitchFamily="34" charset="0"/>
                </a:rPr>
                <a:t>φ</a:t>
              </a:r>
              <a:r>
                <a:rPr lang="en-US" sz="1905" i="1">
                  <a:cs typeface="Arial" panose="020B0604020202020204" pitchFamily="34" charset="0"/>
                </a:rPr>
                <a:t>(vi)</a:t>
              </a:r>
            </a:p>
          </p:txBody>
        </p:sp>
        <p:sp>
          <p:nvSpPr>
            <p:cNvPr id="63524" name="Text Box 36"/>
            <p:cNvSpPr txBox="1">
              <a:spLocks noChangeArrowheads="1"/>
            </p:cNvSpPr>
            <p:nvPr/>
          </p:nvSpPr>
          <p:spPr bwMode="auto">
            <a:xfrm>
              <a:off x="5943600" y="3505200"/>
              <a:ext cx="990600" cy="678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hangingPunct="1">
                <a:spcBef>
                  <a:spcPct val="50000"/>
                </a:spcBef>
              </a:pPr>
              <a:r>
                <a:rPr lang="en-US" sz="1905">
                  <a:cs typeface="Arial" panose="020B0604020202020204" pitchFamily="34" charset="0"/>
                </a:rPr>
                <a:t>Hard limiter</a:t>
              </a:r>
              <a:endParaRPr lang="en-US" sz="1905" baseline="-2500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364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AutoShape 11"/>
          <p:cNvSpPr>
            <a:spLocks noChangeArrowheads="1"/>
          </p:cNvSpPr>
          <p:nvPr/>
        </p:nvSpPr>
        <p:spPr bwMode="auto">
          <a:xfrm rot="10800000">
            <a:off x="4038769" y="1905187"/>
            <a:ext cx="4542879" cy="4038861"/>
          </a:xfrm>
          <a:prstGeom prst="rtTriangle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d-ID" sz="1905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Perceptron</a:t>
            </a:r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2924889" y="4114465"/>
            <a:ext cx="591380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905"/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>
            <a:off x="5752429" y="1829585"/>
            <a:ext cx="0" cy="46470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905"/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5495379" y="1310446"/>
            <a:ext cx="772827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hangingPunct="1">
              <a:spcBef>
                <a:spcPct val="50000"/>
              </a:spcBef>
            </a:pPr>
            <a:r>
              <a:rPr lang="en-US" sz="1905" i="1">
                <a:cs typeface="Arial" panose="020B0604020202020204" pitchFamily="34" charset="0"/>
              </a:rPr>
              <a:t>x</a:t>
            </a:r>
            <a:r>
              <a:rPr lang="en-US" sz="1905" i="1" baseline="-25000">
                <a:cs typeface="Arial" panose="020B0604020202020204" pitchFamily="34" charset="0"/>
              </a:rPr>
              <a:t>2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8838696" y="3885977"/>
            <a:ext cx="772827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hangingPunct="1">
              <a:spcBef>
                <a:spcPct val="50000"/>
              </a:spcBef>
            </a:pPr>
            <a:r>
              <a:rPr lang="en-US" sz="1905" i="1">
                <a:cs typeface="Arial" panose="020B0604020202020204" pitchFamily="34" charset="0"/>
              </a:rPr>
              <a:t>x</a:t>
            </a:r>
            <a:r>
              <a:rPr lang="en-US" sz="1905" i="1" baseline="-25000">
                <a:cs typeface="Arial" panose="020B0604020202020204" pitchFamily="34" charset="0"/>
              </a:rPr>
              <a:t>1</a:t>
            </a:r>
          </a:p>
        </p:txBody>
      </p:sp>
      <p:sp>
        <p:nvSpPr>
          <p:cNvPr id="64520" name="Text Box 9"/>
          <p:cNvSpPr txBox="1">
            <a:spLocks noChangeArrowheads="1"/>
          </p:cNvSpPr>
          <p:nvPr/>
        </p:nvSpPr>
        <p:spPr bwMode="auto">
          <a:xfrm>
            <a:off x="3524671" y="3444121"/>
            <a:ext cx="1713660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hangingPunct="1">
              <a:spcBef>
                <a:spcPct val="50000"/>
              </a:spcBef>
            </a:pPr>
            <a:r>
              <a:rPr lang="en-US" sz="1905" b="1">
                <a:cs typeface="Arial" panose="020B0604020202020204" pitchFamily="34" charset="0"/>
              </a:rPr>
              <a:t>Kelas K</a:t>
            </a:r>
            <a:r>
              <a:rPr lang="en-US" sz="1905" b="1" baseline="-25000">
                <a:cs typeface="Arial" panose="020B0604020202020204" pitchFamily="34" charset="0"/>
              </a:rPr>
              <a:t>2</a:t>
            </a:r>
          </a:p>
        </p:txBody>
      </p:sp>
      <p:sp>
        <p:nvSpPr>
          <p:cNvPr id="64521" name="Text Box 10"/>
          <p:cNvSpPr txBox="1">
            <a:spLocks noChangeArrowheads="1"/>
          </p:cNvSpPr>
          <p:nvPr/>
        </p:nvSpPr>
        <p:spPr bwMode="auto">
          <a:xfrm>
            <a:off x="6867988" y="2756977"/>
            <a:ext cx="1713660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hangingPunct="1">
              <a:spcBef>
                <a:spcPct val="50000"/>
              </a:spcBef>
            </a:pPr>
            <a:r>
              <a:rPr lang="en-US" sz="1905" b="1">
                <a:cs typeface="Arial" panose="020B0604020202020204" pitchFamily="34" charset="0"/>
              </a:rPr>
              <a:t>Kelas K</a:t>
            </a:r>
            <a:r>
              <a:rPr lang="en-US" sz="1905" b="1" baseline="-25000">
                <a:cs typeface="Arial" panose="020B0604020202020204" pitchFamily="34" charset="0"/>
              </a:rPr>
              <a:t>1</a:t>
            </a:r>
          </a:p>
        </p:txBody>
      </p:sp>
      <p:sp>
        <p:nvSpPr>
          <p:cNvPr id="64522" name="Line 12"/>
          <p:cNvSpPr>
            <a:spLocks noChangeShapeType="1"/>
          </p:cNvSpPr>
          <p:nvPr/>
        </p:nvSpPr>
        <p:spPr bwMode="auto">
          <a:xfrm>
            <a:off x="4038770" y="1905188"/>
            <a:ext cx="4457195" cy="396157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905"/>
          </a:p>
        </p:txBody>
      </p:sp>
      <p:sp>
        <p:nvSpPr>
          <p:cNvPr id="64523" name="Text Box 13"/>
          <p:cNvSpPr txBox="1">
            <a:spLocks noChangeArrowheads="1"/>
          </p:cNvSpPr>
          <p:nvPr/>
        </p:nvSpPr>
        <p:spPr bwMode="auto">
          <a:xfrm>
            <a:off x="6182524" y="5866766"/>
            <a:ext cx="2570490" cy="82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hangingPunct="1">
              <a:spcBef>
                <a:spcPct val="50000"/>
              </a:spcBef>
            </a:pPr>
            <a:r>
              <a:rPr lang="en-US" sz="1905" i="1">
                <a:cs typeface="Arial" panose="020B0604020202020204" pitchFamily="34" charset="0"/>
              </a:rPr>
              <a:t>Decision boundary</a:t>
            </a:r>
          </a:p>
          <a:p>
            <a:pPr hangingPunct="1">
              <a:spcBef>
                <a:spcPct val="50000"/>
              </a:spcBef>
            </a:pPr>
            <a:r>
              <a:rPr lang="en-US" sz="1905" i="1">
                <a:cs typeface="Arial" panose="020B0604020202020204" pitchFamily="34" charset="0"/>
              </a:rPr>
              <a:t>w</a:t>
            </a:r>
            <a:r>
              <a:rPr lang="en-US" sz="1905" i="1" baseline="-25000">
                <a:cs typeface="Arial" panose="020B0604020202020204" pitchFamily="34" charset="0"/>
              </a:rPr>
              <a:t>1</a:t>
            </a:r>
            <a:r>
              <a:rPr lang="en-US" sz="1905" i="1">
                <a:cs typeface="Arial" panose="020B0604020202020204" pitchFamily="34" charset="0"/>
              </a:rPr>
              <a:t>x</a:t>
            </a:r>
            <a:r>
              <a:rPr lang="en-US" sz="1905" i="1" baseline="-25000">
                <a:cs typeface="Arial" panose="020B0604020202020204" pitchFamily="34" charset="0"/>
              </a:rPr>
              <a:t>1</a:t>
            </a:r>
            <a:r>
              <a:rPr lang="en-US" sz="1905" i="1">
                <a:cs typeface="Arial" panose="020B0604020202020204" pitchFamily="34" charset="0"/>
              </a:rPr>
              <a:t> + w</a:t>
            </a:r>
            <a:r>
              <a:rPr lang="en-US" sz="1905" i="1" baseline="-25000">
                <a:cs typeface="Arial" panose="020B0604020202020204" pitchFamily="34" charset="0"/>
              </a:rPr>
              <a:t>2</a:t>
            </a:r>
            <a:r>
              <a:rPr lang="en-US" sz="1905" i="1">
                <a:cs typeface="Arial" panose="020B0604020202020204" pitchFamily="34" charset="0"/>
              </a:rPr>
              <a:t>x</a:t>
            </a:r>
            <a:r>
              <a:rPr lang="en-US" sz="1905" i="1" baseline="-25000">
                <a:cs typeface="Arial" panose="020B0604020202020204" pitchFamily="34" charset="0"/>
              </a:rPr>
              <a:t>2</a:t>
            </a:r>
            <a:r>
              <a:rPr lang="en-US" sz="1905" i="1">
                <a:cs typeface="Arial" panose="020B0604020202020204" pitchFamily="34" charset="0"/>
              </a:rPr>
              <a:t> - </a:t>
            </a:r>
            <a:r>
              <a:rPr lang="ru-RU" sz="1905" i="1">
                <a:cs typeface="Arial" panose="020B0604020202020204" pitchFamily="34" charset="0"/>
              </a:rPr>
              <a:t>Ө</a:t>
            </a:r>
            <a:r>
              <a:rPr lang="en-US" sz="1905" i="1">
                <a:cs typeface="Arial" panose="020B0604020202020204" pitchFamily="34" charset="0"/>
              </a:rPr>
              <a:t> = 0</a:t>
            </a:r>
            <a:endParaRPr lang="en-US" sz="1905" i="1" baseline="-250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858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Perceptron</a:t>
            </a:r>
          </a:p>
        </p:txBody>
      </p:sp>
      <p:graphicFrame>
        <p:nvGraphicFramePr>
          <p:cNvPr id="3074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2753524" y="2515050"/>
          <a:ext cx="4628563" cy="761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3" imgW="1371600" imgH="254000" progId="Equation.3">
                  <p:embed/>
                </p:oleObj>
              </mc:Choice>
              <mc:Fallback>
                <p:oleObj name="Equation" r:id="rId3" imgW="1371600" imgH="2540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3524" y="2515050"/>
                        <a:ext cx="4628563" cy="761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40449" y="1829586"/>
            <a:ext cx="9087437" cy="4524398"/>
          </a:xfrm>
        </p:spPr>
        <p:txBody>
          <a:bodyPr/>
          <a:lstStyle/>
          <a:p>
            <a:pPr marL="0" indent="0">
              <a:buNone/>
            </a:pPr>
            <a:r>
              <a:rPr lang="en-US" sz="2963"/>
              <a:t>Vektor </a:t>
            </a:r>
            <a:r>
              <a:rPr lang="en-US" sz="2963" i="1"/>
              <a:t>input</a:t>
            </a:r>
            <a:r>
              <a:rPr lang="en-US" sz="2963"/>
              <a:t>:</a:t>
            </a:r>
          </a:p>
          <a:p>
            <a:pPr marL="0" indent="0">
              <a:buNone/>
            </a:pPr>
            <a:endParaRPr lang="en-US" sz="2963"/>
          </a:p>
          <a:p>
            <a:pPr marL="483855" lvl="1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z="2963"/>
              <a:t>Vektor bobot:</a:t>
            </a:r>
          </a:p>
          <a:p>
            <a:pPr marL="0" indent="0">
              <a:buNone/>
            </a:pPr>
            <a:endParaRPr lang="en-US" sz="2963"/>
          </a:p>
          <a:p>
            <a:pPr marL="0" indent="0">
              <a:buNone/>
            </a:pPr>
            <a:endParaRPr lang="en-US" sz="2963"/>
          </a:p>
          <a:p>
            <a:pPr marL="0" indent="0">
              <a:buNone/>
            </a:pPr>
            <a:r>
              <a:rPr lang="en-US" sz="2963"/>
              <a:t>Vektor output:</a:t>
            </a:r>
            <a:endParaRPr lang="en-US" sz="2963" i="1"/>
          </a:p>
        </p:txBody>
      </p:sp>
      <p:graphicFrame>
        <p:nvGraphicFramePr>
          <p:cNvPr id="3075" name="Object 8"/>
          <p:cNvGraphicFramePr>
            <a:graphicFrameLocks noChangeAspect="1"/>
          </p:cNvGraphicFramePr>
          <p:nvPr/>
        </p:nvGraphicFramePr>
        <p:xfrm>
          <a:off x="2667841" y="3815415"/>
          <a:ext cx="4897371" cy="756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5" imgW="1459866" imgH="253890" progId="Equation.3">
                  <p:embed/>
                </p:oleObj>
              </mc:Choice>
              <mc:Fallback>
                <p:oleObj name="Equation" r:id="rId5" imgW="1459866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841" y="3815415"/>
                        <a:ext cx="4897371" cy="756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5"/>
          <p:cNvGraphicFramePr>
            <a:graphicFrameLocks noChangeAspect="1"/>
          </p:cNvGraphicFramePr>
          <p:nvPr/>
        </p:nvGraphicFramePr>
        <p:xfrm>
          <a:off x="2689682" y="5334188"/>
          <a:ext cx="1873266" cy="604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7" imgW="558558" imgH="203112" progId="Equation.3">
                  <p:embed/>
                </p:oleObj>
              </mc:Choice>
              <mc:Fallback>
                <p:oleObj name="Equation" r:id="rId7" imgW="55855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682" y="5334188"/>
                        <a:ext cx="1873266" cy="604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246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ChangeArrowheads="1"/>
          </p:cNvSpPr>
          <p:nvPr/>
        </p:nvSpPr>
        <p:spPr bwMode="auto">
          <a:xfrm>
            <a:off x="4414838" y="4895663"/>
            <a:ext cx="3271837" cy="1359086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 sz="1905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Perceptron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14475"/>
            <a:ext cx="10515600" cy="5043488"/>
          </a:xfrm>
        </p:spPr>
        <p:txBody>
          <a:bodyPr>
            <a:normAutofit fontScale="85000" lnSpcReduction="20000"/>
          </a:bodyPr>
          <a:lstStyle/>
          <a:p>
            <a:pPr marL="290313" indent="-290313">
              <a:lnSpc>
                <a:spcPct val="80000"/>
              </a:lnSpc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3600" dirty="0" err="1"/>
              <a:t>Aturan</a:t>
            </a:r>
            <a:r>
              <a:rPr lang="en-US" sz="3600" dirty="0"/>
              <a:t> </a:t>
            </a:r>
            <a:r>
              <a:rPr lang="en-US" sz="3600" dirty="0" err="1"/>
              <a:t>Pembelajaran</a:t>
            </a:r>
            <a:r>
              <a:rPr lang="en-US" sz="3600" dirty="0"/>
              <a:t> (</a:t>
            </a:r>
            <a:r>
              <a:rPr lang="en-US" sz="3600" i="1" dirty="0"/>
              <a:t>Learning Rule</a:t>
            </a:r>
            <a:r>
              <a:rPr lang="en-US" sz="3600" dirty="0"/>
              <a:t>)</a:t>
            </a:r>
          </a:p>
          <a:p>
            <a:pPr marL="677397" lvl="1" indent="-261282">
              <a:lnSpc>
                <a:spcPct val="80000"/>
              </a:lnSpc>
              <a:buNone/>
              <a:defRPr/>
            </a:pPr>
            <a:r>
              <a:rPr lang="en-US" sz="3600" i="1" dirty="0"/>
              <a:t>Error </a:t>
            </a:r>
            <a:r>
              <a:rPr lang="en-US" sz="3600" dirty="0"/>
              <a:t>e (</a:t>
            </a:r>
            <a:r>
              <a:rPr lang="en-US" sz="3600" dirty="0" err="1"/>
              <a:t>sinyal</a:t>
            </a:r>
            <a:r>
              <a:rPr lang="en-US" sz="3600" dirty="0"/>
              <a:t> </a:t>
            </a:r>
            <a:r>
              <a:rPr lang="en-US" sz="3600" dirty="0" err="1"/>
              <a:t>kesalahan</a:t>
            </a:r>
            <a:r>
              <a:rPr lang="en-US" sz="3600" dirty="0"/>
              <a:t>) </a:t>
            </a:r>
            <a:r>
              <a:rPr lang="en-US" sz="3600" dirty="0" err="1"/>
              <a:t>dinyatakan</a:t>
            </a:r>
            <a:r>
              <a:rPr lang="en-US" sz="3600" dirty="0"/>
              <a:t> </a:t>
            </a:r>
            <a:r>
              <a:rPr lang="en-US" sz="3600" dirty="0" err="1" smtClean="0"/>
              <a:t>sbb</a:t>
            </a:r>
            <a:r>
              <a:rPr lang="en-US" sz="3600" dirty="0" smtClean="0"/>
              <a:t>:</a:t>
            </a:r>
            <a:endParaRPr lang="id-ID" sz="3600" dirty="0" smtClean="0"/>
          </a:p>
          <a:p>
            <a:pPr marL="677397" lvl="1" indent="-261282">
              <a:lnSpc>
                <a:spcPct val="80000"/>
              </a:lnSpc>
              <a:buNone/>
              <a:defRPr/>
            </a:pPr>
            <a:endParaRPr lang="id-ID" dirty="0"/>
          </a:p>
          <a:p>
            <a:pPr marL="677397" lvl="1" indent="-261282">
              <a:lnSpc>
                <a:spcPct val="80000"/>
              </a:lnSpc>
              <a:buNone/>
              <a:defRPr/>
            </a:pPr>
            <a:r>
              <a:rPr lang="en-US" sz="3300" b="1" dirty="0" smtClean="0"/>
              <a:t>e </a:t>
            </a:r>
            <a:r>
              <a:rPr lang="en-US" sz="3300" b="1" dirty="0"/>
              <a:t>= t – y</a:t>
            </a:r>
          </a:p>
          <a:p>
            <a:pPr marL="290313" indent="-290313">
              <a:lnSpc>
                <a:spcPct val="80000"/>
              </a:lnSpc>
              <a:buClr>
                <a:schemeClr val="accent3"/>
              </a:buClr>
              <a:buNone/>
              <a:defRPr/>
            </a:pPr>
            <a:r>
              <a:rPr lang="en-US" sz="2963" dirty="0"/>
              <a:t>	</a:t>
            </a:r>
            <a:r>
              <a:rPr lang="en-US" sz="3100" dirty="0" err="1"/>
              <a:t>dimana</a:t>
            </a:r>
            <a:r>
              <a:rPr lang="en-US" sz="3100" dirty="0"/>
              <a:t> :</a:t>
            </a:r>
          </a:p>
          <a:p>
            <a:pPr marL="677397" lvl="1" indent="-261282">
              <a:lnSpc>
                <a:spcPct val="80000"/>
              </a:lnSpc>
              <a:buFont typeface="Wingdings 2"/>
              <a:buChar char=""/>
              <a:defRPr/>
            </a:pPr>
            <a:r>
              <a:rPr lang="en-US" sz="3100" dirty="0" err="1"/>
              <a:t>Jika</a:t>
            </a:r>
            <a:r>
              <a:rPr lang="en-US" sz="3100" dirty="0"/>
              <a:t> e = 1 , </a:t>
            </a:r>
            <a:r>
              <a:rPr lang="en-US" sz="3100" dirty="0" err="1"/>
              <a:t>maka</a:t>
            </a:r>
            <a:r>
              <a:rPr lang="en-US" sz="3100" dirty="0"/>
              <a:t> </a:t>
            </a:r>
            <a:r>
              <a:rPr lang="en-US" sz="3100" dirty="0" err="1"/>
              <a:t>w</a:t>
            </a:r>
            <a:r>
              <a:rPr lang="en-US" sz="3100" baseline="30000" dirty="0" err="1"/>
              <a:t>baru</a:t>
            </a:r>
            <a:r>
              <a:rPr lang="en-US" sz="3100" dirty="0"/>
              <a:t> = </a:t>
            </a:r>
            <a:r>
              <a:rPr lang="en-US" sz="3100" dirty="0" err="1"/>
              <a:t>w</a:t>
            </a:r>
            <a:r>
              <a:rPr lang="en-US" sz="3100" baseline="30000" dirty="0" err="1"/>
              <a:t>lama</a:t>
            </a:r>
            <a:r>
              <a:rPr lang="en-US" sz="3100" dirty="0"/>
              <a:t>  + x			( 1 )</a:t>
            </a:r>
          </a:p>
          <a:p>
            <a:pPr marL="677397" lvl="1" indent="-261282">
              <a:lnSpc>
                <a:spcPct val="80000"/>
              </a:lnSpc>
              <a:buFont typeface="Wingdings 2"/>
              <a:buChar char=""/>
              <a:defRPr/>
            </a:pPr>
            <a:r>
              <a:rPr lang="en-US" sz="3100" dirty="0" err="1"/>
              <a:t>Jika</a:t>
            </a:r>
            <a:r>
              <a:rPr lang="en-US" sz="3100" dirty="0"/>
              <a:t> e = -1 , </a:t>
            </a:r>
            <a:r>
              <a:rPr lang="en-US" sz="3100" dirty="0" err="1"/>
              <a:t>maka</a:t>
            </a:r>
            <a:r>
              <a:rPr lang="en-US" sz="3100" dirty="0"/>
              <a:t> </a:t>
            </a:r>
            <a:r>
              <a:rPr lang="en-US" sz="3100" dirty="0" err="1"/>
              <a:t>w</a:t>
            </a:r>
            <a:r>
              <a:rPr lang="en-US" sz="3100" baseline="30000" dirty="0" err="1"/>
              <a:t>baru</a:t>
            </a:r>
            <a:r>
              <a:rPr lang="en-US" sz="3100" dirty="0"/>
              <a:t> = </a:t>
            </a:r>
            <a:r>
              <a:rPr lang="en-US" sz="3100" dirty="0" err="1"/>
              <a:t>w</a:t>
            </a:r>
            <a:r>
              <a:rPr lang="en-US" sz="3100" baseline="30000" dirty="0" err="1"/>
              <a:t>lama</a:t>
            </a:r>
            <a:r>
              <a:rPr lang="en-US" sz="3100" dirty="0"/>
              <a:t> – x			( 2 )</a:t>
            </a:r>
          </a:p>
          <a:p>
            <a:pPr marL="677397" lvl="1" indent="-261282">
              <a:lnSpc>
                <a:spcPct val="80000"/>
              </a:lnSpc>
              <a:buFont typeface="Wingdings 2"/>
              <a:buChar char=""/>
              <a:defRPr/>
            </a:pPr>
            <a:r>
              <a:rPr lang="en-US" sz="3100" dirty="0" err="1"/>
              <a:t>Jika</a:t>
            </a:r>
            <a:r>
              <a:rPr lang="en-US" sz="3100" dirty="0"/>
              <a:t> e = 0 , </a:t>
            </a:r>
            <a:r>
              <a:rPr lang="en-US" sz="3100" dirty="0" err="1"/>
              <a:t>maka</a:t>
            </a:r>
            <a:r>
              <a:rPr lang="en-US" sz="3100" dirty="0"/>
              <a:t> </a:t>
            </a:r>
            <a:r>
              <a:rPr lang="en-US" sz="3100" dirty="0" err="1"/>
              <a:t>w</a:t>
            </a:r>
            <a:r>
              <a:rPr lang="en-US" sz="3100" baseline="30000" dirty="0" err="1"/>
              <a:t>baru</a:t>
            </a:r>
            <a:r>
              <a:rPr lang="en-US" sz="3100" dirty="0"/>
              <a:t> = </a:t>
            </a:r>
            <a:r>
              <a:rPr lang="en-US" sz="3100" dirty="0" err="1"/>
              <a:t>w</a:t>
            </a:r>
            <a:r>
              <a:rPr lang="en-US" sz="3100" baseline="30000" dirty="0" err="1"/>
              <a:t>lama</a:t>
            </a:r>
            <a:r>
              <a:rPr lang="en-US" sz="3100" dirty="0"/>
              <a:t> 			</a:t>
            </a:r>
            <a:r>
              <a:rPr lang="en-US" sz="3100" dirty="0" smtClean="0"/>
              <a:t>( </a:t>
            </a:r>
            <a:r>
              <a:rPr lang="en-US" sz="3100" dirty="0"/>
              <a:t>3 )</a:t>
            </a:r>
          </a:p>
          <a:p>
            <a:pPr marL="290313" indent="-290313">
              <a:lnSpc>
                <a:spcPct val="80000"/>
              </a:lnSpc>
              <a:buClr>
                <a:schemeClr val="accent3"/>
              </a:buClr>
              <a:buFont typeface="Wingdings 2"/>
              <a:buChar char=""/>
              <a:defRPr/>
            </a:pPr>
            <a:endParaRPr lang="en-US" sz="2963" dirty="0"/>
          </a:p>
          <a:p>
            <a:pPr marL="290313" indent="-290313" algn="ctr">
              <a:lnSpc>
                <a:spcPct val="80000"/>
              </a:lnSpc>
              <a:buClr>
                <a:schemeClr val="accent3"/>
              </a:buClr>
              <a:buNone/>
              <a:defRPr/>
            </a:pPr>
            <a:endParaRPr lang="en-US" sz="2963" dirty="0"/>
          </a:p>
          <a:p>
            <a:pPr marL="290313" indent="-290313" algn="ctr">
              <a:lnSpc>
                <a:spcPct val="80000"/>
              </a:lnSpc>
              <a:buClr>
                <a:schemeClr val="accent3"/>
              </a:buClr>
              <a:buNone/>
              <a:defRPr/>
            </a:pPr>
            <a:endParaRPr lang="id-ID" sz="2963" dirty="0" smtClean="0"/>
          </a:p>
          <a:p>
            <a:pPr marL="290313" indent="-290313" algn="ctr">
              <a:lnSpc>
                <a:spcPct val="80000"/>
              </a:lnSpc>
              <a:buClr>
                <a:schemeClr val="accent3"/>
              </a:buClr>
              <a:buNone/>
              <a:defRPr/>
            </a:pPr>
            <a:r>
              <a:rPr lang="en-US" sz="2963" dirty="0" err="1" smtClean="0"/>
              <a:t>w</a:t>
            </a:r>
            <a:r>
              <a:rPr lang="en-US" sz="2963" baseline="30000" dirty="0" err="1" smtClean="0"/>
              <a:t>baru</a:t>
            </a:r>
            <a:r>
              <a:rPr lang="en-US" sz="2963" dirty="0" smtClean="0"/>
              <a:t> </a:t>
            </a:r>
            <a:r>
              <a:rPr lang="en-US" sz="2963" dirty="0"/>
              <a:t>= </a:t>
            </a:r>
            <a:r>
              <a:rPr lang="en-US" sz="2963" dirty="0" err="1"/>
              <a:t>w</a:t>
            </a:r>
            <a:r>
              <a:rPr lang="en-US" sz="2963" baseline="30000" dirty="0" err="1"/>
              <a:t>lama</a:t>
            </a:r>
            <a:r>
              <a:rPr lang="en-US" sz="2963" dirty="0"/>
              <a:t> + </a:t>
            </a:r>
            <a:r>
              <a:rPr lang="en-US" sz="2963" dirty="0" err="1"/>
              <a:t>e.x</a:t>
            </a:r>
            <a:endParaRPr lang="en-US" sz="2963" dirty="0"/>
          </a:p>
          <a:p>
            <a:pPr marL="290313" indent="-290313">
              <a:lnSpc>
                <a:spcPct val="80000"/>
              </a:lnSpc>
              <a:buClr>
                <a:schemeClr val="accent3"/>
              </a:buClr>
              <a:buFont typeface="Wingdings 2"/>
              <a:buChar char=""/>
              <a:defRPr/>
            </a:pPr>
            <a:endParaRPr lang="en-US" sz="2963" dirty="0"/>
          </a:p>
          <a:p>
            <a:pPr marL="290313" indent="-290313" algn="ctr">
              <a:lnSpc>
                <a:spcPct val="80000"/>
              </a:lnSpc>
              <a:buClr>
                <a:schemeClr val="accent3"/>
              </a:buClr>
              <a:buNone/>
              <a:defRPr/>
            </a:pPr>
            <a:r>
              <a:rPr lang="en-US" sz="2963" dirty="0" err="1"/>
              <a:t>b</a:t>
            </a:r>
            <a:r>
              <a:rPr lang="en-US" sz="2963" baseline="30000" dirty="0" err="1"/>
              <a:t>baru</a:t>
            </a:r>
            <a:r>
              <a:rPr lang="en-US" sz="2963" dirty="0"/>
              <a:t> = </a:t>
            </a:r>
            <a:r>
              <a:rPr lang="en-US" sz="2963" dirty="0" err="1"/>
              <a:t>b</a:t>
            </a:r>
            <a:r>
              <a:rPr lang="en-US" sz="2963" baseline="30000" dirty="0" err="1"/>
              <a:t>lama</a:t>
            </a:r>
            <a:r>
              <a:rPr lang="en-US" sz="2963" dirty="0"/>
              <a:t>  + e</a:t>
            </a:r>
          </a:p>
          <a:p>
            <a:pPr marL="677397" lvl="1" indent="-261282" algn="ctr">
              <a:lnSpc>
                <a:spcPct val="80000"/>
              </a:lnSpc>
              <a:buNone/>
              <a:defRPr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63648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smtClean="0"/>
              <a:t>Keterangan Variabel-Variabel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>
              <a:buFont typeface="Times New Roman" pitchFamily="18" charset="0"/>
              <a:buNone/>
            </a:pPr>
            <a:r>
              <a:rPr lang="en-US" dirty="0" smtClean="0"/>
              <a:t>e	= error</a:t>
            </a:r>
          </a:p>
          <a:p>
            <a:pPr eaLnBrk="1">
              <a:buFont typeface="Times New Roman" pitchFamily="18" charset="0"/>
              <a:buNone/>
            </a:pPr>
            <a:r>
              <a:rPr lang="en-US" dirty="0" smtClean="0"/>
              <a:t>t	= target</a:t>
            </a:r>
          </a:p>
          <a:p>
            <a:pPr eaLnBrk="1">
              <a:buFont typeface="Times New Roman" pitchFamily="18" charset="0"/>
              <a:buNone/>
            </a:pPr>
            <a:r>
              <a:rPr lang="en-US" dirty="0" smtClean="0"/>
              <a:t>x	= input</a:t>
            </a:r>
          </a:p>
          <a:p>
            <a:pPr eaLnBrk="1">
              <a:buFont typeface="Times New Roman" pitchFamily="18" charset="0"/>
              <a:buNone/>
            </a:pPr>
            <a:r>
              <a:rPr lang="en-US" dirty="0" smtClean="0"/>
              <a:t>y	= output</a:t>
            </a:r>
          </a:p>
          <a:p>
            <a:pPr eaLnBrk="1">
              <a:buFont typeface="Times New Roman" pitchFamily="18" charset="0"/>
              <a:buNone/>
            </a:pPr>
            <a:r>
              <a:rPr lang="id-ID" dirty="0"/>
              <a:t>w</a:t>
            </a:r>
            <a:r>
              <a:rPr lang="id-ID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bobot</a:t>
            </a:r>
            <a:r>
              <a:rPr lang="en-US" dirty="0" smtClean="0"/>
              <a:t> </a:t>
            </a:r>
          </a:p>
          <a:p>
            <a:pPr eaLnBrk="1">
              <a:buFont typeface="Times New Roman" pitchFamily="18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19444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Kasus Fungsi Logika 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771968"/>
              </p:ext>
            </p:extLst>
          </p:nvPr>
        </p:nvGraphicFramePr>
        <p:xfrm>
          <a:off x="2481260" y="1825625"/>
          <a:ext cx="4862514" cy="4024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838"/>
                <a:gridCol w="1620838"/>
                <a:gridCol w="1620838"/>
              </a:tblGrid>
              <a:tr h="80486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X1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X2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 marL="159987" marR="159987"/>
                </a:tc>
              </a:tr>
              <a:tr h="80486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marL="159987" marR="159987"/>
                </a:tc>
              </a:tr>
              <a:tr h="80486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159987" marR="159987"/>
                </a:tc>
              </a:tr>
              <a:tr h="80486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159987" marR="159987"/>
                </a:tc>
              </a:tr>
              <a:tr h="80486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159987" marR="1599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159987" marR="159987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305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Algoritma Pelatihan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447800"/>
            <a:ext cx="7772400" cy="519588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err="1" smtClean="0"/>
              <a:t>Inisialisasi</a:t>
            </a:r>
            <a:r>
              <a:rPr lang="en-US" dirty="0" smtClean="0"/>
              <a:t> </a:t>
            </a:r>
            <a:r>
              <a:rPr lang="en-US" dirty="0" err="1" smtClean="0"/>
              <a:t>laju</a:t>
            </a:r>
            <a:r>
              <a:rPr lang="en-US" dirty="0" smtClean="0"/>
              <a:t> </a:t>
            </a:r>
            <a:r>
              <a:rPr lang="en-US" dirty="0" err="1" smtClean="0"/>
              <a:t>pembelajaran</a:t>
            </a:r>
            <a:r>
              <a:rPr lang="en-US" dirty="0" smtClean="0"/>
              <a:t> (α),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ambang</a:t>
            </a:r>
            <a:r>
              <a:rPr lang="en-US" dirty="0" smtClean="0"/>
              <a:t> (</a:t>
            </a:r>
            <a:r>
              <a:rPr lang="en-US" sz="2000" dirty="0">
                <a:ea typeface="Cambria Math" panose="02040503050406030204" pitchFamily="18" charset="0"/>
                <a:cs typeface="Cambria Math" panose="02040503050406030204" pitchFamily="18" charset="0"/>
              </a:rPr>
              <a:t>𝛉</a:t>
            </a:r>
            <a:r>
              <a:rPr lang="en-US" dirty="0" smtClean="0"/>
              <a:t>), </a:t>
            </a:r>
            <a:r>
              <a:rPr lang="en-US" dirty="0" err="1" smtClean="0"/>
              <a:t>bobot</a:t>
            </a:r>
            <a:r>
              <a:rPr lang="id-ID" dirty="0" smtClean="0"/>
              <a:t> (w)</a:t>
            </a:r>
            <a:r>
              <a:rPr lang="en-US" dirty="0" smtClean="0"/>
              <a:t>, </a:t>
            </a:r>
            <a:r>
              <a:rPr lang="en-US" dirty="0" smtClean="0"/>
              <a:t>bias</a:t>
            </a:r>
          </a:p>
          <a:p>
            <a:pPr eaLnBrk="1" hangingPunct="1"/>
            <a:r>
              <a:rPr lang="en-US" dirty="0" err="1" smtClean="0"/>
              <a:t>Menghitung</a:t>
            </a:r>
            <a:r>
              <a:rPr lang="en-US" dirty="0" smtClean="0"/>
              <a:t> 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err="1" smtClean="0"/>
              <a:t>Menghitung</a:t>
            </a:r>
            <a:r>
              <a:rPr lang="en-US" dirty="0" smtClean="0"/>
              <a:t> 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err="1" smtClean="0"/>
              <a:t>Jika</a:t>
            </a:r>
            <a:r>
              <a:rPr lang="en-US" dirty="0" smtClean="0"/>
              <a:t> y ≠ target, </a:t>
            </a:r>
            <a:r>
              <a:rPr lang="en-US" dirty="0" err="1" smtClean="0"/>
              <a:t>lakukan</a:t>
            </a:r>
            <a:r>
              <a:rPr lang="en-US" dirty="0" smtClean="0"/>
              <a:t> update </a:t>
            </a:r>
            <a:r>
              <a:rPr lang="en-US" dirty="0" err="1" smtClean="0"/>
              <a:t>bobot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bias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dirty="0" smtClean="0"/>
              <a:t>	Wi </a:t>
            </a:r>
            <a:r>
              <a:rPr lang="en-US" dirty="0" err="1" smtClean="0"/>
              <a:t>baru</a:t>
            </a:r>
            <a:r>
              <a:rPr lang="en-US" dirty="0" smtClean="0"/>
              <a:t> = </a:t>
            </a:r>
            <a:r>
              <a:rPr lang="en-US" dirty="0" err="1" smtClean="0"/>
              <a:t>Wlama</a:t>
            </a:r>
            <a:r>
              <a:rPr lang="en-US" dirty="0" smtClean="0"/>
              <a:t> + α.</a:t>
            </a:r>
            <a:r>
              <a:rPr lang="en-US" dirty="0" err="1" smtClean="0"/>
              <a:t>t.Xi</a:t>
            </a:r>
            <a:endParaRPr lang="en-US" dirty="0" smtClean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dirty="0" smtClean="0"/>
              <a:t>	b </a:t>
            </a:r>
            <a:r>
              <a:rPr lang="en-US" dirty="0" err="1" smtClean="0"/>
              <a:t>baru</a:t>
            </a:r>
            <a:r>
              <a:rPr lang="en-US" dirty="0" smtClean="0"/>
              <a:t> = b lama + α.t</a:t>
            </a:r>
          </a:p>
          <a:p>
            <a:pPr eaLnBrk="1" hangingPunct="1"/>
            <a:r>
              <a:rPr lang="en-US" dirty="0" err="1" smtClean="0"/>
              <a:t>Ulang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langkah</a:t>
            </a:r>
            <a:r>
              <a:rPr lang="en-US" dirty="0" smtClean="0"/>
              <a:t> 2 </a:t>
            </a:r>
            <a:r>
              <a:rPr lang="en-US" dirty="0" err="1" smtClean="0"/>
              <a:t>sampai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update </a:t>
            </a:r>
            <a:r>
              <a:rPr lang="en-US" dirty="0" err="1" smtClean="0"/>
              <a:t>bobot</a:t>
            </a:r>
            <a:r>
              <a:rPr lang="en-US" dirty="0" smtClean="0"/>
              <a:t> </a:t>
            </a:r>
            <a:r>
              <a:rPr lang="en-US" dirty="0" err="1" smtClean="0"/>
              <a:t>lagi</a:t>
            </a:r>
            <a:endParaRPr lang="en-US" dirty="0" smtClean="0"/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1" y="2070871"/>
            <a:ext cx="1910217" cy="88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799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3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4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5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6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7" name="Picture 9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4563246" y="3060645"/>
            <a:ext cx="3617912" cy="672884"/>
            <a:chOff x="2869" y="1570"/>
            <a:chExt cx="2279" cy="716"/>
          </a:xfrm>
        </p:grpSpPr>
        <p:graphicFrame>
          <p:nvGraphicFramePr>
            <p:cNvPr id="2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7307290"/>
                </p:ext>
              </p:extLst>
            </p:nvPr>
          </p:nvGraphicFramePr>
          <p:xfrm>
            <a:off x="2869" y="1797"/>
            <a:ext cx="838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Equation" r:id="rId6" imgW="469800" imgH="203040" progId="Equation.3">
                    <p:embed/>
                  </p:oleObj>
                </mc:Choice>
                <mc:Fallback>
                  <p:oleObj name="Equation" r:id="rId6" imgW="4698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9" y="1797"/>
                          <a:ext cx="838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4"/>
            <p:cNvGraphicFramePr>
              <a:graphicFrameLocks noChangeAspect="1"/>
            </p:cNvGraphicFramePr>
            <p:nvPr/>
          </p:nvGraphicFramePr>
          <p:xfrm>
            <a:off x="4059" y="1570"/>
            <a:ext cx="1089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Equation" r:id="rId8" imgW="1002865" imgH="660113" progId="Equation.3">
                    <p:embed/>
                  </p:oleObj>
                </mc:Choice>
                <mc:Fallback>
                  <p:oleObj name="Equation" r:id="rId8" imgW="1002865" imgH="6601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1570"/>
                          <a:ext cx="1089" cy="7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AutoShape 11"/>
            <p:cNvSpPr>
              <a:spLocks/>
            </p:cNvSpPr>
            <p:nvPr/>
          </p:nvSpPr>
          <p:spPr bwMode="auto">
            <a:xfrm>
              <a:off x="3606" y="1570"/>
              <a:ext cx="216" cy="681"/>
            </a:xfrm>
            <a:prstGeom prst="leftBrace">
              <a:avLst>
                <a:gd name="adj1" fmla="val 26273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>
                <a:latin typeface="Century Schoolbook" panose="020406040505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3444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d-ID" dirty="0" smtClean="0"/>
              <a:t>Implementasi Perceptron dengan python</a:t>
            </a:r>
            <a:endParaRPr lang="en-US" dirty="0" smtClean="0"/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2743200"/>
            <a:ext cx="7772400" cy="3900488"/>
          </a:xfrm>
        </p:spPr>
        <p:txBody>
          <a:bodyPr>
            <a:normAutofit/>
          </a:bodyPr>
          <a:lstStyle/>
          <a:p>
            <a:pPr eaLnBrk="1" hangingPunct="1"/>
            <a:r>
              <a:rPr lang="id-ID" dirty="0" smtClean="0"/>
              <a:t>Jobsheet</a:t>
            </a:r>
            <a:endParaRPr lang="en-US" dirty="0" smtClean="0"/>
          </a:p>
        </p:txBody>
      </p:sp>
      <p:sp>
        <p:nvSpPr>
          <p:cNvPr id="3379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799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1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3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4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5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6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3807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857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6071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5400" dirty="0"/>
          </a:p>
          <a:p>
            <a:pPr marL="0" indent="0" algn="ctr">
              <a:buNone/>
            </a:pPr>
            <a:r>
              <a:rPr lang="en-US" sz="5400" dirty="0" err="1" smtClean="0"/>
              <a:t>Selesai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83621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1813</TotalTime>
  <Words>748</Words>
  <Application>Microsoft Office PowerPoint</Application>
  <PresentationFormat>Widescreen</PresentationFormat>
  <Paragraphs>186</Paragraphs>
  <Slides>34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Century Schoolbook</vt:lpstr>
      <vt:lpstr>Lucida Sans Unicode</vt:lpstr>
      <vt:lpstr>Times New Roman</vt:lpstr>
      <vt:lpstr>Wingdings</vt:lpstr>
      <vt:lpstr>Wingdings 2</vt:lpstr>
      <vt:lpstr>Office Theme</vt:lpstr>
      <vt:lpstr>Microsoft Equation 3.0</vt:lpstr>
      <vt:lpstr>Microsoft Visio Drawing</vt:lpstr>
      <vt:lpstr>Cognitive Computation RTI174005  Connectionism – Perceptron</vt:lpstr>
      <vt:lpstr>Kontrak Kuliah</vt:lpstr>
      <vt:lpstr>Kontrak Kuliah</vt:lpstr>
      <vt:lpstr>Connectionism Jaringan Saraf Tiruan</vt:lpstr>
      <vt:lpstr>Jaringan Syaraf Biologis</vt:lpstr>
      <vt:lpstr>Sel Syaraf (Neuron) </vt:lpstr>
      <vt:lpstr>Sel Syaraf (Neuron)</vt:lpstr>
      <vt:lpstr>Jaringan Syaraf Tiruan</vt:lpstr>
      <vt:lpstr>Analogi JST dengan JSB</vt:lpstr>
      <vt:lpstr>Model Struktur Neuron JST</vt:lpstr>
      <vt:lpstr>Model Sel Syaraf (Neuron)</vt:lpstr>
      <vt:lpstr>Model Sel Syaraf (Neuron)</vt:lpstr>
      <vt:lpstr>SUMMATION FUNCTION</vt:lpstr>
      <vt:lpstr>SUMMATION FUNCTION</vt:lpstr>
      <vt:lpstr>Fungsi aktivasi</vt:lpstr>
      <vt:lpstr>Hard Limit </vt:lpstr>
      <vt:lpstr>Symetric Hard Limit</vt:lpstr>
      <vt:lpstr>Fungsi Linier (Identitas)</vt:lpstr>
      <vt:lpstr>Symetric Saturating Linear</vt:lpstr>
      <vt:lpstr>Proses Pembelajaran Jaringan</vt:lpstr>
      <vt:lpstr>Proses Pembelajaran Jaringan</vt:lpstr>
      <vt:lpstr>Proses Pembelajaran Jaringan</vt:lpstr>
      <vt:lpstr>Model Jaringan Syaraf Tiruan</vt:lpstr>
      <vt:lpstr>Perceptron</vt:lpstr>
      <vt:lpstr>Perceptron</vt:lpstr>
      <vt:lpstr>Perceptron</vt:lpstr>
      <vt:lpstr>Perceptron</vt:lpstr>
      <vt:lpstr>Perceptron</vt:lpstr>
      <vt:lpstr>Perceptron</vt:lpstr>
      <vt:lpstr>Keterangan Variabel-Variabel</vt:lpstr>
      <vt:lpstr>Contoh Kasus Fungsi Logika OR</vt:lpstr>
      <vt:lpstr>Algoritma Pelatihan</vt:lpstr>
      <vt:lpstr>Implementasi Perceptron dengan python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Computation RTI174005  Pengenalan Cognitive Computing</dc:title>
  <dc:creator>User</dc:creator>
  <cp:lastModifiedBy>firdaus khan</cp:lastModifiedBy>
  <cp:revision>43</cp:revision>
  <dcterms:created xsi:type="dcterms:W3CDTF">2019-02-04T03:02:34Z</dcterms:created>
  <dcterms:modified xsi:type="dcterms:W3CDTF">2019-02-09T16:28:15Z</dcterms:modified>
</cp:coreProperties>
</file>