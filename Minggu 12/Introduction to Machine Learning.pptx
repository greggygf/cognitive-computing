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notesSlides/_rels/notesSlide40.xml.rels" ContentType="application/vnd.openxmlformats-package.relationships+xml"/>
  <Override PartName="/ppt/notesSlides/_rels/notesSlide39.xml.rels" ContentType="application/vnd.openxmlformats-package.relationships+xml"/>
  <Override PartName="/ppt/notesSlides/notesSlide40.xml" ContentType="application/vnd.openxmlformats-officedocument.presentationml.notesSlide+xml"/>
  <Override PartName="/ppt/notesSlides/notesSlide39.xml" ContentType="application/vnd.openxmlformats-officedocument.presentationml.notesSlide+xml"/>
  <Override PartName="/ppt/_rels/presentation.xml.rels" ContentType="application/vnd.openxmlformats-package.relationships+xml"/>
  <Override PartName="/ppt/media/image42.png" ContentType="image/png"/>
  <Override PartName="/ppt/media/image40.png" ContentType="image/png"/>
  <Override PartName="/ppt/media/image37.png" ContentType="image/png"/>
  <Override PartName="/ppt/media/image36.png" ContentType="image/png"/>
  <Override PartName="/ppt/media/image35.png" ContentType="image/png"/>
  <Override PartName="/ppt/media/image34.png" ContentType="image/png"/>
  <Override PartName="/ppt/media/image33.png" ContentType="image/png"/>
  <Override PartName="/ppt/media/image32.png" ContentType="image/png"/>
  <Override PartName="/ppt/media/image31.png" ContentType="image/png"/>
  <Override PartName="/ppt/media/image30.png" ContentType="image/png"/>
  <Override PartName="/ppt/media/image29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9.png" ContentType="image/png"/>
  <Override PartName="/ppt/media/image10.png" ContentType="image/png"/>
  <Override PartName="/ppt/media/image23.png" ContentType="image/png"/>
  <Override PartName="/ppt/media/image8.png" ContentType="image/png"/>
  <Override PartName="/ppt/media/image41.png" ContentType="image/png"/>
  <Override PartName="/ppt/media/image16.jpeg" ContentType="image/jpeg"/>
  <Override PartName="/ppt/media/image1.jpeg" ContentType="image/jpeg"/>
  <Override PartName="/ppt/media/image11.png" ContentType="image/png"/>
  <Override PartName="/ppt/media/image38.png" ContentType="image/png"/>
  <Override PartName="/ppt/media/image19.jpeg" ContentType="image/jpeg"/>
  <Override PartName="/ppt/media/image6.png" ContentType="image/png"/>
  <Override PartName="/ppt/media/image21.png" ContentType="image/png"/>
  <Override PartName="/ppt/media/image28.png" ContentType="image/png"/>
  <Override PartName="/ppt/media/image18.jpeg" ContentType="image/jpeg"/>
  <Override PartName="/ppt/media/image3.jpeg" ContentType="image/jpeg"/>
  <Override PartName="/ppt/media/image39.png" ContentType="image/png"/>
  <Override PartName="/ppt/media/image4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2.jpeg" ContentType="image/jpeg"/>
  <Override PartName="/ppt/media/image17.jpeg" ContentType="image/jpeg"/>
  <Override PartName="/ppt/media/image5.png" ContentType="image/png"/>
  <Override PartName="/ppt/media/image20.png" ContentType="image/png"/>
  <Override PartName="/ppt/media/image7.png" ContentType="image/png"/>
  <Override PartName="/ppt/media/image22.png" ContentType="image/png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25.xml" ContentType="application/vnd.openxmlformats-officedocument.presentationml.slide+xml"/>
  <Override PartName="/ppt/slides/slide2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1.xml" ContentType="application/vnd.openxmlformats-officedocument.presentationml.slide+xml"/>
  <Override PartName="/ppt/slides/slide23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_rels/slide46.xml.rels" ContentType="application/vnd.openxmlformats-package.relationships+xml"/>
  <Override PartName="/ppt/slides/_rels/slide43.xml.rels" ContentType="application/vnd.openxmlformats-package.relationships+xml"/>
  <Override PartName="/ppt/slides/_rels/slide42.xml.rels" ContentType="application/vnd.openxmlformats-package.relationships+xml"/>
  <Override PartName="/ppt/slides/_rels/slide41.xml.rels" ContentType="application/vnd.openxmlformats-package.relationships+xml"/>
  <Override PartName="/ppt/slides/_rels/slide40.xml.rels" ContentType="application/vnd.openxmlformats-package.relationships+xml"/>
  <Override PartName="/ppt/slides/_rels/slide39.xml.rels" ContentType="application/vnd.openxmlformats-package.relationships+xml"/>
  <Override PartName="/ppt/slides/_rels/slide38.xml.rels" ContentType="application/vnd.openxmlformats-package.relationships+xml"/>
  <Override PartName="/ppt/slides/_rels/slide37.xml.rels" ContentType="application/vnd.openxmlformats-package.relationships+xml"/>
  <Override PartName="/ppt/slides/_rels/slide36.xml.rels" ContentType="application/vnd.openxmlformats-package.relationships+xml"/>
  <Override PartName="/ppt/slides/_rels/slide35.xml.rels" ContentType="application/vnd.openxmlformats-package.relationships+xml"/>
  <Override PartName="/ppt/slides/_rels/slide45.xml.rels" ContentType="application/vnd.openxmlformats-package.relationships+xml"/>
  <Override PartName="/ppt/slides/_rels/slide34.xml.rels" ContentType="application/vnd.openxmlformats-package.relationships+xml"/>
  <Override PartName="/ppt/slides/_rels/slide44.xml.rels" ContentType="application/vnd.openxmlformats-package.relationships+xml"/>
  <Override PartName="/ppt/slides/_rels/slide33.xml.rels" ContentType="application/vnd.openxmlformats-package.relationships+xml"/>
  <Override PartName="/ppt/slides/_rels/slide30.xml.rels" ContentType="application/vnd.openxmlformats-package.relationships+xml"/>
  <Override PartName="/ppt/slides/_rels/slide26.xml.rels" ContentType="application/vnd.openxmlformats-package.relationships+xml"/>
  <Override PartName="/ppt/slides/_rels/slide10.xml.rels" ContentType="application/vnd.openxmlformats-package.relationships+xml"/>
  <Override PartName="/ppt/slides/_rels/slide17.xml.rels" ContentType="application/vnd.openxmlformats-package.relationships+xml"/>
  <Override PartName="/ppt/slides/_rels/slide9.xml.rels" ContentType="application/vnd.openxmlformats-package.relationships+xml"/>
  <Override PartName="/ppt/slides/_rels/slide24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23.xml.rels" ContentType="application/vnd.openxmlformats-package.relationships+xml"/>
  <Override PartName="/ppt/slides/_rels/slide1.xml.rels" ContentType="application/vnd.openxmlformats-package.relationships+xml"/>
  <Override PartName="/ppt/slides/_rels/slide29.xml.rels" ContentType="application/vnd.openxmlformats-package.relationships+xml"/>
  <Override PartName="/ppt/slides/_rels/slide7.xml.rels" ContentType="application/vnd.openxmlformats-package.relationships+xml"/>
  <Override PartName="/ppt/slides/_rels/slide28.xml.rels" ContentType="application/vnd.openxmlformats-package.relationships+xml"/>
  <Override PartName="/ppt/slides/_rels/slide6.xml.rels" ContentType="application/vnd.openxmlformats-package.relationships+xml"/>
  <Override PartName="/ppt/slides/_rels/slide25.xml.rels" ContentType="application/vnd.openxmlformats-package.relationships+xml"/>
  <Override PartName="/ppt/slides/_rels/slide3.xml.rels" ContentType="application/vnd.openxmlformats-package.relationships+xml"/>
  <Override PartName="/ppt/slides/_rels/slide11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_rels/slide12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22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31.xml.rels" ContentType="application/vnd.openxmlformats-package.relationships+xml"/>
  <Override PartName="/ppt/slides/_rels/slide20.xml.rels" ContentType="application/vnd.openxmlformats-package.relationships+xml"/>
  <Override PartName="/ppt/slides/_rels/slide32.xml.rels" ContentType="application/vnd.openxmlformats-package.relationships+xml"/>
  <Override PartName="/ppt/slides/_rels/slide21.xml.rels" ContentType="application/vnd.openxmlformats-package.relationships+xml"/>
  <Override PartName="/ppt/slides/slide5.xml" ContentType="application/vnd.openxmlformats-officedocument.presentationml.slide+xml"/>
  <Override PartName="/ppt/slides/slide27.xml" ContentType="application/vnd.openxmlformats-officedocument.presentationml.slide+xml"/>
  <Override PartName="/ppt/slides/slide20.xml" ContentType="application/vnd.openxmlformats-officedocument.presentationml.slide+xml"/>
  <Override PartName="/ppt/slides/slide6.xml" ContentType="application/vnd.openxmlformats-officedocument.presentationml.slide+xml"/>
  <Override PartName="/ppt/slides/slide28.xml" ContentType="application/vnd.openxmlformats-officedocument.presentationml.slide+xml"/>
  <Override PartName="/ppt/slides/slide21.xml" ContentType="application/vnd.openxmlformats-officedocument.presentationml.slide+xml"/>
  <Override PartName="/ppt/slides/slide7.xml" ContentType="application/vnd.openxmlformats-officedocument.presentationml.slide+xml"/>
  <Override PartName="/ppt/slides/slide29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charts/chart4.xml" ContentType="application/vnd.openxmlformats-officedocument.drawingml.chart+xml"/>
  <Override PartName="/ppt/charts/chart3.xml" ContentType="application/vnd.openxmlformats-officedocument.drawingml.chart+xml"/>
  <Override PartName="/ppt/charts/chart2.xml" ContentType="application/vnd.openxmlformats-officedocument.drawingml.chart+xml"/>
  <Override PartName="/ppt/charts/chart1.xml" ContentType="application/vnd.openxmlformats-officedocument.drawingml.chart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slideMasters/slideMaster3.xml" ContentType="application/vnd.openxmlformats-officedocument.presentationml.slideMaster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.xml.rels" ContentType="application/vnd.openxmlformats-package.relationships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_rels/slideLayout3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1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x="12192000" cy="6858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Pixel Color</c:v>
                </c:pt>
              </c:strCache>
            </c:strRef>
          </c:tx>
          <c:spPr>
            <a:solidFill>
              <a:srgbClr val="e48312"/>
            </a:solidFill>
            <a:ln>
              <a:noFill/>
            </a:ln>
          </c:spPr>
          <c:invertIfNegative val="0"/>
          <c:dLbls>
            <c:numFmt formatCode="General" sourceLinked="1"/>
            <c:txPr>
              <a:bodyPr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</c:dLbls>
          <c:cat>
            <c:strRef>
              <c:f>categories</c:f>
              <c:strCache>
                <c:ptCount val="2"/>
                <c:pt idx="0">
                  <c:v>Banana</c:v>
                </c:pt>
                <c:pt idx="1">
                  <c:v>Apple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0.7</c:v>
                </c:pt>
                <c:pt idx="1">
                  <c:v>0.2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Shape</c:v>
                </c:pt>
              </c:strCache>
            </c:strRef>
          </c:tx>
          <c:spPr>
            <a:solidFill>
              <a:srgbClr val="bd582c"/>
            </a:solidFill>
            <a:ln>
              <a:noFill/>
            </a:ln>
          </c:spPr>
          <c:invertIfNegative val="0"/>
          <c:dLbls>
            <c:numFmt formatCode="General" sourceLinked="1"/>
            <c:txPr>
              <a:bodyPr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</c:dLbls>
          <c:cat>
            <c:strRef>
              <c:f>categories</c:f>
              <c:strCache>
                <c:ptCount val="2"/>
                <c:pt idx="0">
                  <c:v>Banana</c:v>
                </c:pt>
                <c:pt idx="1">
                  <c:v>Apple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2"/>
                <c:pt idx="0">
                  <c:v>0.8</c:v>
                </c:pt>
                <c:pt idx="1">
                  <c:v>0.3</c:v>
                </c:pt>
              </c:numCache>
            </c:numRef>
          </c:val>
        </c:ser>
        <c:gapWidth val="219"/>
        <c:overlap val="-27"/>
        <c:axId val="87518581"/>
        <c:axId val="53313544"/>
      </c:barChart>
      <c:catAx>
        <c:axId val="87518581"/>
        <c:scaling>
          <c:orientation val="minMax"/>
        </c:scaling>
        <c:delete val="0"/>
        <c:axPos val="b"/>
        <c:numFmt formatCode="[$-409]MM/DD/YYYY" sourceLinked="1"/>
        <c:majorTickMark val="none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sz="1197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53313544"/>
        <c:crosses val="autoZero"/>
        <c:auto val="1"/>
        <c:lblAlgn val="ctr"/>
        <c:lblOffset val="100"/>
      </c:catAx>
      <c:valAx>
        <c:axId val="53313544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b="0" sz="1197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87518581"/>
        <c:crosses val="autoZero"/>
      </c:valAx>
      <c:spPr>
        <a:noFill/>
        <a:ln>
          <a:noFill/>
        </a:ln>
      </c:spPr>
    </c:plotArea>
    <c:legend>
      <c:legendPos val="b"/>
      <c:overlay val="0"/>
      <c:spPr>
        <a:noFill/>
        <a:ln>
          <a:noFill/>
        </a:ln>
      </c:spPr>
      <c:txPr>
        <a:bodyPr/>
        <a:lstStyle/>
        <a:p>
          <a:pPr>
            <a:defRPr b="0" sz="1197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Pixel Color</c:v>
                </c:pt>
              </c:strCache>
            </c:strRef>
          </c:tx>
          <c:spPr>
            <a:solidFill>
              <a:srgbClr val="e48312"/>
            </a:solidFill>
            <a:ln>
              <a:noFill/>
            </a:ln>
          </c:spPr>
          <c:invertIfNegative val="0"/>
          <c:dLbls>
            <c:numFmt formatCode="General" sourceLinked="1"/>
            <c:txPr>
              <a:bodyPr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</c:dLbls>
          <c:cat>
            <c:strRef>
              <c:f>categories</c:f>
              <c:strCache>
                <c:ptCount val="3"/>
                <c:pt idx="0">
                  <c:v>Peach</c:v>
                </c:pt>
                <c:pt idx="1">
                  <c:v>Apple 1</c:v>
                </c:pt>
                <c:pt idx="2">
                  <c:v>Apple 2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0.25</c:v>
                </c:pt>
                <c:pt idx="1">
                  <c:v>0.2</c:v>
                </c:pt>
                <c:pt idx="2">
                  <c:v>0.3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Shape</c:v>
                </c:pt>
              </c:strCache>
            </c:strRef>
          </c:tx>
          <c:spPr>
            <a:solidFill>
              <a:srgbClr val="bd582c"/>
            </a:solidFill>
            <a:ln>
              <a:noFill/>
            </a:ln>
          </c:spPr>
          <c:invertIfNegative val="0"/>
          <c:dLbls>
            <c:numFmt formatCode="General" sourceLinked="1"/>
            <c:txPr>
              <a:bodyPr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</c:dLbls>
          <c:cat>
            <c:strRef>
              <c:f>categories</c:f>
              <c:strCache>
                <c:ptCount val="3"/>
                <c:pt idx="0">
                  <c:v>Peach</c:v>
                </c:pt>
                <c:pt idx="1">
                  <c:v>Apple 1</c:v>
                </c:pt>
                <c:pt idx="2">
                  <c:v>Apple 2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0.45</c:v>
                </c:pt>
                <c:pt idx="1">
                  <c:v>0.4</c:v>
                </c:pt>
                <c:pt idx="2">
                  <c:v>0.5</c:v>
                </c:pt>
              </c:numCache>
            </c:numRef>
          </c:val>
        </c:ser>
        <c:gapWidth val="219"/>
        <c:overlap val="-27"/>
        <c:axId val="23137727"/>
        <c:axId val="26202264"/>
      </c:barChart>
      <c:catAx>
        <c:axId val="23137727"/>
        <c:scaling>
          <c:orientation val="minMax"/>
        </c:scaling>
        <c:delete val="0"/>
        <c:axPos val="b"/>
        <c:numFmt formatCode="[$-409]MM/DD/YYYY" sourceLinked="1"/>
        <c:majorTickMark val="none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sz="1197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26202264"/>
        <c:crosses val="autoZero"/>
        <c:auto val="1"/>
        <c:lblAlgn val="ctr"/>
        <c:lblOffset val="100"/>
      </c:catAx>
      <c:valAx>
        <c:axId val="26202264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b="0" sz="1197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23137727"/>
        <c:crosses val="autoZero"/>
      </c:valAx>
      <c:spPr>
        <a:noFill/>
        <a:ln>
          <a:noFill/>
        </a:ln>
      </c:spPr>
    </c:plotArea>
    <c:legend>
      <c:legendPos val="b"/>
      <c:overlay val="0"/>
      <c:spPr>
        <a:noFill/>
        <a:ln>
          <a:noFill/>
        </a:ln>
      </c:spPr>
      <c:txPr>
        <a:bodyPr/>
        <a:lstStyle/>
        <a:p>
          <a:pPr>
            <a:defRPr b="0" sz="1197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plotArea>
      <c:scatterChart>
        <c:scatterStyle val="lineMarker"/>
        <c:varyColors val="0"/>
        <c:ser>
          <c:idx val="0"/>
          <c:order val="0"/>
          <c:spPr>
            <a:solidFill>
              <a:srgbClr val="f3b56c"/>
            </a:solidFill>
            <a:ln w="25560">
              <a:noFill/>
            </a:ln>
          </c:spPr>
          <c:marker>
            <c:symbol val="circle"/>
            <c:size val="11"/>
            <c:spPr>
              <a:solidFill>
                <a:srgbClr val="f3b56c"/>
              </a:solidFill>
            </c:spPr>
          </c:marker>
          <c:dLbls>
            <c:numFmt formatCode="General" sourceLinked="1"/>
            <c:txPr>
              <a:bodyPr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</c:dLbls>
          <c:xVal>
            <c:numRef>
              <c:f>1</c:f>
              <c:numCache>
                <c:formatCode>General</c:formatCode>
                <c:ptCount val="25"/>
                <c:pt idx="0">
                  <c:v>8.80831907898481</c:v>
                </c:pt>
                <c:pt idx="1">
                  <c:v>6.8658989200328</c:v>
                </c:pt>
                <c:pt idx="2">
                  <c:v>6.08947155686907</c:v>
                </c:pt>
                <c:pt idx="3">
                  <c:v>7.76761279099827</c:v>
                </c:pt>
                <c:pt idx="4">
                  <c:v>5.17130410568435</c:v>
                </c:pt>
                <c:pt idx="5">
                  <c:v>6.90725106641443</c:v>
                </c:pt>
                <c:pt idx="6">
                  <c:v>7.96038450630696</c:v>
                </c:pt>
                <c:pt idx="7">
                  <c:v>7.13615929947166</c:v>
                </c:pt>
                <c:pt idx="8">
                  <c:v>9.17849055549231</c:v>
                </c:pt>
                <c:pt idx="9">
                  <c:v>5.29618592760777</c:v>
                </c:pt>
                <c:pt idx="10">
                  <c:v>6.38789048690507</c:v>
                </c:pt>
                <c:pt idx="11">
                  <c:v>9.43650511607329</c:v>
                </c:pt>
                <c:pt idx="12">
                  <c:v>8.94934166868486</c:v>
                </c:pt>
                <c:pt idx="13">
                  <c:v>8.11143869041633</c:v>
                </c:pt>
                <c:pt idx="14">
                  <c:v>9.98491194193371</c:v>
                </c:pt>
                <c:pt idx="15">
                  <c:v>7.10309859857892</c:v>
                </c:pt>
                <c:pt idx="16">
                  <c:v>7.05759930864939</c:v>
                </c:pt>
                <c:pt idx="17">
                  <c:v>7.24026195688559</c:v>
                </c:pt>
                <c:pt idx="18">
                  <c:v>7.21935295196485</c:v>
                </c:pt>
                <c:pt idx="19">
                  <c:v>7.33571655617564</c:v>
                </c:pt>
                <c:pt idx="20">
                  <c:v>5.49342908408934</c:v>
                </c:pt>
                <c:pt idx="21">
                  <c:v>9.03054384295124</c:v>
                </c:pt>
                <c:pt idx="22">
                  <c:v>6.70174798003081</c:v>
                </c:pt>
                <c:pt idx="23">
                  <c:v>8.05374959325356</c:v>
                </c:pt>
                <c:pt idx="24">
                  <c:v>6.74789375746861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25"/>
                <c:pt idx="0">
                  <c:v>-2.04232665748114</c:v>
                </c:pt>
                <c:pt idx="1">
                  <c:v>-0.756582486353965</c:v>
                </c:pt>
                <c:pt idx="2">
                  <c:v>-1.16976773051769</c:v>
                </c:pt>
                <c:pt idx="3">
                  <c:v>1.27034912153154</c:v>
                </c:pt>
                <c:pt idx="4">
                  <c:v>-1.20394189893014</c:v>
                </c:pt>
                <c:pt idx="5">
                  <c:v>0.596611898255794</c:v>
                </c:pt>
                <c:pt idx="6">
                  <c:v>0.133070105629925</c:v>
                </c:pt>
                <c:pt idx="7">
                  <c:v>0.465086700463943</c:v>
                </c:pt>
                <c:pt idx="8">
                  <c:v>1.11405342823267</c:v>
                </c:pt>
                <c:pt idx="9">
                  <c:v>-0.781067898525214</c:v>
                </c:pt>
                <c:pt idx="10">
                  <c:v>-1.34183356960139</c:v>
                </c:pt>
                <c:pt idx="11">
                  <c:v>0.534773814225681</c:v>
                </c:pt>
                <c:pt idx="12">
                  <c:v>-0.599931465934026</c:v>
                </c:pt>
                <c:pt idx="13">
                  <c:v>1.45625613250777</c:v>
                </c:pt>
                <c:pt idx="14">
                  <c:v>-1.23343540844709</c:v>
                </c:pt>
                <c:pt idx="15">
                  <c:v>-1.63545155450827</c:v>
                </c:pt>
                <c:pt idx="16">
                  <c:v>-2.15887914310338</c:v>
                </c:pt>
                <c:pt idx="17">
                  <c:v>-1.43193688108754</c:v>
                </c:pt>
                <c:pt idx="18">
                  <c:v>1.42110549436123</c:v>
                </c:pt>
                <c:pt idx="19">
                  <c:v>-0.318596494937537</c:v>
                </c:pt>
                <c:pt idx="20">
                  <c:v>1.93286263605008</c:v>
                </c:pt>
                <c:pt idx="21">
                  <c:v>-0.608428320925614</c:v>
                </c:pt>
                <c:pt idx="22">
                  <c:v>1.36913023671947</c:v>
                </c:pt>
                <c:pt idx="23">
                  <c:v>-2.4114602009203</c:v>
                </c:pt>
                <c:pt idx="24">
                  <c:v>-0.335021531674404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label 2</c:f>
              <c:strCache>
                <c:ptCount val="1"/>
                <c:pt idx="0">
                  <c:v>class2</c:v>
                </c:pt>
              </c:strCache>
            </c:strRef>
          </c:tx>
          <c:spPr>
            <a:solidFill>
              <a:srgbClr val="e09878"/>
            </a:solidFill>
            <a:ln w="25560">
              <a:noFill/>
            </a:ln>
          </c:spPr>
          <c:marker>
            <c:symbol val="triangle"/>
            <c:size val="11"/>
            <c:spPr>
              <a:solidFill>
                <a:srgbClr val="e09878"/>
              </a:solidFill>
            </c:spPr>
          </c:marker>
          <c:dLbls>
            <c:numFmt formatCode="General" sourceLinked="1"/>
            <c:txPr>
              <a:bodyPr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</c:dLbls>
          <c:xVal>
            <c:numRef>
              <c:f>3</c:f>
              <c:numCache>
                <c:formatCode>General</c:formatCode>
                <c:ptCount val="25"/>
                <c:pt idx="0">
                  <c:v>-2.19596977583301</c:v>
                </c:pt>
                <c:pt idx="1">
                  <c:v>1.90408231288509</c:v>
                </c:pt>
                <c:pt idx="2">
                  <c:v>0.715839860243986</c:v>
                </c:pt>
                <c:pt idx="3">
                  <c:v>-0.588320156277868</c:v>
                </c:pt>
                <c:pt idx="4">
                  <c:v>0.695850347783311</c:v>
                </c:pt>
                <c:pt idx="5">
                  <c:v>0.0741813577216703</c:v>
                </c:pt>
                <c:pt idx="6">
                  <c:v>-1.67846889749412</c:v>
                </c:pt>
                <c:pt idx="7">
                  <c:v>0.891973841207054</c:v>
                </c:pt>
                <c:pt idx="8">
                  <c:v>-0.303518492685737</c:v>
                </c:pt>
                <c:pt idx="9">
                  <c:v>0.330181164702414</c:v>
                </c:pt>
                <c:pt idx="10">
                  <c:v>1.04696092373758</c:v>
                </c:pt>
                <c:pt idx="11">
                  <c:v>0.384607914237387</c:v>
                </c:pt>
                <c:pt idx="12">
                  <c:v>-1.85963642343982</c:v>
                </c:pt>
                <c:pt idx="13">
                  <c:v>1.96903886333976</c:v>
                </c:pt>
                <c:pt idx="14">
                  <c:v>-0.203322248420813</c:v>
                </c:pt>
                <c:pt idx="15">
                  <c:v>0.0846066145790854</c:v>
                </c:pt>
                <c:pt idx="16">
                  <c:v>-0.477095906383575</c:v>
                </c:pt>
                <c:pt idx="17">
                  <c:v>0.00627170742484307</c:v>
                </c:pt>
                <c:pt idx="18">
                  <c:v>0.930420381555091</c:v>
                </c:pt>
                <c:pt idx="19">
                  <c:v>-1.53674758948725</c:v>
                </c:pt>
                <c:pt idx="20">
                  <c:v>0.908940539734354</c:v>
                </c:pt>
                <c:pt idx="21">
                  <c:v>-2.46219832789412</c:v>
                </c:pt>
                <c:pt idx="22">
                  <c:v>-0.375745457225245</c:v>
                </c:pt>
                <c:pt idx="23">
                  <c:v>-2.19705580067304</c:v>
                </c:pt>
                <c:pt idx="24">
                  <c:v>2.1902449843664</c:v>
                </c:pt>
              </c:numCache>
            </c:numRef>
          </c:xVal>
          <c:yVal>
            <c:numRef>
              <c:f>2</c:f>
              <c:numCache>
                <c:formatCode>General</c:formatCode>
                <c:ptCount val="25"/>
                <c:pt idx="0">
                  <c:v>-3.24128474154383</c:v>
                </c:pt>
                <c:pt idx="1">
                  <c:v>-1.63434170487899</c:v>
                </c:pt>
                <c:pt idx="2">
                  <c:v>-1.65722252487889</c:v>
                </c:pt>
                <c:pt idx="3">
                  <c:v>-1.0965817758783</c:v>
                </c:pt>
                <c:pt idx="4">
                  <c:v>-3.54008172661097</c:v>
                </c:pt>
                <c:pt idx="5">
                  <c:v>-0.0316848698233656</c:v>
                </c:pt>
                <c:pt idx="6">
                  <c:v>-3.42138371176529</c:v>
                </c:pt>
                <c:pt idx="7">
                  <c:v>-3.44948933288447</c:v>
                </c:pt>
                <c:pt idx="8">
                  <c:v>-0.143259175296007</c:v>
                </c:pt>
                <c:pt idx="9">
                  <c:v>-3.84081498844385</c:v>
                </c:pt>
                <c:pt idx="10">
                  <c:v>-0.515089655220352</c:v>
                </c:pt>
                <c:pt idx="11">
                  <c:v>-1.26916988675577</c:v>
                </c:pt>
                <c:pt idx="12">
                  <c:v>-0.417541855064037</c:v>
                </c:pt>
                <c:pt idx="13">
                  <c:v>-1.35761971651634</c:v>
                </c:pt>
                <c:pt idx="14">
                  <c:v>-0.278398652775782</c:v>
                </c:pt>
                <c:pt idx="15">
                  <c:v>-2.82001378378832</c:v>
                </c:pt>
                <c:pt idx="16">
                  <c:v>-4.70570415001858</c:v>
                </c:pt>
                <c:pt idx="17">
                  <c:v>-1.30714882025375</c:v>
                </c:pt>
                <c:pt idx="18">
                  <c:v>-1.10581887054787</c:v>
                </c:pt>
                <c:pt idx="19">
                  <c:v>-4.82368278300357</c:v>
                </c:pt>
                <c:pt idx="20">
                  <c:v>-1.10378259899782</c:v>
                </c:pt>
                <c:pt idx="21">
                  <c:v>-1.25088295703702</c:v>
                </c:pt>
                <c:pt idx="22">
                  <c:v>-1.2909241999879</c:v>
                </c:pt>
                <c:pt idx="23">
                  <c:v>-2.72614571676121</c:v>
                </c:pt>
                <c:pt idx="24">
                  <c:v>-0.0116217258131153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label 4</c:f>
              <c:strCache>
                <c:ptCount val="1"/>
                <c:pt idx="0">
                  <c:v>class3</c:v>
                </c:pt>
              </c:strCache>
            </c:strRef>
          </c:tx>
          <c:spPr>
            <a:solidFill>
              <a:srgbClr val="d4d9cf"/>
            </a:solidFill>
            <a:ln w="25560">
              <a:noFill/>
            </a:ln>
          </c:spPr>
          <c:marker>
            <c:symbol val="square"/>
            <c:size val="11"/>
            <c:spPr>
              <a:solidFill>
                <a:srgbClr val="d4d9cf"/>
              </a:solidFill>
            </c:spPr>
          </c:marker>
          <c:dLbls>
            <c:numFmt formatCode="General" sourceLinked="1"/>
            <c:txPr>
              <a:bodyPr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</c:dLbls>
          <c:xVal>
            <c:numRef>
              <c:f>5</c:f>
              <c:numCache>
                <c:formatCode>General</c:formatCode>
                <c:ptCount val="25"/>
                <c:pt idx="0">
                  <c:v>3.5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</c:numCache>
            </c:numRef>
          </c:xVal>
          <c:yVal>
            <c:numRef>
              <c:f>4</c:f>
              <c:numCache>
                <c:formatCode>General</c:formatCode>
                <c:ptCount val="25"/>
                <c:pt idx="0">
                  <c:v>-0.5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</c:numCache>
            </c:numRef>
          </c:yVal>
          <c:smooth val="0"/>
        </c:ser>
        <c:axId val="66059843"/>
        <c:axId val="13010570"/>
      </c:scatterChart>
      <c:valAx>
        <c:axId val="66059843"/>
        <c:scaling>
          <c:orientation val="minMax"/>
        </c:scaling>
        <c:delete val="0"/>
        <c:axPos val="b"/>
        <c:majorGridlines>
          <c:spPr>
            <a:ln w="9360">
              <a:solidFill>
                <a:srgbClr val="595959">
                  <a:alpha val="75000"/>
                </a:srgbClr>
              </a:solidFill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360">
            <a:noFill/>
          </a:ln>
        </c:spPr>
        <c:txPr>
          <a:bodyPr/>
          <a:lstStyle/>
          <a:p>
            <a:pPr>
              <a:defRPr b="0" sz="900" spc="-1" strike="noStrike">
                <a:solidFill>
                  <a:srgbClr val="bfbfbf"/>
                </a:solidFill>
                <a:latin typeface="Calibri"/>
              </a:defRPr>
            </a:pPr>
          </a:p>
        </c:txPr>
        <c:crossAx val="13010570"/>
        <c:crosses val="autoZero"/>
        <c:crossBetween val="midCat"/>
      </c:valAx>
      <c:valAx>
        <c:axId val="13010570"/>
        <c:scaling>
          <c:orientation val="minMax"/>
        </c:scaling>
        <c:delete val="0"/>
        <c:axPos val="l"/>
        <c:majorGridlines>
          <c:spPr>
            <a:ln w="9360">
              <a:solidFill>
                <a:srgbClr val="595959">
                  <a:alpha val="75000"/>
                </a:srgbClr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9360">
            <a:solidFill>
              <a:srgbClr val="808080"/>
            </a:solidFill>
            <a:round/>
          </a:ln>
        </c:spPr>
        <c:txPr>
          <a:bodyPr/>
          <a:lstStyle/>
          <a:p>
            <a:pPr>
              <a:defRPr b="0" sz="900" spc="-1" strike="noStrike">
                <a:solidFill>
                  <a:srgbClr val="bfbfbf"/>
                </a:solidFill>
                <a:latin typeface="Calibri"/>
              </a:defRPr>
            </a:pPr>
          </a:p>
        </c:txPr>
        <c:crossAx val="66059843"/>
        <c:crosses val="autoZero"/>
        <c:crossBetween val="midCat"/>
      </c:valAx>
      <c:spPr>
        <a:noFill/>
        <a:ln>
          <a:noFill/>
        </a:ln>
      </c:spPr>
    </c:plotArea>
    <c:plotVisOnly val="1"/>
    <c:dispBlanksAs val="gap"/>
  </c:chart>
  <c:spPr>
    <a:solidFill>
      <a:srgbClr val="404040"/>
    </a:solidFill>
    <a:ln w="9360">
      <a:solidFill>
        <a:srgbClr val="d9d9d9"/>
      </a:solidFill>
      <a:round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plotArea>
      <c:scatterChart>
        <c:scatterStyle val="lineMarker"/>
        <c:varyColors val="0"/>
        <c:ser>
          <c:idx val="0"/>
          <c:order val="0"/>
          <c:spPr>
            <a:solidFill>
              <a:srgbClr val="f3b56c"/>
            </a:solidFill>
            <a:ln w="25560">
              <a:noFill/>
            </a:ln>
          </c:spPr>
          <c:marker>
            <c:symbol val="circle"/>
            <c:size val="11"/>
            <c:spPr>
              <a:solidFill>
                <a:srgbClr val="f3b56c"/>
              </a:solidFill>
            </c:spPr>
          </c:marker>
          <c:dLbls>
            <c:numFmt formatCode="General" sourceLinked="1"/>
            <c:txPr>
              <a:bodyPr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</c:dLbls>
          <c:xVal>
            <c:numRef>
              <c:f>1</c:f>
              <c:numCache>
                <c:formatCode>General</c:formatCode>
                <c:ptCount val="25"/>
                <c:pt idx="0">
                  <c:v>8.80831907898481</c:v>
                </c:pt>
                <c:pt idx="1">
                  <c:v>6.8658989200328</c:v>
                </c:pt>
                <c:pt idx="2">
                  <c:v>6.08947155686907</c:v>
                </c:pt>
                <c:pt idx="3">
                  <c:v>7.76761279099827</c:v>
                </c:pt>
                <c:pt idx="4">
                  <c:v>5.17130410568435</c:v>
                </c:pt>
                <c:pt idx="5">
                  <c:v>6.90725106641443</c:v>
                </c:pt>
                <c:pt idx="6">
                  <c:v>7.96038450630696</c:v>
                </c:pt>
                <c:pt idx="7">
                  <c:v>7.13615929947166</c:v>
                </c:pt>
                <c:pt idx="8">
                  <c:v>9.17849055549231</c:v>
                </c:pt>
                <c:pt idx="9">
                  <c:v>5.29618592760777</c:v>
                </c:pt>
                <c:pt idx="10">
                  <c:v>6.38789048690507</c:v>
                </c:pt>
                <c:pt idx="11">
                  <c:v>9.43650511607329</c:v>
                </c:pt>
                <c:pt idx="12">
                  <c:v>8.94934166868486</c:v>
                </c:pt>
                <c:pt idx="13">
                  <c:v>8.11143869041633</c:v>
                </c:pt>
                <c:pt idx="14">
                  <c:v>9.98491194193371</c:v>
                </c:pt>
                <c:pt idx="15">
                  <c:v>7.10309859857892</c:v>
                </c:pt>
                <c:pt idx="16">
                  <c:v>7.05759930864939</c:v>
                </c:pt>
                <c:pt idx="17">
                  <c:v>7.24026195688559</c:v>
                </c:pt>
                <c:pt idx="18">
                  <c:v>7.21935295196485</c:v>
                </c:pt>
                <c:pt idx="19">
                  <c:v>7.33571655617564</c:v>
                </c:pt>
                <c:pt idx="20">
                  <c:v>5.49342908408934</c:v>
                </c:pt>
                <c:pt idx="21">
                  <c:v>9.03054384295124</c:v>
                </c:pt>
                <c:pt idx="22">
                  <c:v>6.70174798003081</c:v>
                </c:pt>
                <c:pt idx="23">
                  <c:v>8.05374959325356</c:v>
                </c:pt>
                <c:pt idx="24">
                  <c:v>6.74789375746861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25"/>
                <c:pt idx="0">
                  <c:v>-2.04232665748114</c:v>
                </c:pt>
                <c:pt idx="1">
                  <c:v>-0.756582486353965</c:v>
                </c:pt>
                <c:pt idx="2">
                  <c:v>-1.16976773051769</c:v>
                </c:pt>
                <c:pt idx="3">
                  <c:v>1.27034912153154</c:v>
                </c:pt>
                <c:pt idx="4">
                  <c:v>-1.20394189893014</c:v>
                </c:pt>
                <c:pt idx="5">
                  <c:v>0.596611898255794</c:v>
                </c:pt>
                <c:pt idx="6">
                  <c:v>0.133070105629925</c:v>
                </c:pt>
                <c:pt idx="7">
                  <c:v>0.465086700463943</c:v>
                </c:pt>
                <c:pt idx="8">
                  <c:v>1.11405342823267</c:v>
                </c:pt>
                <c:pt idx="9">
                  <c:v>-0.781067898525214</c:v>
                </c:pt>
                <c:pt idx="10">
                  <c:v>-1.34183356960139</c:v>
                </c:pt>
                <c:pt idx="11">
                  <c:v>0.534773814225681</c:v>
                </c:pt>
                <c:pt idx="12">
                  <c:v>-0.599931465934026</c:v>
                </c:pt>
                <c:pt idx="13">
                  <c:v>1.45625613250777</c:v>
                </c:pt>
                <c:pt idx="14">
                  <c:v>-1.23343540844709</c:v>
                </c:pt>
                <c:pt idx="15">
                  <c:v>-1.63545155450827</c:v>
                </c:pt>
                <c:pt idx="16">
                  <c:v>-2.15887914310338</c:v>
                </c:pt>
                <c:pt idx="17">
                  <c:v>-1.43193688108754</c:v>
                </c:pt>
                <c:pt idx="18">
                  <c:v>1.42110549436123</c:v>
                </c:pt>
                <c:pt idx="19">
                  <c:v>-0.318596494937537</c:v>
                </c:pt>
                <c:pt idx="20">
                  <c:v>1.93286263605008</c:v>
                </c:pt>
                <c:pt idx="21">
                  <c:v>-0.608428320925614</c:v>
                </c:pt>
                <c:pt idx="22">
                  <c:v>1.36913023671947</c:v>
                </c:pt>
                <c:pt idx="23">
                  <c:v>-2.4114602009203</c:v>
                </c:pt>
                <c:pt idx="24">
                  <c:v>-0.335021531674404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label 2</c:f>
              <c:strCache>
                <c:ptCount val="1"/>
                <c:pt idx="0">
                  <c:v>class2</c:v>
                </c:pt>
              </c:strCache>
            </c:strRef>
          </c:tx>
          <c:spPr>
            <a:solidFill>
              <a:srgbClr val="e09878"/>
            </a:solidFill>
            <a:ln w="25560">
              <a:noFill/>
            </a:ln>
          </c:spPr>
          <c:marker>
            <c:symbol val="triangle"/>
            <c:size val="11"/>
            <c:spPr>
              <a:solidFill>
                <a:srgbClr val="e09878"/>
              </a:solidFill>
            </c:spPr>
          </c:marker>
          <c:dLbls>
            <c:numFmt formatCode="General" sourceLinked="1"/>
            <c:txPr>
              <a:bodyPr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</c:dLbls>
          <c:xVal>
            <c:numRef>
              <c:f>3</c:f>
              <c:numCache>
                <c:formatCode>General</c:formatCode>
                <c:ptCount val="25"/>
                <c:pt idx="0">
                  <c:v>-2.19596977583301</c:v>
                </c:pt>
                <c:pt idx="1">
                  <c:v>1.90408231288509</c:v>
                </c:pt>
                <c:pt idx="2">
                  <c:v>0.715839860243986</c:v>
                </c:pt>
                <c:pt idx="3">
                  <c:v>-0.588320156277868</c:v>
                </c:pt>
                <c:pt idx="4">
                  <c:v>0.695850347783311</c:v>
                </c:pt>
                <c:pt idx="5">
                  <c:v>0.0741813577216703</c:v>
                </c:pt>
                <c:pt idx="6">
                  <c:v>-1.67846889749412</c:v>
                </c:pt>
                <c:pt idx="7">
                  <c:v>0.891973841207054</c:v>
                </c:pt>
                <c:pt idx="8">
                  <c:v>-0.303518492685737</c:v>
                </c:pt>
                <c:pt idx="9">
                  <c:v>0.330181164702414</c:v>
                </c:pt>
                <c:pt idx="10">
                  <c:v>1.04696092373758</c:v>
                </c:pt>
                <c:pt idx="11">
                  <c:v>0.384607914237387</c:v>
                </c:pt>
                <c:pt idx="12">
                  <c:v>-1.85963642343982</c:v>
                </c:pt>
                <c:pt idx="13">
                  <c:v>1.96903886333976</c:v>
                </c:pt>
                <c:pt idx="14">
                  <c:v>-0.203322248420813</c:v>
                </c:pt>
                <c:pt idx="15">
                  <c:v>0.0846066145790854</c:v>
                </c:pt>
                <c:pt idx="16">
                  <c:v>-0.477095906383575</c:v>
                </c:pt>
                <c:pt idx="17">
                  <c:v>0.00627170742484307</c:v>
                </c:pt>
                <c:pt idx="18">
                  <c:v>0.930420381555091</c:v>
                </c:pt>
                <c:pt idx="19">
                  <c:v>-1.53674758948725</c:v>
                </c:pt>
                <c:pt idx="20">
                  <c:v>0.908940539734354</c:v>
                </c:pt>
                <c:pt idx="21">
                  <c:v>-2.46219832789412</c:v>
                </c:pt>
                <c:pt idx="22">
                  <c:v>-0.375745457225245</c:v>
                </c:pt>
                <c:pt idx="23">
                  <c:v>-2.19705580067304</c:v>
                </c:pt>
                <c:pt idx="24">
                  <c:v>2.1902449843664</c:v>
                </c:pt>
              </c:numCache>
            </c:numRef>
          </c:xVal>
          <c:yVal>
            <c:numRef>
              <c:f>2</c:f>
              <c:numCache>
                <c:formatCode>General</c:formatCode>
                <c:ptCount val="25"/>
                <c:pt idx="0">
                  <c:v>-3.24128474154383</c:v>
                </c:pt>
                <c:pt idx="1">
                  <c:v>-1.63434170487899</c:v>
                </c:pt>
                <c:pt idx="2">
                  <c:v>-1.65722252487889</c:v>
                </c:pt>
                <c:pt idx="3">
                  <c:v>-1.0965817758783</c:v>
                </c:pt>
                <c:pt idx="4">
                  <c:v>-3.54008172661097</c:v>
                </c:pt>
                <c:pt idx="5">
                  <c:v>-0.0316848698233656</c:v>
                </c:pt>
                <c:pt idx="6">
                  <c:v>-3.42138371176529</c:v>
                </c:pt>
                <c:pt idx="7">
                  <c:v>-3.44948933288447</c:v>
                </c:pt>
                <c:pt idx="8">
                  <c:v>-0.143259175296007</c:v>
                </c:pt>
                <c:pt idx="9">
                  <c:v>-3.84081498844385</c:v>
                </c:pt>
                <c:pt idx="10">
                  <c:v>-0.515089655220352</c:v>
                </c:pt>
                <c:pt idx="11">
                  <c:v>-1.26916988675577</c:v>
                </c:pt>
                <c:pt idx="12">
                  <c:v>-0.417541855064037</c:v>
                </c:pt>
                <c:pt idx="13">
                  <c:v>-1.35761971651634</c:v>
                </c:pt>
                <c:pt idx="14">
                  <c:v>-0.278398652775782</c:v>
                </c:pt>
                <c:pt idx="15">
                  <c:v>-2.82001378378832</c:v>
                </c:pt>
                <c:pt idx="16">
                  <c:v>-4.70570415001858</c:v>
                </c:pt>
                <c:pt idx="17">
                  <c:v>-1.30714882025375</c:v>
                </c:pt>
                <c:pt idx="18">
                  <c:v>-1.10581887054787</c:v>
                </c:pt>
                <c:pt idx="19">
                  <c:v>-4.82368278300357</c:v>
                </c:pt>
                <c:pt idx="20">
                  <c:v>-1.10378259899782</c:v>
                </c:pt>
                <c:pt idx="21">
                  <c:v>-1.25088295703702</c:v>
                </c:pt>
                <c:pt idx="22">
                  <c:v>-1.2909241999879</c:v>
                </c:pt>
                <c:pt idx="23">
                  <c:v>-2.72614571676121</c:v>
                </c:pt>
                <c:pt idx="24">
                  <c:v>-0.0116217258131153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label 4</c:f>
              <c:strCache>
                <c:ptCount val="1"/>
                <c:pt idx="0">
                  <c:v>class3</c:v>
                </c:pt>
              </c:strCache>
            </c:strRef>
          </c:tx>
          <c:spPr>
            <a:solidFill>
              <a:srgbClr val="d4d9cf"/>
            </a:solidFill>
            <a:ln w="25560">
              <a:noFill/>
            </a:ln>
          </c:spPr>
          <c:marker>
            <c:symbol val="square"/>
            <c:size val="11"/>
            <c:spPr>
              <a:solidFill>
                <a:srgbClr val="d4d9cf"/>
              </a:solidFill>
            </c:spPr>
          </c:marker>
          <c:dLbls>
            <c:numFmt formatCode="General" sourceLinked="1"/>
            <c:txPr>
              <a:bodyPr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</c:dLbls>
          <c:xVal>
            <c:numRef>
              <c:f>5</c:f>
              <c:numCache>
                <c:formatCode>General</c:formatCode>
                <c:ptCount val="25"/>
                <c:pt idx="0">
                  <c:v>3.5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</c:numCache>
            </c:numRef>
          </c:xVal>
          <c:yVal>
            <c:numRef>
              <c:f>4</c:f>
              <c:numCache>
                <c:formatCode>General</c:formatCode>
                <c:ptCount val="25"/>
                <c:pt idx="0">
                  <c:v>-0.5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</c:numCache>
            </c:numRef>
          </c:yVal>
          <c:smooth val="0"/>
        </c:ser>
        <c:axId val="29430746"/>
        <c:axId val="4636203"/>
      </c:scatterChart>
      <c:valAx>
        <c:axId val="29430746"/>
        <c:scaling>
          <c:orientation val="minMax"/>
        </c:scaling>
        <c:delete val="0"/>
        <c:axPos val="b"/>
        <c:majorGridlines>
          <c:spPr>
            <a:ln w="9360">
              <a:solidFill>
                <a:srgbClr val="595959">
                  <a:alpha val="75000"/>
                </a:srgbClr>
              </a:solidFill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360">
            <a:noFill/>
          </a:ln>
        </c:spPr>
        <c:txPr>
          <a:bodyPr/>
          <a:lstStyle/>
          <a:p>
            <a:pPr>
              <a:defRPr b="0" sz="900" spc="-1" strike="noStrike">
                <a:solidFill>
                  <a:srgbClr val="bfbfbf"/>
                </a:solidFill>
                <a:latin typeface="Calibri"/>
              </a:defRPr>
            </a:pPr>
          </a:p>
        </c:txPr>
        <c:crossAx val="4636203"/>
        <c:crosses val="autoZero"/>
        <c:crossBetween val="midCat"/>
      </c:valAx>
      <c:valAx>
        <c:axId val="4636203"/>
        <c:scaling>
          <c:orientation val="minMax"/>
        </c:scaling>
        <c:delete val="0"/>
        <c:axPos val="l"/>
        <c:majorGridlines>
          <c:spPr>
            <a:ln w="9360">
              <a:solidFill>
                <a:srgbClr val="595959">
                  <a:alpha val="75000"/>
                </a:srgbClr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9360">
            <a:solidFill>
              <a:srgbClr val="808080"/>
            </a:solidFill>
            <a:round/>
          </a:ln>
        </c:spPr>
        <c:txPr>
          <a:bodyPr/>
          <a:lstStyle/>
          <a:p>
            <a:pPr>
              <a:defRPr b="0" sz="900" spc="-1" strike="noStrike">
                <a:solidFill>
                  <a:srgbClr val="bfbfbf"/>
                </a:solidFill>
                <a:latin typeface="Calibri"/>
              </a:defRPr>
            </a:pPr>
          </a:p>
        </c:txPr>
        <c:crossAx val="29430746"/>
        <c:crosses val="autoZero"/>
        <c:crossBetween val="midCat"/>
      </c:valAx>
      <c:spPr>
        <a:noFill/>
        <a:ln>
          <a:noFill/>
        </a:ln>
      </c:spPr>
    </c:plotArea>
    <c:plotVisOnly val="1"/>
    <c:dispBlanksAs val="gap"/>
  </c:chart>
  <c:spPr>
    <a:solidFill>
      <a:srgbClr val="404040"/>
    </a:solidFill>
    <a:ln w="9360">
      <a:solidFill>
        <a:srgbClr val="d9d9d9"/>
      </a:solidFill>
      <a:round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39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40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38CD15A9-CEFE-42C0-99BD-A3F4B65BEDAD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Suppose that you have two class (class1:orange triangle and class2:yellow circle), if you have new data (rectangle) to classify between those two class, which class will it become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Since the orange line is the closest, rectangle will become class1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30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4CC4A46C-C77C-4AB8-A51B-B8AD8B98E6B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Suppose that you have two class (class1:orange triangle and class2:yellow circle), if you have new data (rectangle) to classify between those two class, which class will it become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Since the orange line is the closest, rectangle will become class1, using 3neighbors, rectangle will become class2. KNN have K parameter to determine how many neighbor use to classify the data. 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33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F5015BD6-868F-40AD-BAD5-26C81A4F53D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subTitle"/>
          </p:nvPr>
        </p:nvSpPr>
        <p:spPr>
          <a:xfrm>
            <a:off x="1097280" y="286560"/>
            <a:ext cx="10058040" cy="672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323856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498200" y="1845720"/>
            <a:ext cx="323856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7899120" y="1845720"/>
            <a:ext cx="323856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1097280" y="3947040"/>
            <a:ext cx="323856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body"/>
          </p:nvPr>
        </p:nvSpPr>
        <p:spPr>
          <a:xfrm>
            <a:off x="4498200" y="3947040"/>
            <a:ext cx="323856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body"/>
          </p:nvPr>
        </p:nvSpPr>
        <p:spPr>
          <a:xfrm>
            <a:off x="7899120" y="3947040"/>
            <a:ext cx="323856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ubTitle"/>
          </p:nvPr>
        </p:nvSpPr>
        <p:spPr>
          <a:xfrm>
            <a:off x="1097280" y="286560"/>
            <a:ext cx="10058040" cy="672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323856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4498200" y="1845720"/>
            <a:ext cx="323856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body"/>
          </p:nvPr>
        </p:nvSpPr>
        <p:spPr>
          <a:xfrm>
            <a:off x="7899120" y="1845720"/>
            <a:ext cx="323856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body"/>
          </p:nvPr>
        </p:nvSpPr>
        <p:spPr>
          <a:xfrm>
            <a:off x="1097280" y="3947040"/>
            <a:ext cx="323856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 type="body"/>
          </p:nvPr>
        </p:nvSpPr>
        <p:spPr>
          <a:xfrm>
            <a:off x="4498200" y="3947040"/>
            <a:ext cx="323856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90" name="PlaceHolder 7"/>
          <p:cNvSpPr>
            <a:spLocks noGrp="1"/>
          </p:cNvSpPr>
          <p:nvPr>
            <p:ph type="body"/>
          </p:nvPr>
        </p:nvSpPr>
        <p:spPr>
          <a:xfrm>
            <a:off x="7899120" y="3947040"/>
            <a:ext cx="323856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ubTitle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ubTitle"/>
          </p:nvPr>
        </p:nvSpPr>
        <p:spPr>
          <a:xfrm>
            <a:off x="1097280" y="286560"/>
            <a:ext cx="10058040" cy="672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body"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body"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body"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body"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323856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4498200" y="1845720"/>
            <a:ext cx="323856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body"/>
          </p:nvPr>
        </p:nvSpPr>
        <p:spPr>
          <a:xfrm>
            <a:off x="7899120" y="1845720"/>
            <a:ext cx="323856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32" name="PlaceHolder 5"/>
          <p:cNvSpPr>
            <a:spLocks noGrp="1"/>
          </p:cNvSpPr>
          <p:nvPr>
            <p:ph type="body"/>
          </p:nvPr>
        </p:nvSpPr>
        <p:spPr>
          <a:xfrm>
            <a:off x="1097280" y="3947040"/>
            <a:ext cx="323856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33" name="PlaceHolder 6"/>
          <p:cNvSpPr>
            <a:spLocks noGrp="1"/>
          </p:cNvSpPr>
          <p:nvPr>
            <p:ph type="body"/>
          </p:nvPr>
        </p:nvSpPr>
        <p:spPr>
          <a:xfrm>
            <a:off x="4498200" y="3947040"/>
            <a:ext cx="323856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34" name="PlaceHolder 7"/>
          <p:cNvSpPr>
            <a:spLocks noGrp="1"/>
          </p:cNvSpPr>
          <p:nvPr>
            <p:ph type="body"/>
          </p:nvPr>
        </p:nvSpPr>
        <p:spPr>
          <a:xfrm>
            <a:off x="7899120" y="3947040"/>
            <a:ext cx="3238560" cy="1918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" name="CustomShape 2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Line 3"/>
          <p:cNvSpPr/>
          <p:nvPr/>
        </p:nvSpPr>
        <p:spPr>
          <a:xfrm>
            <a:off x="1193400" y="1737720"/>
            <a:ext cx="9966960" cy="0"/>
          </a:xfrm>
          <a:prstGeom prst="line">
            <a:avLst/>
          </a:prstGeom>
          <a:ln w="6480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" name="CustomShape 4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" name="CustomShape 5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" name="PlaceHolder 6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</p:spPr>
        <p:txBody>
          <a:bodyPr anchor="b">
            <a:normAutofit/>
          </a:bodyPr>
          <a:p>
            <a:pPr>
              <a:lnSpc>
                <a:spcPct val="85000"/>
              </a:lnSpc>
            </a:pPr>
            <a:r>
              <a:rPr b="0" lang="en-US" sz="8000" spc="-52" strike="noStrike">
                <a:solidFill>
                  <a:srgbClr val="262626"/>
                </a:solidFill>
                <a:latin typeface="Calibri Light"/>
              </a:rPr>
              <a:t>Click to edit Master title style</a:t>
            </a:r>
            <a:endParaRPr b="0" lang="en-US" sz="8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dt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B3B9415F-AFC2-4A68-8E61-602FDC202907}" type="datetime">
              <a:rPr b="0" lang="en-US" sz="900" spc="-1" strike="noStrike">
                <a:solidFill>
                  <a:srgbClr val="ffffff"/>
                </a:solidFill>
                <a:latin typeface="Calibri"/>
              </a:rPr>
              <a:t>4/25/19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7" name="PlaceHolder 8"/>
          <p:cNvSpPr>
            <a:spLocks noGrp="1"/>
          </p:cNvSpPr>
          <p:nvPr>
            <p:ph type="ftr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8" name="PlaceHolder 9"/>
          <p:cNvSpPr>
            <a:spLocks noGrp="1"/>
          </p:cNvSpPr>
          <p:nvPr>
            <p:ph type="sldNum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5ED2425F-8844-4333-B644-9813AA8F6514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latin typeface="Times New Roman"/>
            </a:endParaRPr>
          </a:p>
        </p:txBody>
      </p:sp>
      <p:sp>
        <p:nvSpPr>
          <p:cNvPr id="9" name="Line 10"/>
          <p:cNvSpPr/>
          <p:nvPr/>
        </p:nvSpPr>
        <p:spPr>
          <a:xfrm>
            <a:off x="1207440" y="4343400"/>
            <a:ext cx="9875520" cy="0"/>
          </a:xfrm>
          <a:prstGeom prst="line">
            <a:avLst/>
          </a:prstGeom>
          <a:ln w="6480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" name="PlaceHolder 11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Calibri"/>
              </a:rPr>
              <a:t>Click to edit the outline text format</a:t>
            </a: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Second Outline Level</a:t>
            </a:r>
            <a:endParaRPr b="0" lang="en-US" sz="1400" spc="-1" strike="noStrike">
              <a:solidFill>
                <a:srgbClr val="40404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Third Outline Level</a:t>
            </a:r>
            <a:endParaRPr b="0" lang="en-US" sz="1400" spc="-1" strike="noStrike">
              <a:solidFill>
                <a:srgbClr val="40404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Fourth Outline Level</a:t>
            </a:r>
            <a:endParaRPr b="0" lang="en-US" sz="1400" spc="-1" strike="noStrike">
              <a:solidFill>
                <a:srgbClr val="40404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CustomShape 2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" name="Line 3"/>
          <p:cNvSpPr/>
          <p:nvPr/>
        </p:nvSpPr>
        <p:spPr>
          <a:xfrm>
            <a:off x="1193400" y="1737720"/>
            <a:ext cx="9966960" cy="0"/>
          </a:xfrm>
          <a:prstGeom prst="line">
            <a:avLst/>
          </a:prstGeom>
          <a:ln w="6480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" name="PlaceHolder 4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anchor="b">
            <a:noAutofit/>
          </a:bodyPr>
          <a:p>
            <a:pPr>
              <a:lnSpc>
                <a:spcPct val="85000"/>
              </a:lnSpc>
            </a:pPr>
            <a:r>
              <a:rPr b="0" lang="en-US" sz="4800" spc="-52" strike="noStrike">
                <a:solidFill>
                  <a:srgbClr val="404040"/>
                </a:solidFill>
                <a:latin typeface="Calibri Light"/>
              </a:rPr>
              <a:t>Click to edit Master title style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</p:spPr>
        <p:txBody>
          <a:bodyPr lIns="0" rIns="0">
            <a:noAutofit/>
          </a:bodyPr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rgbClr val="404040"/>
                </a:solidFill>
                <a:latin typeface="Calibri"/>
              </a:rPr>
              <a:t>Edit Master text styles</a:t>
            </a: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  <a:p>
            <a:pPr lvl="1" marL="384120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rgbClr val="404040"/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rgbClr val="404040"/>
              </a:solidFill>
              <a:latin typeface="Calibri"/>
            </a:endParaRPr>
          </a:p>
          <a:p>
            <a:pPr lvl="2" marL="567000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Third level</a:t>
            </a:r>
            <a:endParaRPr b="0" lang="en-US" sz="1400" spc="-1" strike="noStrike">
              <a:solidFill>
                <a:srgbClr val="404040"/>
              </a:solidFill>
              <a:latin typeface="Calibri"/>
            </a:endParaRPr>
          </a:p>
          <a:p>
            <a:pPr lvl="3" marL="749880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Fourth level</a:t>
            </a:r>
            <a:endParaRPr b="0" lang="en-US" sz="1400" spc="-1" strike="noStrike">
              <a:solidFill>
                <a:srgbClr val="404040"/>
              </a:solidFill>
              <a:latin typeface="Calibri"/>
            </a:endParaRPr>
          </a:p>
          <a:p>
            <a:pPr lvl="4" marL="932760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Fifth level</a:t>
            </a:r>
            <a:endParaRPr b="0" lang="en-US" sz="14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55C3D1F7-3262-47D4-A2DE-D2E2005B5B0F}" type="datetime">
              <a:rPr b="0" lang="en-US" sz="900" spc="-1" strike="noStrike">
                <a:solidFill>
                  <a:srgbClr val="ffffff"/>
                </a:solidFill>
                <a:latin typeface="Calibri"/>
              </a:rPr>
              <a:t>4/25/19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11617229-A42E-4F0E-BCF8-F24F6D9104B2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ustomShape 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" name="CustomShape 2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" name="Line 3"/>
          <p:cNvSpPr/>
          <p:nvPr/>
        </p:nvSpPr>
        <p:spPr>
          <a:xfrm>
            <a:off x="1193400" y="1737720"/>
            <a:ext cx="9966960" cy="0"/>
          </a:xfrm>
          <a:prstGeom prst="line">
            <a:avLst/>
          </a:prstGeom>
          <a:ln w="6480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4" name="PlaceHolder 4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anchor="b">
            <a:noAutofit/>
          </a:bodyPr>
          <a:p>
            <a:pPr>
              <a:lnSpc>
                <a:spcPct val="85000"/>
              </a:lnSpc>
            </a:pPr>
            <a:r>
              <a:rPr b="0" lang="en-US" sz="4800" spc="-52" strike="noStrike">
                <a:solidFill>
                  <a:srgbClr val="404040"/>
                </a:solidFill>
                <a:latin typeface="Calibri Light"/>
              </a:rPr>
              <a:t>Click to edit Master title style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dt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C1122BCA-9525-4CCC-8F65-1EF6F113DEA2}" type="datetime">
              <a:rPr b="0" lang="en-US" sz="900" spc="-1" strike="noStrike">
                <a:solidFill>
                  <a:srgbClr val="ffffff"/>
                </a:solidFill>
                <a:latin typeface="Calibri"/>
              </a:rPr>
              <a:t>4/25/19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96" name="PlaceHolder 6"/>
          <p:cNvSpPr>
            <a:spLocks noGrp="1"/>
          </p:cNvSpPr>
          <p:nvPr>
            <p:ph type="ftr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97" name="PlaceHolder 7"/>
          <p:cNvSpPr>
            <a:spLocks noGrp="1"/>
          </p:cNvSpPr>
          <p:nvPr>
            <p:ph type="sldNum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14C4D364-7622-4ECD-978B-FB568C9994F0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latin typeface="Times New Roman"/>
            </a:endParaRPr>
          </a:p>
        </p:txBody>
      </p:sp>
      <p:sp>
        <p:nvSpPr>
          <p:cNvPr id="98" name="PlaceHolder 8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Calibri"/>
              </a:rPr>
              <a:t>Click to edit the outline text format</a:t>
            </a: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Second Outline Level</a:t>
            </a:r>
            <a:endParaRPr b="0" lang="en-US" sz="1400" spc="-1" strike="noStrike">
              <a:solidFill>
                <a:srgbClr val="40404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Third Outline Level</a:t>
            </a:r>
            <a:endParaRPr b="0" lang="en-US" sz="1400" spc="-1" strike="noStrike">
              <a:solidFill>
                <a:srgbClr val="40404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404040"/>
                </a:solidFill>
                <a:latin typeface="Calibri"/>
              </a:rPr>
              <a:t>Fourth Outline Level</a:t>
            </a:r>
            <a:endParaRPr b="0" lang="en-US" sz="1400" spc="-1" strike="noStrike">
              <a:solidFill>
                <a:srgbClr val="40404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chart" Target="../charts/chart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jpeg"/><Relationship Id="rId5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image" Target="../media/image18.jpeg"/><Relationship Id="rId3" Type="http://schemas.openxmlformats.org/officeDocument/2006/relationships/image" Target="../media/image19.jpeg"/><Relationship Id="rId4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1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13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slideLayout" Target="../slideLayouts/slideLayout13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13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1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13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slideLayout" Target="../slideLayouts/slideLayout13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Shape 1"/>
          <p:cNvSpPr txBox="1"/>
          <p:nvPr/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>
              <a:lnSpc>
                <a:spcPct val="85000"/>
              </a:lnSpc>
            </a:pPr>
            <a:r>
              <a:rPr b="0" lang="en-US" sz="8000" spc="-52" strike="noStrike">
                <a:solidFill>
                  <a:srgbClr val="262626"/>
                </a:solidFill>
                <a:latin typeface="Calibri Light"/>
              </a:rPr>
              <a:t>Introduction to Machine Learning</a:t>
            </a:r>
            <a:endParaRPr b="0" lang="en-US" sz="8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2" name="TextShape 2"/>
          <p:cNvSpPr txBox="1"/>
          <p:nvPr/>
        </p:nvSpPr>
        <p:spPr>
          <a:xfrm>
            <a:off x="1231560" y="5444640"/>
            <a:ext cx="9448560" cy="6854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b="0" lang="en-US" sz="2400" spc="199" strike="noStrike">
                <a:solidFill>
                  <a:srgbClr val="637052"/>
                </a:solidFill>
                <a:latin typeface="Calibri Light"/>
              </a:rPr>
              <a:t>Rosa andrie, arie rachmad s., vipkas ah.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>
              <a:lnSpc>
                <a:spcPct val="85000"/>
              </a:lnSpc>
            </a:pPr>
            <a:r>
              <a:rPr b="0" lang="en-US" sz="4800" spc="-52" strike="noStrike">
                <a:solidFill>
                  <a:srgbClr val="404040"/>
                </a:solidFill>
                <a:latin typeface="Calibri Light"/>
              </a:rPr>
              <a:t>Machine learning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" name="TextShape 2"/>
          <p:cNvSpPr txBox="1"/>
          <p:nvPr/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rmAutofit/>
          </a:bodyPr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404040"/>
                </a:solidFill>
                <a:latin typeface="Calibri"/>
              </a:rPr>
              <a:t>Subfield of Artificial Intelligence</a:t>
            </a:r>
            <a:endParaRPr b="0" lang="en-US" sz="2400" spc="-1" strike="noStrike">
              <a:solidFill>
                <a:srgbClr val="404040"/>
              </a:solidFill>
              <a:latin typeface="Calibri"/>
            </a:endParaRP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404040"/>
                </a:solidFill>
                <a:latin typeface="Calibri"/>
              </a:rPr>
              <a:t>Learn from examples and experience. Building a mathematical model of sample data to make predictions without explicitly programmed to perform the task.</a:t>
            </a:r>
            <a:endParaRPr b="0" lang="en-US" sz="2400" spc="-1" strike="noStrike">
              <a:solidFill>
                <a:srgbClr val="404040"/>
              </a:solidFill>
              <a:latin typeface="Calibri"/>
            </a:endParaRP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404040"/>
                </a:solidFill>
                <a:latin typeface="Calibri"/>
              </a:rPr>
              <a:t>Machine learning used in many complex and messy problem in the real world application, such as email filtering, computer vision, product recommendation in online stores, etc. </a:t>
            </a:r>
            <a:endParaRPr b="0" lang="en-US" sz="2400" spc="-1" strike="noStrike">
              <a:solidFill>
                <a:srgbClr val="404040"/>
              </a:solidFill>
              <a:latin typeface="Calibri"/>
            </a:endParaRP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404040"/>
                </a:solidFill>
                <a:latin typeface="Calibri"/>
              </a:rPr>
              <a:t>Focuses on making predictions using computer, learn from previous data.</a:t>
            </a:r>
            <a:endParaRPr b="0" lang="en-US" sz="2400" spc="-1" strike="noStrike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b="0" lang="en-US" sz="24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Shape 1"/>
          <p:cNvSpPr txBox="1"/>
          <p:nvPr/>
        </p:nvSpPr>
        <p:spPr>
          <a:xfrm>
            <a:off x="552960" y="2275560"/>
            <a:ext cx="3416400" cy="43776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rmAutofit fontScale="35000"/>
          </a:bodyPr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Rules to predict “Banana”, such as yellow color or “long shapes”.</a:t>
            </a: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pic>
        <p:nvPicPr>
          <p:cNvPr id="146" name="Picture 6" descr=""/>
          <p:cNvPicPr/>
          <p:nvPr/>
        </p:nvPicPr>
        <p:blipFill>
          <a:blip r:embed="rId1"/>
          <a:srcRect l="0" t="22824" r="0" b="24899"/>
          <a:stretch/>
        </p:blipFill>
        <p:spPr>
          <a:xfrm>
            <a:off x="-1440" y="0"/>
            <a:ext cx="3970800" cy="2075400"/>
          </a:xfrm>
          <a:prstGeom prst="rect">
            <a:avLst/>
          </a:prstGeom>
          <a:ln>
            <a:noFill/>
          </a:ln>
        </p:spPr>
      </p:pic>
      <p:pic>
        <p:nvPicPr>
          <p:cNvPr id="147" name="Picture 8" descr=""/>
          <p:cNvPicPr/>
          <p:nvPr/>
        </p:nvPicPr>
        <p:blipFill>
          <a:blip r:embed="rId2"/>
          <a:stretch/>
        </p:blipFill>
        <p:spPr>
          <a:xfrm>
            <a:off x="4723200" y="490680"/>
            <a:ext cx="651600" cy="532080"/>
          </a:xfrm>
          <a:prstGeom prst="rect">
            <a:avLst/>
          </a:prstGeom>
          <a:ln>
            <a:noFill/>
          </a:ln>
        </p:spPr>
      </p:pic>
      <p:sp>
        <p:nvSpPr>
          <p:cNvPr id="148" name="CustomShape 2"/>
          <p:cNvSpPr/>
          <p:nvPr/>
        </p:nvSpPr>
        <p:spPr>
          <a:xfrm>
            <a:off x="4090320" y="621000"/>
            <a:ext cx="460080" cy="271440"/>
          </a:xfrm>
          <a:prstGeom prst="right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9" name="CustomShape 3"/>
          <p:cNvSpPr/>
          <p:nvPr/>
        </p:nvSpPr>
        <p:spPr>
          <a:xfrm>
            <a:off x="5547600" y="621000"/>
            <a:ext cx="460080" cy="271440"/>
          </a:xfrm>
          <a:prstGeom prst="right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0" name="CustomShape 4"/>
          <p:cNvSpPr/>
          <p:nvPr/>
        </p:nvSpPr>
        <p:spPr>
          <a:xfrm rot="17698200">
            <a:off x="6497640" y="288000"/>
            <a:ext cx="370440" cy="937440"/>
          </a:xfrm>
          <a:prstGeom prst="moon">
            <a:avLst>
              <a:gd name="adj" fmla="val 50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1" name="CustomShape 5"/>
          <p:cNvSpPr/>
          <p:nvPr/>
        </p:nvSpPr>
        <p:spPr>
          <a:xfrm>
            <a:off x="6309720" y="1059840"/>
            <a:ext cx="87156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banana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2" name="CustomShape 6"/>
          <p:cNvSpPr/>
          <p:nvPr/>
        </p:nvSpPr>
        <p:spPr>
          <a:xfrm>
            <a:off x="1439280" y="1906200"/>
            <a:ext cx="108936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Image file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53" name="Picture 6" descr=""/>
          <p:cNvPicPr/>
          <p:nvPr/>
        </p:nvPicPr>
        <p:blipFill>
          <a:blip r:embed="rId3"/>
          <a:srcRect l="0" t="22824" r="0" b="24899"/>
          <a:stretch/>
        </p:blipFill>
        <p:spPr>
          <a:xfrm>
            <a:off x="127800" y="3708720"/>
            <a:ext cx="3233520" cy="1690200"/>
          </a:xfrm>
          <a:prstGeom prst="rect">
            <a:avLst/>
          </a:prstGeom>
          <a:ln>
            <a:noFill/>
          </a:ln>
        </p:spPr>
      </p:pic>
      <p:pic>
        <p:nvPicPr>
          <p:cNvPr id="154" name="Picture 4" descr=""/>
          <p:cNvPicPr/>
          <p:nvPr/>
        </p:nvPicPr>
        <p:blipFill>
          <a:blip r:embed="rId4"/>
          <a:stretch/>
        </p:blipFill>
        <p:spPr>
          <a:xfrm>
            <a:off x="3311640" y="3708720"/>
            <a:ext cx="2017440" cy="2017440"/>
          </a:xfrm>
          <a:prstGeom prst="rect">
            <a:avLst/>
          </a:prstGeom>
          <a:ln>
            <a:noFill/>
          </a:ln>
        </p:spPr>
      </p:pic>
      <p:graphicFrame>
        <p:nvGraphicFramePr>
          <p:cNvPr id="155" name="Chart 13"/>
          <p:cNvGraphicFramePr/>
          <p:nvPr/>
        </p:nvGraphicFramePr>
        <p:xfrm>
          <a:off x="5720400" y="1735200"/>
          <a:ext cx="6393960" cy="4591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Picture 4" descr=""/>
          <p:cNvPicPr/>
          <p:nvPr/>
        </p:nvPicPr>
        <p:blipFill>
          <a:blip r:embed="rId1"/>
          <a:stretch/>
        </p:blipFill>
        <p:spPr>
          <a:xfrm>
            <a:off x="148320" y="0"/>
            <a:ext cx="2050920" cy="2050920"/>
          </a:xfrm>
          <a:prstGeom prst="rect">
            <a:avLst/>
          </a:prstGeom>
          <a:ln>
            <a:noFill/>
          </a:ln>
        </p:spPr>
      </p:pic>
      <p:graphicFrame>
        <p:nvGraphicFramePr>
          <p:cNvPr id="157" name="Chart 7"/>
          <p:cNvGraphicFramePr/>
          <p:nvPr/>
        </p:nvGraphicFramePr>
        <p:xfrm>
          <a:off x="4488120" y="1585440"/>
          <a:ext cx="6973920" cy="487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8" name="CustomShape 1"/>
          <p:cNvSpPr/>
          <p:nvPr/>
        </p:nvSpPr>
        <p:spPr>
          <a:xfrm>
            <a:off x="350640" y="1866600"/>
            <a:ext cx="135000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Peach image</a:t>
            </a:r>
            <a:endParaRPr b="0" lang="en-US" sz="1800" spc="-1" strike="noStrike">
              <a:latin typeface="Arial"/>
            </a:endParaRPr>
          </a:p>
        </p:txBody>
      </p:sp>
      <p:grpSp>
        <p:nvGrpSpPr>
          <p:cNvPr id="159" name="Group 2"/>
          <p:cNvGrpSpPr/>
          <p:nvPr/>
        </p:nvGrpSpPr>
        <p:grpSpPr>
          <a:xfrm>
            <a:off x="72360" y="2463120"/>
            <a:ext cx="2017440" cy="2275200"/>
            <a:chOff x="72360" y="2463120"/>
            <a:chExt cx="2017440" cy="2275200"/>
          </a:xfrm>
        </p:grpSpPr>
        <p:pic>
          <p:nvPicPr>
            <p:cNvPr id="160" name="Picture 4" descr=""/>
            <p:cNvPicPr/>
            <p:nvPr/>
          </p:nvPicPr>
          <p:blipFill>
            <a:blip r:embed="rId3"/>
            <a:stretch/>
          </p:blipFill>
          <p:spPr>
            <a:xfrm>
              <a:off x="72360" y="2463120"/>
              <a:ext cx="2017440" cy="2017440"/>
            </a:xfrm>
            <a:prstGeom prst="rect">
              <a:avLst/>
            </a:prstGeom>
            <a:ln>
              <a:noFill/>
            </a:ln>
          </p:spPr>
        </p:pic>
        <p:sp>
          <p:nvSpPr>
            <p:cNvPr id="161" name="CustomShape 3"/>
            <p:cNvSpPr/>
            <p:nvPr/>
          </p:nvSpPr>
          <p:spPr>
            <a:xfrm>
              <a:off x="291240" y="4373640"/>
              <a:ext cx="1504080" cy="3646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Calibri"/>
                </a:rPr>
                <a:t>Apple 1 image</a:t>
              </a:r>
              <a:endParaRPr b="0" lang="en-US" sz="1800" spc="-1" strike="noStrike">
                <a:latin typeface="Arial"/>
              </a:endParaRPr>
            </a:p>
          </p:txBody>
        </p:sp>
      </p:grpSp>
      <p:grpSp>
        <p:nvGrpSpPr>
          <p:cNvPr id="162" name="Group 4"/>
          <p:cNvGrpSpPr/>
          <p:nvPr/>
        </p:nvGrpSpPr>
        <p:grpSpPr>
          <a:xfrm>
            <a:off x="2053440" y="2246040"/>
            <a:ext cx="2149560" cy="2492280"/>
            <a:chOff x="2053440" y="2246040"/>
            <a:chExt cx="2149560" cy="2492280"/>
          </a:xfrm>
        </p:grpSpPr>
        <p:pic>
          <p:nvPicPr>
            <p:cNvPr id="163" name="Picture 12" descr=""/>
            <p:cNvPicPr/>
            <p:nvPr/>
          </p:nvPicPr>
          <p:blipFill>
            <a:blip r:embed="rId4"/>
            <a:stretch/>
          </p:blipFill>
          <p:spPr>
            <a:xfrm>
              <a:off x="2053440" y="2246040"/>
              <a:ext cx="2149560" cy="2125800"/>
            </a:xfrm>
            <a:prstGeom prst="rect">
              <a:avLst/>
            </a:prstGeom>
            <a:ln>
              <a:noFill/>
            </a:ln>
          </p:spPr>
        </p:pic>
        <p:sp>
          <p:nvSpPr>
            <p:cNvPr id="164" name="CustomShape 5"/>
            <p:cNvSpPr/>
            <p:nvPr/>
          </p:nvSpPr>
          <p:spPr>
            <a:xfrm>
              <a:off x="2460960" y="4373640"/>
              <a:ext cx="1504080" cy="3646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Calibri"/>
                </a:rPr>
                <a:t>Apple 2 image</a:t>
              </a:r>
              <a:endParaRPr b="0" lang="en-US" sz="1800" spc="-1" strike="noStrike">
                <a:latin typeface="Arial"/>
              </a:endParaRPr>
            </a:p>
          </p:txBody>
        </p:sp>
      </p:grpSp>
      <p:sp>
        <p:nvSpPr>
          <p:cNvPr id="165" name="CustomShape 6"/>
          <p:cNvSpPr/>
          <p:nvPr/>
        </p:nvSpPr>
        <p:spPr>
          <a:xfrm>
            <a:off x="2467440" y="1214640"/>
            <a:ext cx="924120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Real World problem is too complex, rules would be to much to coded, we need to train a classifier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>
              <a:lnSpc>
                <a:spcPct val="85000"/>
              </a:lnSpc>
            </a:pPr>
            <a:r>
              <a:rPr b="0" lang="en-US" sz="4800" spc="-52" strike="noStrike">
                <a:solidFill>
                  <a:srgbClr val="404040"/>
                </a:solidFill>
                <a:latin typeface="Calibri Light"/>
              </a:rPr>
              <a:t>Classifier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7" name="TextShape 2"/>
          <p:cNvSpPr txBox="1"/>
          <p:nvPr/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Autofit/>
          </a:bodyPr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rgbClr val="404040"/>
                </a:solidFill>
                <a:latin typeface="Calibri"/>
              </a:rPr>
              <a:t>Classifier is used to classify the data</a:t>
            </a: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rgbClr val="404040"/>
                </a:solidFill>
                <a:latin typeface="Calibri"/>
              </a:rPr>
              <a:t>Takes data as an input, and label / class as an output</a:t>
            </a: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rgbClr val="404040"/>
                </a:solidFill>
                <a:latin typeface="Calibri"/>
              </a:rPr>
              <a:t>The technique to create the classifier automatically is called Supervised Learning</a:t>
            </a: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en-US" sz="3600" spc="-1" strike="noStrike">
                <a:solidFill>
                  <a:srgbClr val="404040"/>
                </a:solidFill>
                <a:latin typeface="Calibri"/>
              </a:rPr>
              <a:t>Supervised Learning : </a:t>
            </a:r>
            <a:endParaRPr b="0" lang="en-US" sz="3600" spc="-1" strike="noStrike">
              <a:solidFill>
                <a:srgbClr val="404040"/>
              </a:solidFill>
              <a:latin typeface="Calibri"/>
            </a:endParaRP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rgbClr val="404040"/>
                </a:solidFill>
                <a:latin typeface="Calibri"/>
              </a:rPr>
              <a:t>Create a Classifier by finding pattern in examples.</a:t>
            </a: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Picture 4" descr=""/>
          <p:cNvPicPr/>
          <p:nvPr/>
        </p:nvPicPr>
        <p:blipFill>
          <a:blip r:embed="rId1"/>
          <a:stretch/>
        </p:blipFill>
        <p:spPr>
          <a:xfrm>
            <a:off x="1700280" y="2550960"/>
            <a:ext cx="4114440" cy="2214720"/>
          </a:xfrm>
          <a:prstGeom prst="rect">
            <a:avLst/>
          </a:prstGeom>
          <a:ln>
            <a:noFill/>
          </a:ln>
        </p:spPr>
      </p:pic>
      <p:pic>
        <p:nvPicPr>
          <p:cNvPr id="169" name="Picture 6" descr=""/>
          <p:cNvPicPr/>
          <p:nvPr/>
        </p:nvPicPr>
        <p:blipFill>
          <a:blip r:embed="rId2"/>
          <a:stretch/>
        </p:blipFill>
        <p:spPr>
          <a:xfrm>
            <a:off x="6178320" y="2315160"/>
            <a:ext cx="3222720" cy="26863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CustomShape 1"/>
          <p:cNvSpPr/>
          <p:nvPr/>
        </p:nvSpPr>
        <p:spPr>
          <a:xfrm>
            <a:off x="1371600" y="3229560"/>
            <a:ext cx="2548440" cy="97236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Collect Training Data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71" name="TextShape 2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>
              <a:lnSpc>
                <a:spcPct val="85000"/>
              </a:lnSpc>
            </a:pPr>
            <a:r>
              <a:rPr b="0" lang="en-US" sz="4800" spc="-52" strike="noStrike">
                <a:solidFill>
                  <a:srgbClr val="404040"/>
                </a:solidFill>
                <a:latin typeface="Calibri Light"/>
              </a:rPr>
              <a:t>Supervised Learning Step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2" name="CustomShape 3"/>
          <p:cNvSpPr/>
          <p:nvPr/>
        </p:nvSpPr>
        <p:spPr>
          <a:xfrm>
            <a:off x="4656240" y="3229560"/>
            <a:ext cx="2548440" cy="97236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Train the classifier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73" name="CustomShape 4"/>
          <p:cNvSpPr/>
          <p:nvPr/>
        </p:nvSpPr>
        <p:spPr>
          <a:xfrm>
            <a:off x="7940880" y="3229560"/>
            <a:ext cx="2548440" cy="97236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Make a prediction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74" name="CustomShape 5"/>
          <p:cNvSpPr/>
          <p:nvPr/>
        </p:nvSpPr>
        <p:spPr>
          <a:xfrm>
            <a:off x="3920400" y="3585600"/>
            <a:ext cx="735840" cy="266400"/>
          </a:xfrm>
          <a:prstGeom prst="right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5" name="CustomShape 6"/>
          <p:cNvSpPr/>
          <p:nvPr/>
        </p:nvSpPr>
        <p:spPr>
          <a:xfrm>
            <a:off x="7205040" y="3585600"/>
            <a:ext cx="735840" cy="266400"/>
          </a:xfrm>
          <a:prstGeom prst="right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mph" presetID="26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7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Shape 1"/>
          <p:cNvSpPr txBox="1"/>
          <p:nvPr/>
        </p:nvSpPr>
        <p:spPr>
          <a:xfrm>
            <a:off x="182880" y="101880"/>
            <a:ext cx="5201640" cy="63720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 fontScale="30000"/>
          </a:bodyPr>
          <a:p>
            <a:pPr>
              <a:lnSpc>
                <a:spcPct val="85000"/>
              </a:lnSpc>
            </a:pPr>
            <a:r>
              <a:rPr b="0" lang="en-US" sz="4800" spc="-52" strike="noStrike">
                <a:solidFill>
                  <a:srgbClr val="404040"/>
                </a:solidFill>
                <a:latin typeface="Calibri Light"/>
              </a:rPr>
              <a:t>Collect Training Data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177" name="Table 2"/>
          <p:cNvGraphicFramePr/>
          <p:nvPr/>
        </p:nvGraphicFramePr>
        <p:xfrm>
          <a:off x="659160" y="1856160"/>
          <a:ext cx="4544640" cy="4048200"/>
        </p:xfrm>
        <a:graphic>
          <a:graphicData uri="http://schemas.openxmlformats.org/drawingml/2006/table">
            <a:tbl>
              <a:tblPr/>
              <a:tblGrid>
                <a:gridCol w="1514880"/>
                <a:gridCol w="1514880"/>
                <a:gridCol w="1514880"/>
              </a:tblGrid>
              <a:tr h="67464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2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Weight 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2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Shape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2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Label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48312"/>
                    </a:solidFill>
                  </a:tcPr>
                </a:tc>
              </a:tr>
              <a:tr h="67464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200g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d8cc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Moon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d8cc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Banana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d8cc"/>
                    </a:solidFill>
                  </a:tcPr>
                </a:tc>
              </a:tr>
              <a:tr h="67464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180g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Moon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Banana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9ece7"/>
                    </a:solidFill>
                  </a:tcPr>
                </a:tc>
              </a:tr>
              <a:tr h="67464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130g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d8cc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Round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d8cc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Apple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d8cc"/>
                    </a:solidFill>
                  </a:tcPr>
                </a:tc>
              </a:tr>
              <a:tr h="67464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142g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Round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Apple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9ece7"/>
                    </a:solidFill>
                  </a:tcPr>
                </a:tc>
              </a:tr>
              <a:tr h="6750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…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d8cc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…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d8cc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…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d8cc"/>
                    </a:solidFill>
                  </a:tcPr>
                </a:tc>
              </a:tr>
            </a:tbl>
          </a:graphicData>
        </a:graphic>
      </p:graphicFrame>
      <p:sp>
        <p:nvSpPr>
          <p:cNvPr id="178" name="CustomShape 3"/>
          <p:cNvSpPr/>
          <p:nvPr/>
        </p:nvSpPr>
        <p:spPr>
          <a:xfrm>
            <a:off x="1225800" y="1497960"/>
            <a:ext cx="281880" cy="340200"/>
          </a:xfrm>
          <a:prstGeom prst="down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9" name="CustomShape 4"/>
          <p:cNvSpPr/>
          <p:nvPr/>
        </p:nvSpPr>
        <p:spPr>
          <a:xfrm>
            <a:off x="561240" y="1036080"/>
            <a:ext cx="164412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3b56c"/>
                </a:solidFill>
                <a:latin typeface="Calibri"/>
              </a:rPr>
              <a:t>FEATURES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80" name="CustomShape 5"/>
          <p:cNvSpPr/>
          <p:nvPr/>
        </p:nvSpPr>
        <p:spPr>
          <a:xfrm>
            <a:off x="2924640" y="1515600"/>
            <a:ext cx="281880" cy="340200"/>
          </a:xfrm>
          <a:prstGeom prst="down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1" name="CustomShape 6"/>
          <p:cNvSpPr/>
          <p:nvPr/>
        </p:nvSpPr>
        <p:spPr>
          <a:xfrm>
            <a:off x="2243520" y="1044720"/>
            <a:ext cx="164412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3b56c"/>
                </a:solidFill>
                <a:latin typeface="Calibri"/>
              </a:rPr>
              <a:t>FEATURES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182" name="Group 7"/>
          <p:cNvGrpSpPr/>
          <p:nvPr/>
        </p:nvGrpSpPr>
        <p:grpSpPr>
          <a:xfrm>
            <a:off x="659160" y="2549160"/>
            <a:ext cx="7086600" cy="611280"/>
            <a:chOff x="659160" y="2549160"/>
            <a:chExt cx="7086600" cy="611280"/>
          </a:xfrm>
        </p:grpSpPr>
        <p:sp>
          <p:nvSpPr>
            <p:cNvPr id="183" name="CustomShape 8"/>
            <p:cNvSpPr/>
            <p:nvPr/>
          </p:nvSpPr>
          <p:spPr>
            <a:xfrm>
              <a:off x="5204160" y="2619000"/>
              <a:ext cx="778320" cy="383400"/>
            </a:xfrm>
            <a:prstGeom prst="leftArrow">
              <a:avLst>
                <a:gd name="adj1" fmla="val 50000"/>
                <a:gd name="adj2" fmla="val 50000"/>
              </a:avLst>
            </a:prstGeom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4" name="CustomShape 9"/>
            <p:cNvSpPr/>
            <p:nvPr/>
          </p:nvSpPr>
          <p:spPr>
            <a:xfrm>
              <a:off x="5993280" y="2549160"/>
              <a:ext cx="1752480" cy="51696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2800" spc="-1" strike="noStrike">
                  <a:solidFill>
                    <a:srgbClr val="f3b56c"/>
                  </a:solidFill>
                  <a:latin typeface="Calibri"/>
                </a:rPr>
                <a:t>EXAMPLES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85" name="CustomShape 10"/>
            <p:cNvSpPr/>
            <p:nvPr/>
          </p:nvSpPr>
          <p:spPr>
            <a:xfrm>
              <a:off x="659160" y="2549160"/>
              <a:ext cx="4544640" cy="61128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86" name="Group 11"/>
          <p:cNvGrpSpPr/>
          <p:nvPr/>
        </p:nvGrpSpPr>
        <p:grpSpPr>
          <a:xfrm>
            <a:off x="3773520" y="1044720"/>
            <a:ext cx="1351440" cy="4745880"/>
            <a:chOff x="3773520" y="1044720"/>
            <a:chExt cx="1351440" cy="4745880"/>
          </a:xfrm>
        </p:grpSpPr>
        <p:sp>
          <p:nvSpPr>
            <p:cNvPr id="187" name="CustomShape 12"/>
            <p:cNvSpPr/>
            <p:nvPr/>
          </p:nvSpPr>
          <p:spPr>
            <a:xfrm>
              <a:off x="4247640" y="1515600"/>
              <a:ext cx="281880" cy="340200"/>
            </a:xfrm>
            <a:prstGeom prst="downArrow">
              <a:avLst>
                <a:gd name="adj1" fmla="val 50000"/>
                <a:gd name="adj2" fmla="val 50000"/>
              </a:avLst>
            </a:prstGeom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8" name="CustomShape 13"/>
            <p:cNvSpPr/>
            <p:nvPr/>
          </p:nvSpPr>
          <p:spPr>
            <a:xfrm>
              <a:off x="3780720" y="1044720"/>
              <a:ext cx="1238760" cy="51696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2800" spc="-1" strike="noStrike">
                  <a:solidFill>
                    <a:srgbClr val="f3b56c"/>
                  </a:solidFill>
                  <a:latin typeface="Calibri"/>
                </a:rPr>
                <a:t>LABELS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89" name="CustomShape 14"/>
            <p:cNvSpPr/>
            <p:nvPr/>
          </p:nvSpPr>
          <p:spPr>
            <a:xfrm>
              <a:off x="3773520" y="2549160"/>
              <a:ext cx="1351440" cy="324144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90" name="CustomShape 15"/>
          <p:cNvSpPr/>
          <p:nvPr/>
        </p:nvSpPr>
        <p:spPr>
          <a:xfrm>
            <a:off x="5384880" y="4513320"/>
            <a:ext cx="6377760" cy="1065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ab620d"/>
                </a:solidFill>
                <a:latin typeface="Calibri"/>
              </a:rPr>
              <a:t>The more examples we have, the better classifier we have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" dur="indefinite" restart="never" nodeType="tmRoot">
          <p:childTnLst>
            <p:seq>
              <p:cTn id="9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nodeType="click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35" dur="50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" dur="50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nodeType="with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39" dur="5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" dur="5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nodeType="with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43" dur="50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" dur="50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nodeType="with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47" dur="50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" dur="50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4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5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nodeType="click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006 -3.7037E-006 L -2.08333E-006 0.09792 E">
                                      <p:cBhvr>
                                        <p:cTn id="59" dur="20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nodeType="click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63" dur="5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4" dur="5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0" dur="1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1" dur="1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Shape 1"/>
          <p:cNvSpPr txBox="1"/>
          <p:nvPr/>
        </p:nvSpPr>
        <p:spPr>
          <a:xfrm>
            <a:off x="1097280" y="5215320"/>
            <a:ext cx="10058040" cy="65340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rmAutofit/>
          </a:bodyPr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3200" spc="-1" strike="noStrike">
                <a:solidFill>
                  <a:srgbClr val="ab620d"/>
                </a:solidFill>
                <a:latin typeface="Calibri"/>
              </a:rPr>
              <a:t>Scikit use real values features</a:t>
            </a:r>
            <a:endParaRPr b="0" lang="en-US" sz="3200" spc="-1" strike="noStrike">
              <a:solidFill>
                <a:srgbClr val="404040"/>
              </a:solidFill>
              <a:latin typeface="Calibri"/>
            </a:endParaRPr>
          </a:p>
        </p:txBody>
      </p:sp>
      <p:pic>
        <p:nvPicPr>
          <p:cNvPr id="192" name="Picture 4" descr=""/>
          <p:cNvPicPr/>
          <p:nvPr/>
        </p:nvPicPr>
        <p:blipFill>
          <a:blip r:embed="rId1"/>
          <a:stretch/>
        </p:blipFill>
        <p:spPr>
          <a:xfrm>
            <a:off x="-2813760" y="99720"/>
            <a:ext cx="15005520" cy="49129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Shape 1"/>
          <p:cNvSpPr txBox="1"/>
          <p:nvPr/>
        </p:nvSpPr>
        <p:spPr>
          <a:xfrm>
            <a:off x="239400" y="0"/>
            <a:ext cx="4704840" cy="77436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 fontScale="42000"/>
          </a:bodyPr>
          <a:p>
            <a:pPr>
              <a:lnSpc>
                <a:spcPct val="85000"/>
              </a:lnSpc>
            </a:pPr>
            <a:r>
              <a:rPr b="0" lang="en-US" sz="4800" spc="-52" strike="noStrike">
                <a:solidFill>
                  <a:srgbClr val="404040"/>
                </a:solidFill>
                <a:latin typeface="Calibri Light"/>
              </a:rPr>
              <a:t>Train the Classifier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4" name="TextShape 2"/>
          <p:cNvSpPr txBox="1"/>
          <p:nvPr/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95" name="CustomShape 3"/>
          <p:cNvSpPr/>
          <p:nvPr/>
        </p:nvSpPr>
        <p:spPr>
          <a:xfrm>
            <a:off x="1371600" y="3229560"/>
            <a:ext cx="2548440" cy="97236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Collect Training Data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6" name="CustomShape 4"/>
          <p:cNvSpPr/>
          <p:nvPr/>
        </p:nvSpPr>
        <p:spPr>
          <a:xfrm>
            <a:off x="4656240" y="3229560"/>
            <a:ext cx="2548440" cy="97236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Train the classifier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7" name="CustomShape 5"/>
          <p:cNvSpPr/>
          <p:nvPr/>
        </p:nvSpPr>
        <p:spPr>
          <a:xfrm>
            <a:off x="7940880" y="3229560"/>
            <a:ext cx="2548440" cy="97236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Make a prediction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8" name="CustomShape 6"/>
          <p:cNvSpPr/>
          <p:nvPr/>
        </p:nvSpPr>
        <p:spPr>
          <a:xfrm>
            <a:off x="3920400" y="3585600"/>
            <a:ext cx="735840" cy="266400"/>
          </a:xfrm>
          <a:prstGeom prst="right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9" name="CustomShape 7"/>
          <p:cNvSpPr/>
          <p:nvPr/>
        </p:nvSpPr>
        <p:spPr>
          <a:xfrm>
            <a:off x="7205040" y="3585600"/>
            <a:ext cx="735840" cy="266400"/>
          </a:xfrm>
          <a:prstGeom prst="right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2" dur="indefinite" restart="never" nodeType="tmRoot">
          <p:childTnLst>
            <p:seq>
              <p:cTn id="73" dur="indefinite" nodeType="mainSeq">
                <p:childTnLst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nodeType="clickEffect" fill="hold" presetClass="emph" presetID="26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77"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8" dur="500" autoRev="1" fill="hold"/>
                                        <p:tgtEl>
                                          <p:spTgt spid="19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Shape 1"/>
          <p:cNvSpPr txBox="1"/>
          <p:nvPr/>
        </p:nvSpPr>
        <p:spPr>
          <a:xfrm>
            <a:off x="227880" y="105840"/>
            <a:ext cx="3869640" cy="7628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>
              <a:lnSpc>
                <a:spcPct val="85000"/>
              </a:lnSpc>
            </a:pPr>
            <a:r>
              <a:rPr b="0" lang="en-US" sz="4800" spc="-52" strike="noStrike">
                <a:solidFill>
                  <a:srgbClr val="404040"/>
                </a:solidFill>
                <a:latin typeface="Calibri Light"/>
              </a:rPr>
              <a:t>Decision Tree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1" name="CustomShape 2"/>
          <p:cNvSpPr/>
          <p:nvPr/>
        </p:nvSpPr>
        <p:spPr>
          <a:xfrm>
            <a:off x="2560320" y="1246320"/>
            <a:ext cx="1803960" cy="39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Weight </a:t>
            </a:r>
            <a:r>
              <a:rPr b="1" lang="en-US" sz="2000" spc="-1" strike="noStrike" u="sng">
                <a:solidFill>
                  <a:srgbClr val="000000"/>
                </a:solidFill>
                <a:uFillTx/>
                <a:latin typeface="Calibri"/>
              </a:rPr>
              <a:t>&gt;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 160g?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02" name="CustomShape 3"/>
          <p:cNvSpPr/>
          <p:nvPr/>
        </p:nvSpPr>
        <p:spPr>
          <a:xfrm flipH="1">
            <a:off x="2406240" y="1817640"/>
            <a:ext cx="1056240" cy="142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3" name="CustomShape 4"/>
          <p:cNvSpPr/>
          <p:nvPr/>
        </p:nvSpPr>
        <p:spPr>
          <a:xfrm>
            <a:off x="3462480" y="1806120"/>
            <a:ext cx="760680" cy="1455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4" name="CustomShape 5"/>
          <p:cNvSpPr/>
          <p:nvPr/>
        </p:nvSpPr>
        <p:spPr>
          <a:xfrm>
            <a:off x="2262600" y="2404440"/>
            <a:ext cx="522360" cy="39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ab620d"/>
                </a:solidFill>
                <a:latin typeface="Calibri"/>
              </a:rPr>
              <a:t>Yes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05" name="CustomShape 6"/>
          <p:cNvSpPr/>
          <p:nvPr/>
        </p:nvSpPr>
        <p:spPr>
          <a:xfrm>
            <a:off x="4017600" y="2404440"/>
            <a:ext cx="486000" cy="39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ab620d"/>
                </a:solidFill>
                <a:latin typeface="Calibri"/>
              </a:rPr>
              <a:t>No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06" name="CustomShape 7"/>
          <p:cNvSpPr/>
          <p:nvPr/>
        </p:nvSpPr>
        <p:spPr>
          <a:xfrm>
            <a:off x="1315440" y="3262320"/>
            <a:ext cx="2044800" cy="39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Shape = “Moon”?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07" name="CustomShape 8"/>
          <p:cNvSpPr/>
          <p:nvPr/>
        </p:nvSpPr>
        <p:spPr>
          <a:xfrm flipH="1">
            <a:off x="1251360" y="3666240"/>
            <a:ext cx="1056240" cy="142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8" name="CustomShape 9"/>
          <p:cNvSpPr/>
          <p:nvPr/>
        </p:nvSpPr>
        <p:spPr>
          <a:xfrm>
            <a:off x="2307600" y="3655080"/>
            <a:ext cx="760680" cy="1455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9" name="CustomShape 10"/>
          <p:cNvSpPr/>
          <p:nvPr/>
        </p:nvSpPr>
        <p:spPr>
          <a:xfrm>
            <a:off x="1107720" y="4253400"/>
            <a:ext cx="522360" cy="39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ab620d"/>
                </a:solidFill>
                <a:latin typeface="Calibri"/>
              </a:rPr>
              <a:t>Yes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10" name="CustomShape 11"/>
          <p:cNvSpPr/>
          <p:nvPr/>
        </p:nvSpPr>
        <p:spPr>
          <a:xfrm>
            <a:off x="2862720" y="4253400"/>
            <a:ext cx="486000" cy="39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ab620d"/>
                </a:solidFill>
                <a:latin typeface="Calibri"/>
              </a:rPr>
              <a:t>No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11" name="CustomShape 12"/>
          <p:cNvSpPr/>
          <p:nvPr/>
        </p:nvSpPr>
        <p:spPr>
          <a:xfrm>
            <a:off x="482040" y="5111280"/>
            <a:ext cx="1361160" cy="43128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Banana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2" name="CustomShape 13"/>
          <p:cNvSpPr/>
          <p:nvPr/>
        </p:nvSpPr>
        <p:spPr>
          <a:xfrm>
            <a:off x="2382480" y="5124600"/>
            <a:ext cx="1361160" cy="43128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Apple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3" name="CustomShape 14"/>
          <p:cNvSpPr/>
          <p:nvPr/>
        </p:nvSpPr>
        <p:spPr>
          <a:xfrm>
            <a:off x="3953880" y="3240000"/>
            <a:ext cx="612720" cy="39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……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14" name="CustomShape 15"/>
          <p:cNvSpPr/>
          <p:nvPr/>
        </p:nvSpPr>
        <p:spPr>
          <a:xfrm>
            <a:off x="7079760" y="1250640"/>
            <a:ext cx="2733480" cy="45612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150g, round shape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15" name="Picture 36" descr=""/>
          <p:cNvPicPr/>
          <p:nvPr/>
        </p:nvPicPr>
        <p:blipFill>
          <a:blip r:embed="rId1"/>
          <a:stretch/>
        </p:blipFill>
        <p:spPr>
          <a:xfrm>
            <a:off x="7428240" y="2551320"/>
            <a:ext cx="1896120" cy="1881720"/>
          </a:xfrm>
          <a:prstGeom prst="rect">
            <a:avLst/>
          </a:prstGeom>
          <a:ln>
            <a:noFill/>
          </a:ln>
        </p:spPr>
      </p:pic>
      <p:sp>
        <p:nvSpPr>
          <p:cNvPr id="216" name="CustomShape 16"/>
          <p:cNvSpPr/>
          <p:nvPr/>
        </p:nvSpPr>
        <p:spPr>
          <a:xfrm>
            <a:off x="8161920" y="1806120"/>
            <a:ext cx="569160" cy="744840"/>
          </a:xfrm>
          <a:prstGeom prst="down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7" name="CustomShape 17"/>
          <p:cNvSpPr/>
          <p:nvPr/>
        </p:nvSpPr>
        <p:spPr>
          <a:xfrm>
            <a:off x="7719120" y="5327280"/>
            <a:ext cx="1361160" cy="43128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Apple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8" name="CustomShape 18"/>
          <p:cNvSpPr/>
          <p:nvPr/>
        </p:nvSpPr>
        <p:spPr>
          <a:xfrm>
            <a:off x="8115120" y="4507560"/>
            <a:ext cx="569160" cy="744840"/>
          </a:xfrm>
          <a:prstGeom prst="down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0" name="TextShape 2"/>
          <p:cNvSpPr txBox="1"/>
          <p:nvPr/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Autofit/>
          </a:bodyPr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rgbClr val="404040"/>
                </a:solidFill>
                <a:latin typeface="Calibri"/>
              </a:rPr>
              <a:t>Classifier will find pattern in training data. in Scikit, training algorithm is provided, and we call it “fit”</a:t>
            </a: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rgbClr val="404040"/>
                </a:solidFill>
                <a:latin typeface="Calibri"/>
              </a:rPr>
              <a:t>“</a:t>
            </a:r>
            <a:r>
              <a:rPr b="0" lang="en-US" sz="2000" spc="-1" strike="noStrike">
                <a:solidFill>
                  <a:srgbClr val="404040"/>
                </a:solidFill>
                <a:latin typeface="Calibri"/>
              </a:rPr>
              <a:t>fit” is synonym with “</a:t>
            </a:r>
            <a:r>
              <a:rPr b="1" lang="en-US" sz="3200" spc="-1" strike="noStrike">
                <a:solidFill>
                  <a:srgbClr val="ab620d"/>
                </a:solidFill>
                <a:latin typeface="Calibri"/>
              </a:rPr>
              <a:t>fi</a:t>
            </a:r>
            <a:r>
              <a:rPr b="0" lang="en-US" sz="2000" spc="-1" strike="noStrike">
                <a:solidFill>
                  <a:srgbClr val="404040"/>
                </a:solidFill>
                <a:latin typeface="Calibri"/>
              </a:rPr>
              <a:t>nding pa</a:t>
            </a:r>
            <a:r>
              <a:rPr b="0" lang="en-US" sz="3600" spc="-1" strike="noStrike">
                <a:solidFill>
                  <a:srgbClr val="ab620d"/>
                </a:solidFill>
                <a:latin typeface="Calibri"/>
              </a:rPr>
              <a:t>t</a:t>
            </a:r>
            <a:r>
              <a:rPr b="0" lang="en-US" sz="2000" spc="-1" strike="noStrike">
                <a:solidFill>
                  <a:srgbClr val="404040"/>
                </a:solidFill>
                <a:latin typeface="Calibri"/>
              </a:rPr>
              <a:t>tern in data”</a:t>
            </a: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b="0" lang="en-US" sz="2000" spc="-1" strike="noStrike">
                <a:solidFill>
                  <a:srgbClr val="404040"/>
                </a:solidFill>
                <a:latin typeface="Calibri"/>
              </a:rPr>
              <a:t>Use </a:t>
            </a:r>
            <a:r>
              <a:rPr b="1" lang="en-US" sz="3200" spc="-1" strike="noStrike">
                <a:solidFill>
                  <a:srgbClr val="ab620d"/>
                </a:solidFill>
                <a:latin typeface="Calibri"/>
              </a:rPr>
              <a:t>predict</a:t>
            </a:r>
            <a:r>
              <a:rPr b="0" lang="en-US" sz="2000" spc="-1" strike="noStrike">
                <a:solidFill>
                  <a:srgbClr val="404040"/>
                </a:solidFill>
                <a:latin typeface="Calibri"/>
              </a:rPr>
              <a:t> object to predict the data</a:t>
            </a: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221" name="CustomShape 3"/>
          <p:cNvSpPr/>
          <p:nvPr/>
        </p:nvSpPr>
        <p:spPr>
          <a:xfrm>
            <a:off x="1097280" y="3297240"/>
            <a:ext cx="2548440" cy="97236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Collect Training Data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22" name="CustomShape 4"/>
          <p:cNvSpPr/>
          <p:nvPr/>
        </p:nvSpPr>
        <p:spPr>
          <a:xfrm>
            <a:off x="4381920" y="3297240"/>
            <a:ext cx="2548440" cy="97236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Train the classifier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23" name="CustomShape 5"/>
          <p:cNvSpPr/>
          <p:nvPr/>
        </p:nvSpPr>
        <p:spPr>
          <a:xfrm>
            <a:off x="7666560" y="3297240"/>
            <a:ext cx="2548440" cy="972360"/>
          </a:xfrm>
          <a:prstGeom prst="roundRect">
            <a:avLst>
              <a:gd name="adj" fmla="val 16667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Make a prediction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24" name="CustomShape 6"/>
          <p:cNvSpPr/>
          <p:nvPr/>
        </p:nvSpPr>
        <p:spPr>
          <a:xfrm>
            <a:off x="3646080" y="3653280"/>
            <a:ext cx="735840" cy="266400"/>
          </a:xfrm>
          <a:prstGeom prst="right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5" name="CustomShape 7"/>
          <p:cNvSpPr/>
          <p:nvPr/>
        </p:nvSpPr>
        <p:spPr>
          <a:xfrm>
            <a:off x="6930720" y="3653280"/>
            <a:ext cx="735840" cy="266400"/>
          </a:xfrm>
          <a:prstGeom prst="right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9" dur="indefinite" restart="never" nodeType="tmRoot">
          <p:childTnLst>
            <p:seq>
              <p:cTn id="80" dur="indefinite" nodeType="mainSeq">
                <p:childTnLst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nodeType="clickEffect" fill="hold" presetClass="emph" presetID="26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84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5" dur="250" autoRev="1" fill="hold"/>
                                        <p:tgtEl>
                                          <p:spTgt spid="2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7" name="TextShape 2"/>
          <p:cNvSpPr txBox="1"/>
          <p:nvPr/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pic>
        <p:nvPicPr>
          <p:cNvPr id="228" name="Picture 9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133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9" name="Table 1"/>
          <p:cNvGraphicFramePr/>
          <p:nvPr/>
        </p:nvGraphicFramePr>
        <p:xfrm>
          <a:off x="2435400" y="0"/>
          <a:ext cx="6456600" cy="4335120"/>
        </p:xfrm>
        <a:graphic>
          <a:graphicData uri="http://schemas.openxmlformats.org/drawingml/2006/table">
            <a:tbl>
              <a:tblPr/>
              <a:tblGrid>
                <a:gridCol w="1209960"/>
                <a:gridCol w="2808360"/>
                <a:gridCol w="2438280"/>
              </a:tblGrid>
              <a:tr h="6174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2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RAM 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2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LCD Type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2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Label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48312"/>
                    </a:solidFill>
                  </a:tcPr>
                </a:tc>
              </a:tr>
              <a:tr h="7434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2gb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d8cc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TFT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d8cc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LowEnd SP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d8cc"/>
                    </a:solidFill>
                  </a:tcPr>
                </a:tc>
              </a:tr>
              <a:tr h="7434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3gb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IPS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LowEnd SP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9ece7"/>
                    </a:solidFill>
                  </a:tcPr>
                </a:tc>
              </a:tr>
              <a:tr h="7434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12gb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d8cc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Super Amoled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d8cc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Flagship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d8cc"/>
                    </a:solidFill>
                  </a:tcPr>
                </a:tc>
              </a:tr>
              <a:tr h="7434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8gb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Amoled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Flagship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9ece7"/>
                    </a:solidFill>
                  </a:tcPr>
                </a:tc>
              </a:tr>
              <a:tr h="74412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…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d8cc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…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d8cc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…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d8cc"/>
                    </a:solidFill>
                  </a:tcPr>
                </a:tc>
              </a:tr>
            </a:tbl>
          </a:graphicData>
        </a:graphic>
      </p:graphicFrame>
      <p:sp>
        <p:nvSpPr>
          <p:cNvPr id="230" name="CustomShape 2"/>
          <p:cNvSpPr/>
          <p:nvPr/>
        </p:nvSpPr>
        <p:spPr>
          <a:xfrm>
            <a:off x="332280" y="4876560"/>
            <a:ext cx="11405520" cy="94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800" spc="-1" strike="noStrike">
                <a:solidFill>
                  <a:srgbClr val="ab620d"/>
                </a:solidFill>
                <a:latin typeface="Calibri"/>
              </a:rPr>
              <a:t>Predict what type of a smartphone 6.4inch screen size with IPS screen type, snapdragon 645 1.8GHz Octa-Core processor, 4GB of RAM and 64GB ROM?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6" dur="indefinite" restart="never" nodeType="tmRoot">
          <p:childTnLst>
            <p:seq>
              <p:cTn id="87" dur="indefinite" nodeType="mainSeq">
                <p:childTnLst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2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3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2" name="TextShape 2"/>
          <p:cNvSpPr txBox="1"/>
          <p:nvPr/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grpSp>
        <p:nvGrpSpPr>
          <p:cNvPr id="233" name="Group 3"/>
          <p:cNvGrpSpPr/>
          <p:nvPr/>
        </p:nvGrpSpPr>
        <p:grpSpPr>
          <a:xfrm>
            <a:off x="3924360" y="168120"/>
            <a:ext cx="3968640" cy="6498360"/>
            <a:chOff x="3924360" y="168120"/>
            <a:chExt cx="3968640" cy="6498360"/>
          </a:xfrm>
        </p:grpSpPr>
        <p:graphicFrame>
          <p:nvGraphicFramePr>
            <p:cNvPr id="234" name="Table 4"/>
            <p:cNvGraphicFramePr/>
            <p:nvPr/>
          </p:nvGraphicFramePr>
          <p:xfrm>
            <a:off x="3924360" y="168120"/>
            <a:ext cx="3969000" cy="6498720"/>
          </p:xfrm>
          <a:graphic>
            <a:graphicData uri="http://schemas.openxmlformats.org/drawingml/2006/table">
              <a:tbl>
                <a:tblPr/>
                <a:tblGrid>
                  <a:gridCol w="1776240"/>
                  <a:gridCol w="2192760"/>
                </a:tblGrid>
                <a:tr h="518040">
                  <a:tc>
                    <a:txBody>
                      <a:bodyPr>
                        <a:noAutofit/>
                      </a:bodyPr>
                      <a:p>
                        <a:pPr algn="ctr">
                          <a:lnSpc>
                            <a:spcPct val="100000"/>
                          </a:lnSpc>
                        </a:pPr>
                        <a:r>
                          <a:rPr b="1" lang="en-US" sz="2800" spc="-1" strike="noStrike">
                            <a:solidFill>
                              <a:srgbClr val="ffffff"/>
                            </a:solidFill>
                            <a:latin typeface="Calibri"/>
                          </a:rPr>
                          <a:t>Image </a:t>
                        </a:r>
                        <a:endParaRPr b="0" lang="en-US" sz="2800" spc="-1" strike="noStrike">
                          <a:latin typeface="Arial"/>
                        </a:endParaRPr>
                      </a:p>
                    </a:txBody>
                    <a:tcPr marL="91440" marR="91440">
                      <a:lnL w="12240">
                        <a:solidFill>
                          <a:srgbClr val="ffffff"/>
                        </a:solidFill>
                      </a:lnL>
                      <a:lnR w="12240">
                        <a:solidFill>
                          <a:srgbClr val="ffffff"/>
                        </a:solidFill>
                      </a:lnR>
                      <a:lnT w="12240">
                        <a:solidFill>
                          <a:srgbClr val="ffffff"/>
                        </a:solidFill>
                      </a:lnT>
                      <a:lnB w="38160">
                        <a:solidFill>
                          <a:srgbClr val="ffffff"/>
                        </a:solidFill>
                      </a:lnB>
                      <a:solidFill>
                        <a:srgbClr val="e48312"/>
                      </a:solidFill>
                    </a:tcPr>
                  </a:tc>
                  <a:tc>
                    <a:txBody>
                      <a:bodyPr>
                        <a:noAutofit/>
                      </a:bodyPr>
                      <a:p>
                        <a:pPr algn="ctr">
                          <a:lnSpc>
                            <a:spcPct val="100000"/>
                          </a:lnSpc>
                        </a:pPr>
                        <a:r>
                          <a:rPr b="1" lang="en-US" sz="2800" spc="-1" strike="noStrike">
                            <a:solidFill>
                              <a:srgbClr val="ffffff"/>
                            </a:solidFill>
                            <a:latin typeface="Calibri"/>
                          </a:rPr>
                          <a:t>Label</a:t>
                        </a:r>
                        <a:endParaRPr b="0" lang="en-US" sz="2800" spc="-1" strike="noStrike">
                          <a:latin typeface="Arial"/>
                        </a:endParaRPr>
                      </a:p>
                    </a:txBody>
                    <a:tcPr marL="91440" marR="91440">
                      <a:lnL w="12240">
                        <a:solidFill>
                          <a:srgbClr val="ffffff"/>
                        </a:solidFill>
                      </a:lnL>
                      <a:lnR w="12240">
                        <a:solidFill>
                          <a:srgbClr val="ffffff"/>
                        </a:solidFill>
                      </a:lnR>
                      <a:lnT w="12240">
                        <a:solidFill>
                          <a:srgbClr val="ffffff"/>
                        </a:solidFill>
                      </a:lnT>
                      <a:lnB w="38160">
                        <a:solidFill>
                          <a:srgbClr val="ffffff"/>
                        </a:solidFill>
                      </a:lnB>
                      <a:solidFill>
                        <a:srgbClr val="e48312"/>
                      </a:solidFill>
                    </a:tcPr>
                  </a:tc>
                </a:tr>
                <a:tr h="1291680">
                  <a:tc>
                    <a:tcPr marL="91440" marR="91440">
                      <a:lnL w="12240">
                        <a:solidFill>
                          <a:srgbClr val="ffffff"/>
                        </a:solidFill>
                      </a:lnL>
                      <a:lnR w="12240">
                        <a:solidFill>
                          <a:srgbClr val="ffffff"/>
                        </a:solidFill>
                      </a:lnR>
                      <a:lnT w="12240">
                        <a:solidFill>
                          <a:srgbClr val="ffffff"/>
                        </a:solidFill>
                      </a:lnT>
                      <a:lnB w="12240">
                        <a:solidFill>
                          <a:srgbClr val="ffffff"/>
                        </a:solidFill>
                      </a:lnB>
                      <a:solidFill>
                        <a:srgbClr val="f4d8cc"/>
                      </a:solidFill>
                    </a:tcPr>
                  </a:tc>
                  <a:tc>
                    <a:txBody>
                      <a:bodyPr anchor="ctr">
                        <a:noAutofit/>
                      </a:bodyPr>
                      <a:p>
                        <a:pPr algn="ctr">
                          <a:lnSpc>
                            <a:spcPct val="100000"/>
                          </a:lnSpc>
                        </a:pPr>
                        <a:r>
                          <a:rPr b="1" lang="en-US" sz="3600" spc="-1" strike="noStrike">
                            <a:solidFill>
                              <a:srgbClr val="ab620d"/>
                            </a:solidFill>
                            <a:latin typeface="Calibri"/>
                          </a:rPr>
                          <a:t>Apple</a:t>
                        </a:r>
                        <a:endParaRPr b="0" lang="en-US" sz="3600" spc="-1" strike="noStrike">
                          <a:latin typeface="Arial"/>
                        </a:endParaRPr>
                      </a:p>
                    </a:txBody>
                    <a:tcPr marL="91440" marR="91440">
                      <a:lnL w="12240">
                        <a:solidFill>
                          <a:srgbClr val="ffffff"/>
                        </a:solidFill>
                      </a:lnL>
                      <a:lnR w="12240">
                        <a:solidFill>
                          <a:srgbClr val="ffffff"/>
                        </a:solidFill>
                      </a:lnR>
                      <a:lnT w="12240">
                        <a:solidFill>
                          <a:srgbClr val="ffffff"/>
                        </a:solidFill>
                      </a:lnT>
                      <a:lnB w="12240">
                        <a:solidFill>
                          <a:srgbClr val="ffffff"/>
                        </a:solidFill>
                      </a:lnB>
                      <a:solidFill>
                        <a:srgbClr val="f4d8cc"/>
                      </a:solidFill>
                    </a:tcPr>
                  </a:tc>
                </a:tr>
                <a:tr h="1511280">
                  <a:tc>
                    <a:tcPr marL="91440" marR="91440">
                      <a:lnL w="12240">
                        <a:solidFill>
                          <a:srgbClr val="ffffff"/>
                        </a:solidFill>
                      </a:lnL>
                      <a:lnR w="12240">
                        <a:solidFill>
                          <a:srgbClr val="ffffff"/>
                        </a:solidFill>
                      </a:lnR>
                      <a:lnT w="12240">
                        <a:solidFill>
                          <a:srgbClr val="ffffff"/>
                        </a:solidFill>
                      </a:lnT>
                      <a:lnB w="12240">
                        <a:solidFill>
                          <a:srgbClr val="ffffff"/>
                        </a:solidFill>
                      </a:lnB>
                      <a:solidFill>
                        <a:srgbClr val="f9ece7"/>
                      </a:solidFill>
                    </a:tcPr>
                  </a:tc>
                  <a:tc>
                    <a:txBody>
                      <a:bodyPr anchor="ctr">
                        <a:noAutofit/>
                      </a:bodyPr>
                      <a:p>
                        <a:pPr algn="ctr">
                          <a:lnSpc>
                            <a:spcPct val="100000"/>
                          </a:lnSpc>
                        </a:pPr>
                        <a:r>
                          <a:rPr b="1" lang="en-US" sz="3600" spc="-1" strike="noStrike">
                            <a:solidFill>
                              <a:srgbClr val="ab620d"/>
                            </a:solidFill>
                            <a:latin typeface="Calibri"/>
                          </a:rPr>
                          <a:t>Apple</a:t>
                        </a:r>
                        <a:endParaRPr b="0" lang="en-US" sz="3600" spc="-1" strike="noStrike">
                          <a:latin typeface="Arial"/>
                        </a:endParaRPr>
                      </a:p>
                    </a:txBody>
                    <a:tcPr marL="91440" marR="91440">
                      <a:lnL w="12240">
                        <a:solidFill>
                          <a:srgbClr val="ffffff"/>
                        </a:solidFill>
                      </a:lnL>
                      <a:lnR w="12240">
                        <a:solidFill>
                          <a:srgbClr val="ffffff"/>
                        </a:solidFill>
                      </a:lnR>
                      <a:lnT w="12240">
                        <a:solidFill>
                          <a:srgbClr val="ffffff"/>
                        </a:solidFill>
                      </a:lnT>
                      <a:lnB w="12240">
                        <a:solidFill>
                          <a:srgbClr val="ffffff"/>
                        </a:solidFill>
                      </a:lnB>
                      <a:solidFill>
                        <a:srgbClr val="f9ece7"/>
                      </a:solidFill>
                    </a:tcPr>
                  </a:tc>
                </a:tr>
                <a:tr h="1253160">
                  <a:tc>
                    <a:tcPr marL="91440" marR="91440">
                      <a:lnL w="12240">
                        <a:solidFill>
                          <a:srgbClr val="ffffff"/>
                        </a:solidFill>
                      </a:lnL>
                      <a:lnR w="12240">
                        <a:solidFill>
                          <a:srgbClr val="ffffff"/>
                        </a:solidFill>
                      </a:lnR>
                      <a:lnT w="12240">
                        <a:solidFill>
                          <a:srgbClr val="ffffff"/>
                        </a:solidFill>
                      </a:lnT>
                      <a:lnB w="12240">
                        <a:solidFill>
                          <a:srgbClr val="ffffff"/>
                        </a:solidFill>
                      </a:lnB>
                      <a:solidFill>
                        <a:srgbClr val="f4d8cc"/>
                      </a:solidFill>
                    </a:tcPr>
                  </a:tc>
                  <a:tc>
                    <a:txBody>
                      <a:bodyPr anchor="ctr">
                        <a:noAutofit/>
                      </a:bodyPr>
                      <a:p>
                        <a:pPr algn="ctr">
                          <a:lnSpc>
                            <a:spcPct val="100000"/>
                          </a:lnSpc>
                        </a:pPr>
                        <a:r>
                          <a:rPr b="1" lang="en-US" sz="3600" spc="-1" strike="noStrike">
                            <a:solidFill>
                              <a:srgbClr val="ab620d"/>
                            </a:solidFill>
                            <a:latin typeface="Calibri"/>
                          </a:rPr>
                          <a:t>Peach</a:t>
                        </a:r>
                        <a:endParaRPr b="0" lang="en-US" sz="3600" spc="-1" strike="noStrike">
                          <a:latin typeface="Arial"/>
                        </a:endParaRPr>
                      </a:p>
                    </a:txBody>
                    <a:tcPr marL="91440" marR="91440">
                      <a:lnL w="12240">
                        <a:solidFill>
                          <a:srgbClr val="ffffff"/>
                        </a:solidFill>
                      </a:lnL>
                      <a:lnR w="12240">
                        <a:solidFill>
                          <a:srgbClr val="ffffff"/>
                        </a:solidFill>
                      </a:lnR>
                      <a:lnT w="12240">
                        <a:solidFill>
                          <a:srgbClr val="ffffff"/>
                        </a:solidFill>
                      </a:lnT>
                      <a:lnB w="12240">
                        <a:solidFill>
                          <a:srgbClr val="ffffff"/>
                        </a:solidFill>
                      </a:lnB>
                      <a:solidFill>
                        <a:srgbClr val="f4d8cc"/>
                      </a:solidFill>
                    </a:tcPr>
                  </a:tc>
                </a:tr>
                <a:tr h="1284480">
                  <a:tc>
                    <a:tcPr marL="91440" marR="91440">
                      <a:lnL w="12240">
                        <a:solidFill>
                          <a:srgbClr val="ffffff"/>
                        </a:solidFill>
                      </a:lnL>
                      <a:lnR w="12240">
                        <a:solidFill>
                          <a:srgbClr val="ffffff"/>
                        </a:solidFill>
                      </a:lnR>
                      <a:lnT w="12240">
                        <a:solidFill>
                          <a:srgbClr val="ffffff"/>
                        </a:solidFill>
                      </a:lnT>
                      <a:lnB w="12240">
                        <a:solidFill>
                          <a:srgbClr val="ffffff"/>
                        </a:solidFill>
                      </a:lnB>
                      <a:solidFill>
                        <a:srgbClr val="f9ece7"/>
                      </a:solidFill>
                    </a:tcPr>
                  </a:tc>
                  <a:tc>
                    <a:txBody>
                      <a:bodyPr anchor="ctr">
                        <a:noAutofit/>
                      </a:bodyPr>
                      <a:p>
                        <a:pPr algn="ctr">
                          <a:lnSpc>
                            <a:spcPct val="100000"/>
                          </a:lnSpc>
                        </a:pPr>
                        <a:r>
                          <a:rPr b="1" lang="en-US" sz="3600" spc="-1" strike="noStrike">
                            <a:solidFill>
                              <a:srgbClr val="ab620d"/>
                            </a:solidFill>
                            <a:latin typeface="Calibri"/>
                          </a:rPr>
                          <a:t>Peach</a:t>
                        </a:r>
                        <a:endParaRPr b="0" lang="en-US" sz="3600" spc="-1" strike="noStrike">
                          <a:latin typeface="Arial"/>
                        </a:endParaRPr>
                      </a:p>
                    </a:txBody>
                    <a:tcPr marL="91440" marR="91440">
                      <a:lnL w="12240">
                        <a:solidFill>
                          <a:srgbClr val="ffffff"/>
                        </a:solidFill>
                      </a:lnL>
                      <a:lnR w="12240">
                        <a:solidFill>
                          <a:srgbClr val="ffffff"/>
                        </a:solidFill>
                      </a:lnR>
                      <a:lnT w="12240">
                        <a:solidFill>
                          <a:srgbClr val="ffffff"/>
                        </a:solidFill>
                      </a:lnT>
                      <a:lnB w="12240">
                        <a:solidFill>
                          <a:srgbClr val="ffffff"/>
                        </a:solidFill>
                      </a:lnB>
                      <a:solidFill>
                        <a:srgbClr val="f9ece7"/>
                      </a:solidFill>
                    </a:tcPr>
                  </a:tc>
                </a:tr>
                <a:tr h="640080">
                  <a:tc>
                    <a:txBody>
                      <a:bodyPr>
                        <a:noAutofit/>
                      </a:bodyPr>
                      <a:p>
                        <a:pPr algn="ctr">
                          <a:lnSpc>
                            <a:spcPct val="100000"/>
                          </a:lnSpc>
                        </a:pPr>
                        <a:r>
                          <a:rPr b="0" lang="en-US" sz="2800" spc="-1" strike="noStrike">
                            <a:solidFill>
                              <a:srgbClr val="000000"/>
                            </a:solidFill>
                            <a:latin typeface="Calibri"/>
                          </a:rPr>
                          <a:t>…</a:t>
                        </a:r>
                        <a:endParaRPr b="0" lang="en-US" sz="2800" spc="-1" strike="noStrike">
                          <a:latin typeface="Arial"/>
                        </a:endParaRPr>
                      </a:p>
                    </a:txBody>
                    <a:tcPr marL="91440" marR="91440">
                      <a:lnL w="12240">
                        <a:solidFill>
                          <a:srgbClr val="ffffff"/>
                        </a:solidFill>
                      </a:lnL>
                      <a:lnR w="12240">
                        <a:solidFill>
                          <a:srgbClr val="ffffff"/>
                        </a:solidFill>
                      </a:lnR>
                      <a:lnT w="12240">
                        <a:solidFill>
                          <a:srgbClr val="ffffff"/>
                        </a:solidFill>
                      </a:lnT>
                      <a:lnB w="12240">
                        <a:solidFill>
                          <a:srgbClr val="ffffff"/>
                        </a:solidFill>
                      </a:lnB>
                      <a:solidFill>
                        <a:srgbClr val="f4d8cc"/>
                      </a:solidFill>
                    </a:tcPr>
                  </a:tc>
                  <a:tc>
                    <a:txBody>
                      <a:bodyPr>
                        <a:noAutofit/>
                      </a:bodyPr>
                      <a:p>
                        <a:pPr algn="ctr">
                          <a:lnSpc>
                            <a:spcPct val="100000"/>
                          </a:lnSpc>
                        </a:pPr>
                        <a:r>
                          <a:rPr b="0" lang="en-US" sz="2800" spc="-1" strike="noStrike">
                            <a:solidFill>
                              <a:srgbClr val="000000"/>
                            </a:solidFill>
                            <a:latin typeface="Calibri"/>
                          </a:rPr>
                          <a:t>…</a:t>
                        </a:r>
                        <a:endParaRPr b="0" lang="en-US" sz="2800" spc="-1" strike="noStrike">
                          <a:latin typeface="Arial"/>
                        </a:endParaRPr>
                      </a:p>
                    </a:txBody>
                    <a:tcPr marL="91440" marR="91440">
                      <a:lnL w="12240">
                        <a:solidFill>
                          <a:srgbClr val="ffffff"/>
                        </a:solidFill>
                      </a:lnL>
                      <a:lnR w="12240">
                        <a:solidFill>
                          <a:srgbClr val="ffffff"/>
                        </a:solidFill>
                      </a:lnR>
                      <a:lnT w="12240">
                        <a:solidFill>
                          <a:srgbClr val="ffffff"/>
                        </a:solidFill>
                      </a:lnT>
                      <a:lnB w="12240">
                        <a:solidFill>
                          <a:srgbClr val="ffffff"/>
                        </a:solidFill>
                      </a:lnB>
                      <a:solidFill>
                        <a:srgbClr val="f4d8cc"/>
                      </a:solidFill>
                    </a:tcPr>
                  </a:tc>
                </a:tr>
              </a:tbl>
            </a:graphicData>
          </a:graphic>
        </p:graphicFrame>
        <p:pic>
          <p:nvPicPr>
            <p:cNvPr id="235" name="Picture 4" descr=""/>
            <p:cNvPicPr/>
            <p:nvPr/>
          </p:nvPicPr>
          <p:blipFill>
            <a:blip r:embed="rId1"/>
            <a:stretch/>
          </p:blipFill>
          <p:spPr>
            <a:xfrm>
              <a:off x="4213800" y="705240"/>
              <a:ext cx="1356480" cy="137448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36" name="Picture 8" descr=""/>
            <p:cNvPicPr/>
            <p:nvPr/>
          </p:nvPicPr>
          <p:blipFill>
            <a:blip r:embed="rId2"/>
            <a:stretch/>
          </p:blipFill>
          <p:spPr>
            <a:xfrm>
              <a:off x="4134600" y="2013840"/>
              <a:ext cx="1435680" cy="14396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37" name="Picture 4" descr=""/>
            <p:cNvPicPr/>
            <p:nvPr/>
          </p:nvPicPr>
          <p:blipFill>
            <a:blip r:embed="rId3"/>
            <a:stretch/>
          </p:blipFill>
          <p:spPr>
            <a:xfrm>
              <a:off x="4213800" y="3453840"/>
              <a:ext cx="1319040" cy="13190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38" name="Picture 2" descr=""/>
            <p:cNvPicPr/>
            <p:nvPr/>
          </p:nvPicPr>
          <p:blipFill>
            <a:blip r:embed="rId4"/>
            <a:stretch/>
          </p:blipFill>
          <p:spPr>
            <a:xfrm>
              <a:off x="4330440" y="4773240"/>
              <a:ext cx="1123200" cy="1123200"/>
            </a:xfrm>
            <a:prstGeom prst="rect">
              <a:avLst/>
            </a:prstGeom>
            <a:ln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>
              <a:lnSpc>
                <a:spcPct val="85000"/>
              </a:lnSpc>
            </a:pPr>
            <a:r>
              <a:rPr b="0" lang="en-US" sz="4800" spc="-52" strike="noStrike">
                <a:solidFill>
                  <a:srgbClr val="404040"/>
                </a:solidFill>
                <a:latin typeface="Calibri Light"/>
              </a:rPr>
              <a:t>Models of Classifier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0" name="TextShape 2"/>
          <p:cNvSpPr txBox="1"/>
          <p:nvPr/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rmAutofit/>
          </a:bodyPr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3200" spc="-1" strike="noStrike">
                <a:solidFill>
                  <a:srgbClr val="ab620d"/>
                </a:solidFill>
                <a:latin typeface="Calibri"/>
              </a:rPr>
              <a:t>Decision Trees</a:t>
            </a:r>
            <a:endParaRPr b="0" lang="en-US" sz="3200" spc="-1" strike="noStrike">
              <a:solidFill>
                <a:srgbClr val="404040"/>
              </a:solidFill>
              <a:latin typeface="Calibri"/>
            </a:endParaRP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3200" spc="-1" strike="noStrike">
                <a:solidFill>
                  <a:srgbClr val="ab620d"/>
                </a:solidFill>
                <a:latin typeface="Calibri"/>
              </a:rPr>
              <a:t>Artificial Neural Network (Perceptron, Backprop, CNN)</a:t>
            </a:r>
            <a:endParaRPr b="0" lang="en-US" sz="3200" spc="-1" strike="noStrike">
              <a:solidFill>
                <a:srgbClr val="404040"/>
              </a:solidFill>
              <a:latin typeface="Calibri"/>
            </a:endParaRP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3200" spc="-1" strike="noStrike">
                <a:solidFill>
                  <a:srgbClr val="ab620d"/>
                </a:solidFill>
                <a:latin typeface="Calibri"/>
              </a:rPr>
              <a:t>K-Nearest Neighbors</a:t>
            </a:r>
            <a:endParaRPr b="0" lang="en-US" sz="3200" spc="-1" strike="noStrike">
              <a:solidFill>
                <a:srgbClr val="404040"/>
              </a:solidFill>
              <a:latin typeface="Calibri"/>
            </a:endParaRP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3200" spc="-1" strike="noStrike">
                <a:solidFill>
                  <a:srgbClr val="ab620d"/>
                </a:solidFill>
                <a:latin typeface="Calibri"/>
              </a:rPr>
              <a:t>Support Vector Machine</a:t>
            </a:r>
            <a:endParaRPr b="0" lang="en-US" sz="3200" spc="-1" strike="noStrike">
              <a:solidFill>
                <a:srgbClr val="404040"/>
              </a:solidFill>
              <a:latin typeface="Calibri"/>
            </a:endParaRP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3200" spc="-1" strike="noStrike">
                <a:solidFill>
                  <a:srgbClr val="ab620d"/>
                </a:solidFill>
                <a:latin typeface="Calibri"/>
              </a:rPr>
              <a:t>Bayesian Network</a:t>
            </a:r>
            <a:endParaRPr b="0" lang="en-US" sz="3200" spc="-1" strike="noStrike">
              <a:solidFill>
                <a:srgbClr val="404040"/>
              </a:solidFill>
              <a:latin typeface="Calibri"/>
            </a:endParaRP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3200" spc="-1" strike="noStrike">
                <a:solidFill>
                  <a:srgbClr val="ab620d"/>
                </a:solidFill>
                <a:latin typeface="Calibri"/>
              </a:rPr>
              <a:t>Genetic Algorithm</a:t>
            </a:r>
            <a:endParaRPr b="0" lang="en-US" sz="32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>
              <a:lnSpc>
                <a:spcPct val="85000"/>
              </a:lnSpc>
            </a:pPr>
            <a:r>
              <a:rPr b="0" lang="en-US" sz="4800" spc="-52" strike="noStrike">
                <a:solidFill>
                  <a:srgbClr val="404040"/>
                </a:solidFill>
                <a:latin typeface="Calibri Light"/>
              </a:rPr>
              <a:t>Decision Tree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2" name="TextShape 2"/>
          <p:cNvSpPr txBox="1"/>
          <p:nvPr/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rmAutofit/>
          </a:bodyPr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4000" spc="-1" strike="noStrike">
                <a:solidFill>
                  <a:srgbClr val="ab620d"/>
                </a:solidFill>
                <a:latin typeface="Calibri"/>
              </a:rPr>
              <a:t>Easy to read and understand</a:t>
            </a:r>
            <a:endParaRPr b="0" lang="en-US" sz="4000" spc="-1" strike="noStrike">
              <a:solidFill>
                <a:srgbClr val="404040"/>
              </a:solidFill>
              <a:latin typeface="Calibri"/>
            </a:endParaRP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4000" spc="-1" strike="noStrike">
                <a:solidFill>
                  <a:srgbClr val="ab620d"/>
                </a:solidFill>
                <a:latin typeface="Calibri"/>
              </a:rPr>
              <a:t>Easy to Implement in code</a:t>
            </a:r>
            <a:endParaRPr b="0" lang="en-US" sz="4000" spc="-1" strike="noStrike">
              <a:solidFill>
                <a:srgbClr val="404040"/>
              </a:solidFill>
              <a:latin typeface="Calibri"/>
            </a:endParaRP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4000" spc="-1" strike="noStrike">
                <a:solidFill>
                  <a:srgbClr val="ab620d"/>
                </a:solidFill>
                <a:latin typeface="Calibri"/>
              </a:rPr>
              <a:t>One of few model that can be visualized</a:t>
            </a:r>
            <a:endParaRPr b="0" lang="en-US" sz="40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extShape 1"/>
          <p:cNvSpPr txBox="1"/>
          <p:nvPr/>
        </p:nvSpPr>
        <p:spPr>
          <a:xfrm>
            <a:off x="70920" y="0"/>
            <a:ext cx="10058040" cy="69264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 fontScale="97000"/>
          </a:bodyPr>
          <a:p>
            <a:pPr>
              <a:lnSpc>
                <a:spcPct val="85000"/>
              </a:lnSpc>
            </a:pPr>
            <a:r>
              <a:rPr b="0" lang="en-US" sz="4800" spc="-52" strike="noStrike">
                <a:solidFill>
                  <a:srgbClr val="404040"/>
                </a:solidFill>
                <a:latin typeface="Calibri Light"/>
              </a:rPr>
              <a:t>Iris Flower Dataset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44" name="Picture 2" descr=""/>
          <p:cNvPicPr/>
          <p:nvPr/>
        </p:nvPicPr>
        <p:blipFill>
          <a:blip r:embed="rId1"/>
          <a:stretch/>
        </p:blipFill>
        <p:spPr>
          <a:xfrm>
            <a:off x="690840" y="1049400"/>
            <a:ext cx="2793600" cy="3720600"/>
          </a:xfrm>
          <a:prstGeom prst="rect">
            <a:avLst/>
          </a:prstGeom>
          <a:ln>
            <a:noFill/>
          </a:ln>
        </p:spPr>
      </p:pic>
      <p:pic>
        <p:nvPicPr>
          <p:cNvPr id="245" name="Picture 4" descr=""/>
          <p:cNvPicPr/>
          <p:nvPr/>
        </p:nvPicPr>
        <p:blipFill>
          <a:blip r:embed="rId2"/>
          <a:stretch/>
        </p:blipFill>
        <p:spPr>
          <a:xfrm>
            <a:off x="4008960" y="1905120"/>
            <a:ext cx="2811240" cy="2108160"/>
          </a:xfrm>
          <a:prstGeom prst="rect">
            <a:avLst/>
          </a:prstGeom>
          <a:ln>
            <a:noFill/>
          </a:ln>
        </p:spPr>
      </p:pic>
      <p:pic>
        <p:nvPicPr>
          <p:cNvPr id="246" name="Picture 6" descr=""/>
          <p:cNvPicPr/>
          <p:nvPr/>
        </p:nvPicPr>
        <p:blipFill>
          <a:blip r:embed="rId3"/>
          <a:stretch/>
        </p:blipFill>
        <p:spPr>
          <a:xfrm>
            <a:off x="7797240" y="1915920"/>
            <a:ext cx="2577960" cy="2097360"/>
          </a:xfrm>
          <a:prstGeom prst="rect">
            <a:avLst/>
          </a:prstGeom>
          <a:ln>
            <a:noFill/>
          </a:ln>
        </p:spPr>
      </p:pic>
      <p:sp>
        <p:nvSpPr>
          <p:cNvPr id="247" name="CustomShape 2"/>
          <p:cNvSpPr/>
          <p:nvPr/>
        </p:nvSpPr>
        <p:spPr>
          <a:xfrm>
            <a:off x="1571040" y="4770360"/>
            <a:ext cx="79380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Setosa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8" name="CustomShape 3"/>
          <p:cNvSpPr/>
          <p:nvPr/>
        </p:nvSpPr>
        <p:spPr>
          <a:xfrm>
            <a:off x="4865400" y="4014000"/>
            <a:ext cx="109836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Versicolor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9" name="CustomShape 4"/>
          <p:cNvSpPr/>
          <p:nvPr/>
        </p:nvSpPr>
        <p:spPr>
          <a:xfrm>
            <a:off x="8598600" y="4014000"/>
            <a:ext cx="97524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Virginica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1" name="TextShape 2"/>
          <p:cNvSpPr txBox="1"/>
          <p:nvPr/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pic>
        <p:nvPicPr>
          <p:cNvPr id="252" name="Picture 3" descr=""/>
          <p:cNvPicPr/>
          <p:nvPr/>
        </p:nvPicPr>
        <p:blipFill>
          <a:blip r:embed="rId1"/>
          <a:stretch/>
        </p:blipFill>
        <p:spPr>
          <a:xfrm>
            <a:off x="1302480" y="123120"/>
            <a:ext cx="9455400" cy="59007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4" name="TextShape 2"/>
          <p:cNvSpPr txBox="1"/>
          <p:nvPr/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pic>
        <p:nvPicPr>
          <p:cNvPr id="255" name="Picture 3" descr=""/>
          <p:cNvPicPr/>
          <p:nvPr/>
        </p:nvPicPr>
        <p:blipFill>
          <a:blip r:embed="rId1"/>
          <a:stretch/>
        </p:blipFill>
        <p:spPr>
          <a:xfrm>
            <a:off x="63720" y="1110240"/>
            <a:ext cx="12128040" cy="43758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>
              <a:lnSpc>
                <a:spcPct val="85000"/>
              </a:lnSpc>
            </a:pPr>
            <a:r>
              <a:rPr b="0" lang="en-US" sz="4800" spc="-52" strike="noStrike">
                <a:solidFill>
                  <a:srgbClr val="404040"/>
                </a:solidFill>
                <a:latin typeface="Calibri Light"/>
              </a:rPr>
              <a:t>Steps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7" name="TextShape 2"/>
          <p:cNvSpPr txBox="1"/>
          <p:nvPr/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rmAutofit/>
          </a:bodyPr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4800" spc="-1" strike="noStrike">
                <a:solidFill>
                  <a:srgbClr val="404040"/>
                </a:solidFill>
                <a:latin typeface="Calibri"/>
              </a:rPr>
              <a:t>1. Import Iris Flower Dataset (scikit provide Iris Dataset)</a:t>
            </a:r>
            <a:endParaRPr b="0" lang="en-US" sz="4800" spc="-1" strike="noStrike">
              <a:solidFill>
                <a:srgbClr val="404040"/>
              </a:solidFill>
              <a:latin typeface="Calibri"/>
            </a:endParaRP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4800" spc="-1" strike="noStrike">
                <a:solidFill>
                  <a:srgbClr val="404040"/>
                </a:solidFill>
                <a:latin typeface="Calibri"/>
              </a:rPr>
              <a:t>2. Train a Classifier</a:t>
            </a:r>
            <a:endParaRPr b="0" lang="en-US" sz="4800" spc="-1" strike="noStrike">
              <a:solidFill>
                <a:srgbClr val="404040"/>
              </a:solidFill>
              <a:latin typeface="Calibri"/>
            </a:endParaRP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4800" spc="-1" strike="noStrike">
                <a:solidFill>
                  <a:srgbClr val="404040"/>
                </a:solidFill>
                <a:latin typeface="Calibri"/>
              </a:rPr>
              <a:t>3. Predict new flower</a:t>
            </a:r>
            <a:endParaRPr b="0" lang="en-US" sz="4800" spc="-1" strike="noStrike">
              <a:solidFill>
                <a:srgbClr val="404040"/>
              </a:solidFill>
              <a:latin typeface="Calibri"/>
            </a:endParaRP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4800" spc="-1" strike="noStrike">
                <a:solidFill>
                  <a:srgbClr val="404040"/>
                </a:solidFill>
                <a:latin typeface="Calibri"/>
              </a:rPr>
              <a:t>4. Visualize the tree</a:t>
            </a:r>
            <a:endParaRPr b="0" lang="en-US" sz="48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4" dur="indefinite" restart="never" nodeType="tmRoot">
          <p:childTnLst>
            <p:seq>
              <p:cTn id="95" dur="indefinite" nodeType="mainSeq">
                <p:childTnLst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nodeType="clickEffect" fill="hold" presetClass="emph" presetID="26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99" dur="500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0" dur="250" autoRev="1" fill="hold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9" name="TextShape 2"/>
          <p:cNvSpPr txBox="1"/>
          <p:nvPr/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pic>
        <p:nvPicPr>
          <p:cNvPr id="260" name="Picture 3" descr=""/>
          <p:cNvPicPr/>
          <p:nvPr/>
        </p:nvPicPr>
        <p:blipFill>
          <a:blip r:embed="rId1"/>
          <a:stretch/>
        </p:blipFill>
        <p:spPr>
          <a:xfrm>
            <a:off x="0" y="671760"/>
            <a:ext cx="12186360" cy="48423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2" name="TextShape 2"/>
          <p:cNvSpPr txBox="1"/>
          <p:nvPr/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pic>
        <p:nvPicPr>
          <p:cNvPr id="263" name="Picture 3" descr=""/>
          <p:cNvPicPr/>
          <p:nvPr/>
        </p:nvPicPr>
        <p:blipFill>
          <a:blip r:embed="rId1"/>
          <a:stretch/>
        </p:blipFill>
        <p:spPr>
          <a:xfrm>
            <a:off x="34200" y="951840"/>
            <a:ext cx="12184200" cy="49168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5" name="TextShape 2"/>
          <p:cNvSpPr txBox="1"/>
          <p:nvPr/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pic>
        <p:nvPicPr>
          <p:cNvPr id="266" name="Picture 4" descr=""/>
          <p:cNvPicPr/>
          <p:nvPr/>
        </p:nvPicPr>
        <p:blipFill>
          <a:blip r:embed="rId1"/>
          <a:stretch/>
        </p:blipFill>
        <p:spPr>
          <a:xfrm>
            <a:off x="0" y="0"/>
            <a:ext cx="12201840" cy="55047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8" name="TextShape 2"/>
          <p:cNvSpPr txBox="1"/>
          <p:nvPr/>
        </p:nvSpPr>
        <p:spPr>
          <a:xfrm>
            <a:off x="121320" y="5560920"/>
            <a:ext cx="11774880" cy="60624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Autofit/>
          </a:bodyPr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rgbClr val="404040"/>
                </a:solidFill>
                <a:latin typeface="Calibri"/>
              </a:rPr>
              <a:t>Iris Target: 0 = Setosa, 1 = Versicolor, 2 = Virginica</a:t>
            </a: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pic>
        <p:nvPicPr>
          <p:cNvPr id="269" name="Picture 3" descr=""/>
          <p:cNvPicPr/>
          <p:nvPr/>
        </p:nvPicPr>
        <p:blipFill>
          <a:blip r:embed="rId1"/>
          <a:stretch/>
        </p:blipFill>
        <p:spPr>
          <a:xfrm>
            <a:off x="0" y="0"/>
            <a:ext cx="11392200" cy="50763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1" name="TextShape 2"/>
          <p:cNvSpPr txBox="1"/>
          <p:nvPr/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pic>
        <p:nvPicPr>
          <p:cNvPr id="272" name="Picture 3" descr=""/>
          <p:cNvPicPr/>
          <p:nvPr/>
        </p:nvPicPr>
        <p:blipFill>
          <a:blip r:embed="rId1"/>
          <a:stretch/>
        </p:blipFill>
        <p:spPr>
          <a:xfrm>
            <a:off x="699480" y="1620720"/>
            <a:ext cx="10853280" cy="30160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4" name="TextShape 2"/>
          <p:cNvSpPr txBox="1"/>
          <p:nvPr/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pic>
        <p:nvPicPr>
          <p:cNvPr id="275" name="Picture 3" descr=""/>
          <p:cNvPicPr/>
          <p:nvPr/>
        </p:nvPicPr>
        <p:blipFill>
          <a:blip r:embed="rId1"/>
          <a:stretch/>
        </p:blipFill>
        <p:spPr>
          <a:xfrm>
            <a:off x="0" y="1945800"/>
            <a:ext cx="12213000" cy="24300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7" name="TextShape 2"/>
          <p:cNvSpPr txBox="1"/>
          <p:nvPr/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pic>
        <p:nvPicPr>
          <p:cNvPr id="278" name="Picture 3" descr=""/>
          <p:cNvPicPr/>
          <p:nvPr/>
        </p:nvPicPr>
        <p:blipFill>
          <a:blip r:embed="rId1"/>
          <a:stretch/>
        </p:blipFill>
        <p:spPr>
          <a:xfrm>
            <a:off x="785880" y="0"/>
            <a:ext cx="9692280" cy="62002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>
              <a:lnSpc>
                <a:spcPct val="85000"/>
              </a:lnSpc>
            </a:pPr>
            <a:r>
              <a:rPr b="0" lang="en-US" sz="4800" spc="-52" strike="noStrike">
                <a:solidFill>
                  <a:srgbClr val="404040"/>
                </a:solidFill>
                <a:latin typeface="Calibri Light"/>
              </a:rPr>
              <a:t>Steps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0" name="TextShape 2"/>
          <p:cNvSpPr txBox="1"/>
          <p:nvPr/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rmAutofit/>
          </a:bodyPr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4800" spc="-1" strike="noStrike">
                <a:solidFill>
                  <a:srgbClr val="404040"/>
                </a:solidFill>
                <a:latin typeface="Calibri"/>
              </a:rPr>
              <a:t>1. Import Iris Flower Dataset (scikit provide Iris Dataset)</a:t>
            </a:r>
            <a:endParaRPr b="0" lang="en-US" sz="4800" spc="-1" strike="noStrike">
              <a:solidFill>
                <a:srgbClr val="404040"/>
              </a:solidFill>
              <a:latin typeface="Calibri"/>
            </a:endParaRP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4800" spc="-1" strike="noStrike">
                <a:solidFill>
                  <a:srgbClr val="404040"/>
                </a:solidFill>
                <a:latin typeface="Calibri"/>
              </a:rPr>
              <a:t>2. Train a Classifier</a:t>
            </a:r>
            <a:endParaRPr b="0" lang="en-US" sz="4800" spc="-1" strike="noStrike">
              <a:solidFill>
                <a:srgbClr val="404040"/>
              </a:solidFill>
              <a:latin typeface="Calibri"/>
            </a:endParaRP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4800" spc="-1" strike="noStrike">
                <a:solidFill>
                  <a:srgbClr val="404040"/>
                </a:solidFill>
                <a:latin typeface="Calibri"/>
              </a:rPr>
              <a:t>3. Predict new flower</a:t>
            </a:r>
            <a:endParaRPr b="0" lang="en-US" sz="4800" spc="-1" strike="noStrike">
              <a:solidFill>
                <a:srgbClr val="404040"/>
              </a:solidFill>
              <a:latin typeface="Calibri"/>
            </a:endParaRP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4800" spc="-1" strike="noStrike">
                <a:solidFill>
                  <a:srgbClr val="404040"/>
                </a:solidFill>
                <a:latin typeface="Calibri"/>
              </a:rPr>
              <a:t>4. Visualize the tree</a:t>
            </a:r>
            <a:endParaRPr b="0" lang="en-US" sz="48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1" dur="indefinite" restart="never" nodeType="tmRoot">
          <p:childTnLst>
            <p:seq>
              <p:cTn id="102" dur="indefinite" nodeType="mainSeq">
                <p:childTnLst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nodeType="clickEffect" fill="hold" presetClass="emph" presetID="26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06" dur="500"/>
                                        <p:tgtEl>
                                          <p:spTgt spid="2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7" dur="250" autoRev="1" fill="hold"/>
                                        <p:tgtEl>
                                          <p:spTgt spid="2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8" nodeType="withEffect" fill="hold" presetClass="emph" presetID="26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09" dur="500"/>
                                        <p:tgtEl>
                                          <p:spTgt spid="2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0" dur="250" autoRev="1" fill="hold"/>
                                        <p:tgtEl>
                                          <p:spTgt spid="2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>
              <a:lnSpc>
                <a:spcPct val="85000"/>
              </a:lnSpc>
            </a:pPr>
            <a:r>
              <a:rPr b="0" lang="en-US" sz="4800" spc="-52" strike="noStrike">
                <a:solidFill>
                  <a:srgbClr val="404040"/>
                </a:solidFill>
                <a:latin typeface="Calibri Light"/>
              </a:rPr>
              <a:t>Split the dataset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2" name="TextShape 2"/>
          <p:cNvSpPr txBox="1"/>
          <p:nvPr/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Autofit/>
          </a:bodyPr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rgbClr val="404040"/>
                </a:solidFill>
                <a:latin typeface="Calibri"/>
              </a:rPr>
              <a:t>Training  Data</a:t>
            </a: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rgbClr val="404040"/>
                </a:solidFill>
                <a:latin typeface="Calibri"/>
              </a:rPr>
              <a:t>Testing Data</a:t>
            </a: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rgbClr val="404040"/>
                </a:solidFill>
                <a:latin typeface="Calibri"/>
              </a:rPr>
              <a:t>Testing Data is not part of trained data.</a:t>
            </a: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4" name="TextShape 2"/>
          <p:cNvSpPr txBox="1"/>
          <p:nvPr/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pic>
        <p:nvPicPr>
          <p:cNvPr id="285" name="Picture 4" descr=""/>
          <p:cNvPicPr/>
          <p:nvPr/>
        </p:nvPicPr>
        <p:blipFill>
          <a:blip r:embed="rId1"/>
          <a:stretch/>
        </p:blipFill>
        <p:spPr>
          <a:xfrm>
            <a:off x="-365760" y="-365760"/>
            <a:ext cx="7379280" cy="68652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7" name="TextShape 2"/>
          <p:cNvSpPr txBox="1"/>
          <p:nvPr/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pic>
        <p:nvPicPr>
          <p:cNvPr id="288" name="Picture 3" descr=""/>
          <p:cNvPicPr/>
          <p:nvPr/>
        </p:nvPicPr>
        <p:blipFill>
          <a:blip r:embed="rId1"/>
          <a:stretch/>
        </p:blipFill>
        <p:spPr>
          <a:xfrm>
            <a:off x="274680" y="1146600"/>
            <a:ext cx="11703240" cy="19940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>
              <a:lnSpc>
                <a:spcPct val="85000"/>
              </a:lnSpc>
            </a:pPr>
            <a:r>
              <a:rPr b="0" lang="en-US" sz="4800" spc="-52" strike="noStrike">
                <a:solidFill>
                  <a:srgbClr val="404040"/>
                </a:solidFill>
                <a:latin typeface="Calibri Light"/>
              </a:rPr>
              <a:t>Steps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0" name="TextShape 2"/>
          <p:cNvSpPr txBox="1"/>
          <p:nvPr/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rmAutofit/>
          </a:bodyPr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4800" spc="-1" strike="noStrike">
                <a:solidFill>
                  <a:srgbClr val="404040"/>
                </a:solidFill>
                <a:latin typeface="Calibri"/>
              </a:rPr>
              <a:t>1. Import Iris Flower Dataset (scikit provide Iris Dataset)</a:t>
            </a:r>
            <a:endParaRPr b="0" lang="en-US" sz="4800" spc="-1" strike="noStrike">
              <a:solidFill>
                <a:srgbClr val="404040"/>
              </a:solidFill>
              <a:latin typeface="Calibri"/>
            </a:endParaRP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4800" spc="-1" strike="noStrike">
                <a:solidFill>
                  <a:srgbClr val="404040"/>
                </a:solidFill>
                <a:latin typeface="Calibri"/>
              </a:rPr>
              <a:t>2. Train a Classifier</a:t>
            </a:r>
            <a:endParaRPr b="0" lang="en-US" sz="4800" spc="-1" strike="noStrike">
              <a:solidFill>
                <a:srgbClr val="404040"/>
              </a:solidFill>
              <a:latin typeface="Calibri"/>
            </a:endParaRP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4800" spc="-1" strike="noStrike">
                <a:solidFill>
                  <a:srgbClr val="404040"/>
                </a:solidFill>
                <a:latin typeface="Calibri"/>
              </a:rPr>
              <a:t>3. Predict new flower</a:t>
            </a:r>
            <a:endParaRPr b="0" lang="en-US" sz="4800" spc="-1" strike="noStrike">
              <a:solidFill>
                <a:srgbClr val="404040"/>
              </a:solidFill>
              <a:latin typeface="Calibri"/>
            </a:endParaRP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4800" spc="-1" strike="noStrike">
                <a:solidFill>
                  <a:srgbClr val="404040"/>
                </a:solidFill>
                <a:latin typeface="Calibri"/>
              </a:rPr>
              <a:t>4. Visualize the tree</a:t>
            </a:r>
            <a:endParaRPr b="0" lang="en-US" sz="48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1" dur="indefinite" restart="never" nodeType="tmRoot">
          <p:childTnLst>
            <p:seq>
              <p:cTn id="112" dur="indefinite" nodeType="mainSeq">
                <p:childTnLst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nodeType="clickEffect" fill="hold" presetClass="emph" presetID="26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16" dur="500"/>
                                        <p:tgtEl>
                                          <p:spTgt spid="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" dur="250" autoRev="1" fill="hold"/>
                                        <p:tgtEl>
                                          <p:spTgt spid="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92" name="Content Placeholder 4" descr=""/>
          <p:cNvPicPr/>
          <p:nvPr/>
        </p:nvPicPr>
        <p:blipFill>
          <a:blip r:embed="rId1"/>
          <a:stretch/>
        </p:blipFill>
        <p:spPr>
          <a:xfrm>
            <a:off x="0" y="4453200"/>
            <a:ext cx="10866960" cy="333000"/>
          </a:xfrm>
          <a:prstGeom prst="rect">
            <a:avLst/>
          </a:prstGeom>
          <a:ln>
            <a:noFill/>
          </a:ln>
        </p:spPr>
      </p:pic>
      <p:pic>
        <p:nvPicPr>
          <p:cNvPr id="293" name="Picture 5" descr=""/>
          <p:cNvPicPr/>
          <p:nvPr/>
        </p:nvPicPr>
        <p:blipFill>
          <a:blip r:embed="rId2"/>
          <a:stretch/>
        </p:blipFill>
        <p:spPr>
          <a:xfrm>
            <a:off x="0" y="0"/>
            <a:ext cx="11344680" cy="40748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Content Placeholder 5" descr=""/>
          <p:cNvPicPr/>
          <p:nvPr/>
        </p:nvPicPr>
        <p:blipFill>
          <a:blip r:embed="rId1"/>
          <a:stretch/>
        </p:blipFill>
        <p:spPr>
          <a:xfrm>
            <a:off x="1845720" y="0"/>
            <a:ext cx="8573400" cy="68756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Picture 3" descr=""/>
          <p:cNvPicPr/>
          <p:nvPr/>
        </p:nvPicPr>
        <p:blipFill>
          <a:blip r:embed="rId1"/>
          <a:stretch/>
        </p:blipFill>
        <p:spPr>
          <a:xfrm>
            <a:off x="0" y="0"/>
            <a:ext cx="8952120" cy="1845360"/>
          </a:xfrm>
          <a:prstGeom prst="rect">
            <a:avLst/>
          </a:prstGeom>
          <a:ln>
            <a:noFill/>
          </a:ln>
        </p:spPr>
      </p:pic>
      <p:sp>
        <p:nvSpPr>
          <p:cNvPr id="296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7" name="TextShape 2"/>
          <p:cNvSpPr txBox="1"/>
          <p:nvPr/>
        </p:nvSpPr>
        <p:spPr>
          <a:xfrm>
            <a:off x="1097280" y="2132280"/>
            <a:ext cx="10058040" cy="373644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rmAutofit/>
          </a:bodyPr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3200" spc="-1" strike="noStrike">
                <a:solidFill>
                  <a:srgbClr val="ab620d"/>
                </a:solidFill>
                <a:latin typeface="Calibri"/>
              </a:rPr>
              <a:t>Using the tree, analyze for each testing data.</a:t>
            </a:r>
            <a:endParaRPr b="0" lang="en-US" sz="3200" spc="-1" strike="noStrike">
              <a:solidFill>
                <a:srgbClr val="404040"/>
              </a:solidFill>
              <a:latin typeface="Calibri"/>
            </a:endParaRPr>
          </a:p>
        </p:txBody>
      </p:sp>
      <p:pic>
        <p:nvPicPr>
          <p:cNvPr id="298" name="Content Placeholder 5" descr=""/>
          <p:cNvPicPr/>
          <p:nvPr/>
        </p:nvPicPr>
        <p:blipFill>
          <a:blip r:embed="rId2"/>
          <a:stretch/>
        </p:blipFill>
        <p:spPr>
          <a:xfrm>
            <a:off x="4091760" y="2790360"/>
            <a:ext cx="4069080" cy="32634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>
              <a:lnSpc>
                <a:spcPct val="85000"/>
              </a:lnSpc>
            </a:pPr>
            <a:r>
              <a:rPr b="0" lang="en-US" sz="4800" spc="-52" strike="noStrike">
                <a:solidFill>
                  <a:srgbClr val="404040"/>
                </a:solidFill>
                <a:latin typeface="Calibri Light"/>
              </a:rPr>
              <a:t>Conclusion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0" name="TextShape 2"/>
          <p:cNvSpPr txBox="1"/>
          <p:nvPr/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rmAutofit/>
          </a:bodyPr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6000" spc="-1" strike="noStrike">
                <a:solidFill>
                  <a:srgbClr val="ab620d"/>
                </a:solidFill>
                <a:latin typeface="Calibri"/>
              </a:rPr>
              <a:t>Good features usage is the first most important things to do before classify the data.</a:t>
            </a:r>
            <a:endParaRPr b="0" lang="en-US" sz="60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extShape 1"/>
          <p:cNvSpPr txBox="1"/>
          <p:nvPr/>
        </p:nvSpPr>
        <p:spPr>
          <a:xfrm>
            <a:off x="1198800" y="280404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ctr">
              <a:lnSpc>
                <a:spcPct val="85000"/>
              </a:lnSpc>
            </a:pPr>
            <a:r>
              <a:rPr b="1" lang="en-US" sz="6600" spc="-52" strike="noStrike">
                <a:solidFill>
                  <a:srgbClr val="8e4221"/>
                </a:solidFill>
                <a:latin typeface="Calibri Light"/>
              </a:rPr>
              <a:t>K – Nearest Neighbor (KNN)</a:t>
            </a:r>
            <a:endParaRPr b="0" lang="en-US" sz="6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2" name="Chart 6"/>
          <p:cNvGraphicFramePr/>
          <p:nvPr/>
        </p:nvGraphicFramePr>
        <p:xfrm>
          <a:off x="0" y="0"/>
          <a:ext cx="12191760" cy="685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03" name="Line 1"/>
          <p:cNvSpPr/>
          <p:nvPr/>
        </p:nvSpPr>
        <p:spPr>
          <a:xfrm flipH="1" flipV="1">
            <a:off x="4763880" y="2370600"/>
            <a:ext cx="948240" cy="316080"/>
          </a:xfrm>
          <a:prstGeom prst="line">
            <a:avLst/>
          </a:prstGeom>
          <a:ln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4" name="Line 2"/>
          <p:cNvSpPr/>
          <p:nvPr/>
        </p:nvSpPr>
        <p:spPr>
          <a:xfrm>
            <a:off x="5712120" y="2686680"/>
            <a:ext cx="1343160" cy="214560"/>
          </a:xfrm>
          <a:prstGeom prst="line">
            <a:avLst/>
          </a:prstGeom>
          <a:ln>
            <a:solidFill>
              <a:srgbClr val="ffff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8" dur="indefinite" restart="never" nodeType="tmRoot">
          <p:childTnLst>
            <p:seq>
              <p:cTn id="119" dur="indefinite" nodeType="mainSeq">
                <p:childTnLst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4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5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0" dur="5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1" dur="5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5" name="Chart 6"/>
          <p:cNvGraphicFramePr/>
          <p:nvPr/>
        </p:nvGraphicFramePr>
        <p:xfrm>
          <a:off x="0" y="0"/>
          <a:ext cx="12191760" cy="685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06" name="Line 1"/>
          <p:cNvSpPr/>
          <p:nvPr/>
        </p:nvSpPr>
        <p:spPr>
          <a:xfrm flipH="1" flipV="1">
            <a:off x="4763880" y="2370600"/>
            <a:ext cx="948240" cy="316080"/>
          </a:xfrm>
          <a:prstGeom prst="line">
            <a:avLst/>
          </a:prstGeom>
          <a:ln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7" name="Line 2"/>
          <p:cNvSpPr/>
          <p:nvPr/>
        </p:nvSpPr>
        <p:spPr>
          <a:xfrm>
            <a:off x="5712120" y="2686680"/>
            <a:ext cx="1343160" cy="214560"/>
          </a:xfrm>
          <a:prstGeom prst="line">
            <a:avLst/>
          </a:prstGeom>
          <a:ln>
            <a:solidFill>
              <a:srgbClr val="ffff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8" name="Line 3"/>
          <p:cNvSpPr/>
          <p:nvPr/>
        </p:nvSpPr>
        <p:spPr>
          <a:xfrm>
            <a:off x="5712120" y="2686680"/>
            <a:ext cx="1241640" cy="519120"/>
          </a:xfrm>
          <a:prstGeom prst="line">
            <a:avLst/>
          </a:prstGeom>
          <a:ln>
            <a:solidFill>
              <a:srgbClr val="ffff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2" dur="indefinite" restart="never" nodeType="tmRoot">
          <p:childTnLst>
            <p:seq>
              <p:cTn id="133" dur="indefinite" nodeType="mainSeq">
                <p:childTnLst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8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9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4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5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TextShape 1"/>
          <p:cNvSpPr txBox="1"/>
          <p:nvPr/>
        </p:nvSpPr>
        <p:spPr>
          <a:xfrm>
            <a:off x="0" y="79200"/>
            <a:ext cx="6048360" cy="856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>
              <a:lnSpc>
                <a:spcPct val="85000"/>
              </a:lnSpc>
            </a:pPr>
            <a:r>
              <a:rPr b="0" lang="en-US" sz="4800" spc="-52" strike="noStrike">
                <a:solidFill>
                  <a:srgbClr val="404040"/>
                </a:solidFill>
                <a:latin typeface="Calibri Light"/>
              </a:rPr>
              <a:t>Measuring the distance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0" name="TextShape 2"/>
          <p:cNvSpPr txBox="1"/>
          <p:nvPr/>
        </p:nvSpPr>
        <p:spPr>
          <a:xfrm>
            <a:off x="4592520" y="2387520"/>
            <a:ext cx="7563240" cy="320256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 w="28440">
            <a:solidFill>
              <a:srgbClr val="ff0000"/>
            </a:solidFill>
            <a:round/>
          </a:ln>
        </p:spPr>
        <p:txBody>
          <a:bodyPr lIns="0" rIns="0">
            <a:noAutofit/>
          </a:bodyPr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latin typeface="Calibri"/>
              </a:rPr>
              <a:t> </a:t>
            </a: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pic>
        <p:nvPicPr>
          <p:cNvPr id="311" name="Picture 2" descr=""/>
          <p:cNvPicPr/>
          <p:nvPr/>
        </p:nvPicPr>
        <p:blipFill>
          <a:blip r:embed="rId2"/>
          <a:stretch/>
        </p:blipFill>
        <p:spPr>
          <a:xfrm>
            <a:off x="0" y="2188800"/>
            <a:ext cx="4499280" cy="35992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13" name="Picture 7" descr=""/>
          <p:cNvPicPr/>
          <p:nvPr/>
        </p:nvPicPr>
        <p:blipFill>
          <a:blip r:embed="rId1"/>
          <a:stretch/>
        </p:blipFill>
        <p:spPr>
          <a:xfrm>
            <a:off x="1737360" y="2520"/>
            <a:ext cx="8376120" cy="6855480"/>
          </a:xfrm>
          <a:prstGeom prst="rect">
            <a:avLst/>
          </a:prstGeom>
          <a:ln>
            <a:noFill/>
          </a:ln>
        </p:spPr>
      </p:pic>
      <p:sp>
        <p:nvSpPr>
          <p:cNvPr id="314" name="CustomShape 2"/>
          <p:cNvSpPr/>
          <p:nvPr/>
        </p:nvSpPr>
        <p:spPr>
          <a:xfrm>
            <a:off x="2099880" y="3126960"/>
            <a:ext cx="6073200" cy="1252800"/>
          </a:xfrm>
          <a:prstGeom prst="ellipse">
            <a:avLst/>
          </a:prstGeom>
          <a:noFill/>
          <a:ln w="28440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6" name="TextShape 2"/>
          <p:cNvSpPr txBox="1"/>
          <p:nvPr/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pic>
        <p:nvPicPr>
          <p:cNvPr id="317" name="Picture 5" descr=""/>
          <p:cNvPicPr/>
          <p:nvPr/>
        </p:nvPicPr>
        <p:blipFill>
          <a:blip r:embed="rId1"/>
          <a:stretch/>
        </p:blipFill>
        <p:spPr>
          <a:xfrm>
            <a:off x="1735560" y="2635200"/>
            <a:ext cx="8781840" cy="3714480"/>
          </a:xfrm>
          <a:prstGeom prst="rect">
            <a:avLst/>
          </a:prstGeom>
          <a:ln>
            <a:noFill/>
          </a:ln>
        </p:spPr>
      </p:pic>
      <p:pic>
        <p:nvPicPr>
          <p:cNvPr id="318" name="Picture 6" descr=""/>
          <p:cNvPicPr/>
          <p:nvPr/>
        </p:nvPicPr>
        <p:blipFill>
          <a:blip r:embed="rId2"/>
          <a:stretch/>
        </p:blipFill>
        <p:spPr>
          <a:xfrm>
            <a:off x="1735560" y="531720"/>
            <a:ext cx="4885920" cy="1704600"/>
          </a:xfrm>
          <a:prstGeom prst="rect">
            <a:avLst/>
          </a:prstGeom>
          <a:ln>
            <a:noFill/>
          </a:ln>
        </p:spPr>
      </p:pic>
      <p:sp>
        <p:nvSpPr>
          <p:cNvPr id="319" name="CustomShape 3"/>
          <p:cNvSpPr/>
          <p:nvPr/>
        </p:nvSpPr>
        <p:spPr>
          <a:xfrm>
            <a:off x="2122200" y="3736800"/>
            <a:ext cx="3002400" cy="1297800"/>
          </a:xfrm>
          <a:prstGeom prst="ellipse">
            <a:avLst/>
          </a:prstGeom>
          <a:noFill/>
          <a:ln w="28440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>
              <a:lnSpc>
                <a:spcPct val="85000"/>
              </a:lnSpc>
            </a:pPr>
            <a:r>
              <a:rPr b="0" lang="en-US" sz="4800" spc="-52" strike="noStrike">
                <a:solidFill>
                  <a:srgbClr val="404040"/>
                </a:solidFill>
                <a:latin typeface="Calibri Light"/>
              </a:rPr>
              <a:t>Defining Euclidean Distance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1" name="TextShape 2"/>
          <p:cNvSpPr txBox="1"/>
          <p:nvPr/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pic>
        <p:nvPicPr>
          <p:cNvPr id="322" name="Picture 3" descr=""/>
          <p:cNvPicPr/>
          <p:nvPr/>
        </p:nvPicPr>
        <p:blipFill>
          <a:blip r:embed="rId1"/>
          <a:stretch/>
        </p:blipFill>
        <p:spPr>
          <a:xfrm>
            <a:off x="2683800" y="1845720"/>
            <a:ext cx="6697080" cy="39398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4" name="TextShape 2"/>
          <p:cNvSpPr txBox="1"/>
          <p:nvPr/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Autofit/>
          </a:bodyPr>
          <a:p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</p:txBody>
      </p:sp>
      <p:pic>
        <p:nvPicPr>
          <p:cNvPr id="325" name="Picture 4" descr=""/>
          <p:cNvPicPr/>
          <p:nvPr/>
        </p:nvPicPr>
        <p:blipFill>
          <a:blip r:embed="rId1"/>
          <a:stretch/>
        </p:blipFill>
        <p:spPr>
          <a:xfrm>
            <a:off x="385920" y="-91080"/>
            <a:ext cx="5923440" cy="68576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7" name="TextShape 2"/>
          <p:cNvSpPr txBox="1"/>
          <p:nvPr/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Autofit/>
          </a:bodyPr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b="0" lang="en-US" sz="2000" spc="-1" strike="noStrike">
              <a:solidFill>
                <a:srgbClr val="404040"/>
              </a:solidFill>
              <a:latin typeface="Calibri"/>
            </a:endParaRPr>
          </a:p>
          <a:p>
            <a:pPr marL="91440" indent="-91080" algn="ctr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en-US" sz="6600" spc="-1" strike="noStrike">
                <a:solidFill>
                  <a:srgbClr val="8e4221"/>
                </a:solidFill>
                <a:latin typeface="Calibri"/>
              </a:rPr>
              <a:t>THANK YOU</a:t>
            </a:r>
            <a:endParaRPr b="0" lang="en-US" sz="6600" spc="-1" strike="noStrike">
              <a:solidFill>
                <a:srgbClr val="40404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3276</TotalTime>
  <Application>LibreOffice/6.2.2.2$Linux_X86_64 LibreOffice_project/20$Build-2</Application>
  <Words>700</Words>
  <Paragraphs>159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2019-03-28T01:21:28Z</dcterms:created>
  <dc:creator>rosa andrie</dc:creator>
  <dc:description/>
  <dc:language>en-US</dc:language>
  <cp:lastModifiedBy/>
  <dcterms:modified xsi:type="dcterms:W3CDTF">2019-04-25T08:33:41Z</dcterms:modified>
  <cp:revision>67</cp:revision>
  <dc:subject/>
  <dc:title>Introduction to Machine Learning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2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46</vt:i4>
  </property>
</Properties>
</file>